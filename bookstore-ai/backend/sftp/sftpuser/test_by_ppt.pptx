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346" r:id="rId2"/>
    <p:sldId id="356" r:id="rId3"/>
    <p:sldId id="361" r:id="rId4"/>
    <p:sldId id="362" r:id="rId5"/>
    <p:sldId id="363" r:id="rId6"/>
    <p:sldId id="364" r:id="rId7"/>
    <p:sldId id="365" r:id="rId8"/>
    <p:sldId id="3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tilisateur Windows" initials="UW" lastIdx="12" clrIdx="0">
    <p:extLst>
      <p:ext uri="{19B8F6BF-5375-455C-9EA6-DF929625EA0E}">
        <p15:presenceInfo xmlns:p15="http://schemas.microsoft.com/office/powerpoint/2012/main" userId="Utilisateur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4" autoAdjust="0"/>
    <p:restoredTop sz="86593" autoAdjust="0"/>
  </p:normalViewPr>
  <p:slideViewPr>
    <p:cSldViewPr snapToGrid="0">
      <p:cViewPr varScale="1">
        <p:scale>
          <a:sx n="95" d="100"/>
          <a:sy n="95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00B18-7D46-4EBD-9E3C-253D741D1E33}" type="datetimeFigureOut">
              <a:rPr lang="fr-FR" smtClean="0"/>
              <a:t>16/04/2025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093D1-481B-4CCF-B087-CED3B4C3A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51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9093D1-481B-4CCF-B087-CED3B4C3A10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294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51ED-DDD5-3FBE-113E-525E9AF0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F633C-AF10-7692-C3D5-85A4216C8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96C9D-EE85-B6F9-6FDA-9B1702F74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11B9D-9036-104A-9867-D6AFE1324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9093D1-481B-4CCF-B087-CED3B4C3A10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04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84BA1-87B1-CF65-2406-3F553631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AB8B4-4364-7DC7-058C-0A2E32791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49A37-3494-26D9-A253-8EA061440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54769-AB29-4CCD-A22D-0A6F0EC1EF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9093D1-481B-4CCF-B087-CED3B4C3A10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672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708E-C9FA-4043-F2B2-0A1B2676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AD4CA-BE8E-E811-F34A-12EFA5FB9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2608C-08AC-662E-6118-613ECF314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653B6-9089-D8D4-944E-937DC7C65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9093D1-481B-4CCF-B087-CED3B4C3A10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868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C269-2C59-0AAE-79A7-E1654956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8E7D8-6C1B-1B0D-A809-7F42D459A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BB82E-2F39-18FD-B061-D8685A82F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8A4E5-BFD9-ABD9-2616-800EA3DF9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9093D1-481B-4CCF-B087-CED3B4C3A10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15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73C08-F116-A6DB-83E1-0F3D1F6A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D695F-9FFD-EB69-7D55-D81E90441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AD0C0-940E-8F31-F20D-1946C2269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D1A68-9837-5D39-F964-86A0E9FB1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9093D1-481B-4CCF-B087-CED3B4C3A10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492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9093D1-481B-4CCF-B087-CED3B4C3A10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143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4" y="3263804"/>
            <a:ext cx="10993549" cy="1475013"/>
          </a:xfrm>
        </p:spPr>
        <p:txBody>
          <a:bodyPr/>
          <a:lstStyle/>
          <a:p>
            <a:r>
              <a:rPr lang="fr-FR" sz="2800" dirty="0">
                <a:solidFill>
                  <a:schemeClr val="bg1"/>
                </a:solidFill>
              </a:rPr>
              <a:t>     6</a:t>
            </a:r>
            <a:r>
              <a:rPr lang="fr-FR" dirty="0">
                <a:solidFill>
                  <a:schemeClr val="bg1"/>
                </a:solidFill>
              </a:rPr>
              <a:t>. </a:t>
            </a:r>
            <a:r>
              <a:rPr lang="fr-FR" sz="2800" dirty="0">
                <a:solidFill>
                  <a:schemeClr val="bg1"/>
                </a:solidFill>
              </a:rPr>
              <a:t>SPARK </a:t>
            </a:r>
            <a:r>
              <a:rPr lang="fr-FR" sz="2800">
                <a:solidFill>
                  <a:schemeClr val="bg1"/>
                </a:solidFill>
              </a:rPr>
              <a:t>aPPLICATION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2" descr="EP Ingénieurs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51" y="745445"/>
            <a:ext cx="1151029" cy="1462178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426574" y="1022899"/>
            <a:ext cx="4801892" cy="6254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INF4101-Big Data et NoSQL</a:t>
            </a: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71922" y="5943599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FF00"/>
                </a:solidFill>
              </a:rPr>
              <a:t>Dr </a:t>
            </a:r>
            <a:r>
              <a:rPr lang="fr-FR" dirty="0" err="1">
                <a:solidFill>
                  <a:srgbClr val="FFFF00"/>
                </a:solidFill>
              </a:rPr>
              <a:t>Mouhim</a:t>
            </a:r>
            <a:r>
              <a:rPr lang="fr-FR" dirty="0">
                <a:solidFill>
                  <a:srgbClr val="FFFF00"/>
                </a:solidFill>
              </a:rPr>
              <a:t> Sanaa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037" y="3674701"/>
            <a:ext cx="2875164" cy="16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 APPLICATION</a:t>
            </a:r>
          </a:p>
        </p:txBody>
      </p:sp>
      <p:sp>
        <p:nvSpPr>
          <p:cNvPr id="4" name="AutoShape 2" descr="Why the world's largest Hadoop installation may soon become the norm -  TechRepublic"/>
          <p:cNvSpPr>
            <a:spLocks noChangeAspect="1" noChangeArrowheads="1"/>
          </p:cNvSpPr>
          <p:nvPr/>
        </p:nvSpPr>
        <p:spPr bwMode="auto">
          <a:xfrm>
            <a:off x="155575" y="-906463"/>
            <a:ext cx="24193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837" y="589931"/>
            <a:ext cx="2145588" cy="123825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E8F523A-E573-599F-3077-B2441D7EBA9B}"/>
              </a:ext>
            </a:extLst>
          </p:cNvPr>
          <p:cNvSpPr txBox="1"/>
          <p:nvPr/>
        </p:nvSpPr>
        <p:spPr>
          <a:xfrm>
            <a:off x="846574" y="2296608"/>
            <a:ext cx="10764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 Spark Application is: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A complete distributed application, executed on a Spark cluster, that performs </a:t>
            </a:r>
            <a:r>
              <a:rPr lang="en-US" i="1" dirty="0">
                <a:solidFill>
                  <a:srgbClr val="0070C0"/>
                </a:solidFill>
              </a:rPr>
              <a:t>end-to-end data processing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BFFFAE6-5C18-A2C4-772E-4D0CCB52857B}"/>
              </a:ext>
            </a:extLst>
          </p:cNvPr>
          <p:cNvSpPr txBox="1"/>
          <p:nvPr/>
        </p:nvSpPr>
        <p:spPr>
          <a:xfrm>
            <a:off x="1365250" y="3259820"/>
            <a:ext cx="6094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0070C0"/>
                </a:solidFill>
              </a:rPr>
              <a:t>It contains everything needed to:</a:t>
            </a:r>
          </a:p>
          <a:p>
            <a:pPr>
              <a:buNone/>
            </a:pPr>
            <a:endParaRPr lang="en-US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read data,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transform it (filters, groupings, sorting, etc.),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and produce a result (in a file, a database, or directly in memory).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6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EC1B-FD92-E8C4-2C64-C294CB65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D4A0-D25C-0ABA-09F0-9A845DE4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a Spark application</a:t>
            </a:r>
            <a:endParaRPr lang="fr-FR" dirty="0"/>
          </a:p>
        </p:txBody>
      </p:sp>
      <p:sp>
        <p:nvSpPr>
          <p:cNvPr id="4" name="AutoShape 2" descr="Why the world's largest Hadoop installation may soon become the norm -  TechRepublic">
            <a:extLst>
              <a:ext uri="{FF2B5EF4-FFF2-40B4-BE49-F238E27FC236}">
                <a16:creationId xmlns:a16="http://schemas.microsoft.com/office/drawing/2014/main" id="{75D1E860-C370-E688-E6CE-674D2408C1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906463"/>
            <a:ext cx="24193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9BBCC-CF44-74FA-452B-1A9BBADB6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837" y="589931"/>
            <a:ext cx="2145588" cy="12382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5E49E8C-D7E7-41DD-93C2-093A951B7F8D}"/>
              </a:ext>
            </a:extLst>
          </p:cNvPr>
          <p:cNvSpPr txBox="1"/>
          <p:nvPr/>
        </p:nvSpPr>
        <p:spPr>
          <a:xfrm>
            <a:off x="1127928" y="2099995"/>
            <a:ext cx="6094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1. Install the prerequisites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Java JDK (compatible with Spark, e.g., JDK 8 or 11)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Apache Maven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Apache Spark (prebuilt with Hadoop if needed)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 IDE (like Eclipse or IntelliJ)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6FD876F-45B5-6265-9FAA-56DCC827909B}"/>
              </a:ext>
            </a:extLst>
          </p:cNvPr>
          <p:cNvSpPr txBox="1"/>
          <p:nvPr/>
        </p:nvSpPr>
        <p:spPr>
          <a:xfrm>
            <a:off x="1127928" y="3850831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2. Create a Maven project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E3083E8-5CB2-E826-2A2A-B83BB610F96B}"/>
              </a:ext>
            </a:extLst>
          </p:cNvPr>
          <p:cNvSpPr txBox="1"/>
          <p:nvPr/>
        </p:nvSpPr>
        <p:spPr>
          <a:xfrm>
            <a:off x="826477" y="4240149"/>
            <a:ext cx="11100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Maven is a </a:t>
            </a:r>
            <a:r>
              <a:rPr lang="en-US" dirty="0">
                <a:solidFill>
                  <a:srgbClr val="FF0000"/>
                </a:solidFill>
              </a:rPr>
              <a:t>build automation and project management tool </a:t>
            </a:r>
            <a:r>
              <a:rPr lang="en-US" dirty="0"/>
              <a:t>used primarily for Java projects. It helps </a:t>
            </a:r>
            <a:r>
              <a:rPr lang="en-US" dirty="0">
                <a:solidFill>
                  <a:srgbClr val="FF0000"/>
                </a:solidFill>
              </a:rPr>
              <a:t>manage project dependencies, compile code, run tests, and package applications into deployable formats </a:t>
            </a:r>
            <a:r>
              <a:rPr lang="en-US" dirty="0"/>
              <a:t>(like JAR or WAR files). Maven uses a pom.xml file to define a project's structure, configuration, and external libraries.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BD9B0ED-1C74-11BF-544B-38F439B0AC8F}"/>
              </a:ext>
            </a:extLst>
          </p:cNvPr>
          <p:cNvSpPr txBox="1"/>
          <p:nvPr/>
        </p:nvSpPr>
        <p:spPr>
          <a:xfrm>
            <a:off x="1539909" y="5431802"/>
            <a:ext cx="9402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Group ID</a:t>
            </a:r>
            <a:r>
              <a:rPr lang="en-US" dirty="0"/>
              <a:t>: A unique name that identifies your project group or organization (like a namespace). Example: </a:t>
            </a:r>
            <a:r>
              <a:rPr lang="en-US" dirty="0" err="1"/>
              <a:t>com.example</a:t>
            </a:r>
            <a:r>
              <a:rPr lang="en-US" dirty="0"/>
              <a:t>.</a:t>
            </a:r>
          </a:p>
          <a:p>
            <a:pPr marL="285750" indent="-28575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Artifact ID: </a:t>
            </a:r>
            <a:r>
              <a:rPr lang="en-US" dirty="0"/>
              <a:t>The name of your specific project or module. It will be the name of the generated file (e.g., my-app-1.0.jar if the artifact ID is my-app).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747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D705-AD88-0C79-C4FA-2FC1AD6F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3B361-1CB7-D2A6-1DE0-0E683F53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a Spark application</a:t>
            </a:r>
            <a:endParaRPr lang="fr-FR" dirty="0"/>
          </a:p>
        </p:txBody>
      </p:sp>
      <p:sp>
        <p:nvSpPr>
          <p:cNvPr id="4" name="AutoShape 2" descr="Why the world's largest Hadoop installation may soon become the norm -  TechRepublic">
            <a:extLst>
              <a:ext uri="{FF2B5EF4-FFF2-40B4-BE49-F238E27FC236}">
                <a16:creationId xmlns:a16="http://schemas.microsoft.com/office/drawing/2014/main" id="{8435E7B0-1A5C-CCD3-6A4A-BF3E052CD5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906463"/>
            <a:ext cx="24193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1A1175-F0C2-10C7-512F-77BC43FA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837" y="589931"/>
            <a:ext cx="2145588" cy="12382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ED5B0FF-9F0D-3F40-1922-86D9CE71D2A9}"/>
              </a:ext>
            </a:extLst>
          </p:cNvPr>
          <p:cNvSpPr txBox="1"/>
          <p:nvPr/>
        </p:nvSpPr>
        <p:spPr>
          <a:xfrm>
            <a:off x="1127928" y="209999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3. Add Spark dependencies in pom.xml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9E9CFC-99E7-3A23-72B2-7FCC6897BE62}"/>
              </a:ext>
            </a:extLst>
          </p:cNvPr>
          <p:cNvSpPr txBox="1"/>
          <p:nvPr/>
        </p:nvSpPr>
        <p:spPr>
          <a:xfrm>
            <a:off x="1527350" y="2782669"/>
            <a:ext cx="3583032" cy="12926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2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2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org.apache.spark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2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2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&gt;spark-core_2.13&lt;/</a:t>
            </a:r>
            <a:r>
              <a:rPr lang="fr-FR" sz="12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2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&gt;3.5.5&lt;/</a:t>
            </a:r>
            <a:r>
              <a:rPr lang="fr-FR" sz="12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/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2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A08B482-003D-3414-C61E-3BB699D63BDC}"/>
              </a:ext>
            </a:extLst>
          </p:cNvPr>
          <p:cNvSpPr txBox="1"/>
          <p:nvPr/>
        </p:nvSpPr>
        <p:spPr>
          <a:xfrm>
            <a:off x="5516484" y="2828835"/>
            <a:ext cx="609432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dirty="0"/>
              <a:t>&lt;</a:t>
            </a:r>
            <a:r>
              <a:rPr lang="fr-FR" dirty="0" err="1"/>
              <a:t>properties</a:t>
            </a:r>
            <a:r>
              <a:rPr lang="fr-FR" dirty="0"/>
              <a:t>&gt;</a:t>
            </a:r>
          </a:p>
          <a:p>
            <a:r>
              <a:rPr lang="fr-FR" dirty="0"/>
              <a:t>  	&lt;</a:t>
            </a:r>
            <a:r>
              <a:rPr lang="fr-FR" dirty="0" err="1"/>
              <a:t>maven.compiler.source</a:t>
            </a:r>
            <a:r>
              <a:rPr lang="fr-FR" dirty="0"/>
              <a:t>&gt;1.8&lt;/</a:t>
            </a:r>
            <a:r>
              <a:rPr lang="fr-FR" dirty="0" err="1"/>
              <a:t>maven.compiler.source</a:t>
            </a:r>
            <a:r>
              <a:rPr lang="fr-FR" dirty="0"/>
              <a:t>&gt;</a:t>
            </a:r>
          </a:p>
          <a:p>
            <a:r>
              <a:rPr lang="fr-FR" dirty="0"/>
              <a:t>  	&lt;</a:t>
            </a:r>
            <a:r>
              <a:rPr lang="fr-FR" dirty="0" err="1"/>
              <a:t>maven.compiler.target</a:t>
            </a:r>
            <a:r>
              <a:rPr lang="fr-FR" dirty="0"/>
              <a:t>&gt;1.8&lt;/</a:t>
            </a:r>
            <a:r>
              <a:rPr lang="fr-FR" dirty="0" err="1"/>
              <a:t>maven.compiler.target</a:t>
            </a:r>
            <a:r>
              <a:rPr lang="fr-FR" dirty="0"/>
              <a:t>&gt;</a:t>
            </a:r>
          </a:p>
          <a:p>
            <a:r>
              <a:rPr lang="fr-FR" dirty="0"/>
              <a:t>&lt;/</a:t>
            </a:r>
            <a:r>
              <a:rPr lang="fr-FR" dirty="0" err="1"/>
              <a:t>properties</a:t>
            </a:r>
            <a:r>
              <a:rPr lang="fr-F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4361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E515F-6CB9-B14A-BF0E-682D9CA5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7C94-FA2D-B96F-0497-B8A2BAF6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a Spark application</a:t>
            </a:r>
            <a:endParaRPr lang="fr-FR" dirty="0"/>
          </a:p>
        </p:txBody>
      </p:sp>
      <p:sp>
        <p:nvSpPr>
          <p:cNvPr id="4" name="AutoShape 2" descr="Why the world's largest Hadoop installation may soon become the norm -  TechRepublic">
            <a:extLst>
              <a:ext uri="{FF2B5EF4-FFF2-40B4-BE49-F238E27FC236}">
                <a16:creationId xmlns:a16="http://schemas.microsoft.com/office/drawing/2014/main" id="{9001AAE5-FD2D-D96D-D699-119274FF6F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906463"/>
            <a:ext cx="24193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80CF4-EE9B-691A-4F79-195198DE9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837" y="589931"/>
            <a:ext cx="2145588" cy="12382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7BA36C4-8602-CC3B-7232-D6558AD4AED8}"/>
              </a:ext>
            </a:extLst>
          </p:cNvPr>
          <p:cNvSpPr txBox="1"/>
          <p:nvPr/>
        </p:nvSpPr>
        <p:spPr>
          <a:xfrm>
            <a:off x="1127928" y="209999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4. Write your Spark application code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2A716A7-0A3F-0757-DC2C-0EF53570AC1A}"/>
              </a:ext>
            </a:extLst>
          </p:cNvPr>
          <p:cNvSpPr txBox="1"/>
          <p:nvPr/>
        </p:nvSpPr>
        <p:spPr>
          <a:xfrm>
            <a:off x="1224573" y="2732786"/>
            <a:ext cx="8112072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SparkWordCount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b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fr-FR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r>
              <a:rPr lang="fr-FR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run(String </a:t>
            </a:r>
            <a:r>
              <a:rPr lang="fr-F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InputPath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 </a:t>
            </a:r>
            <a:r>
              <a:rPr lang="fr-F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marR="0">
              <a:buNone/>
            </a:pPr>
            <a:b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/>
            <a:r>
              <a:rPr lang="fr-F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47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4A96-CC62-1939-8700-97C6E7F2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B87D-500B-6AE4-4996-9AFD8209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a Spark application</a:t>
            </a:r>
            <a:endParaRPr lang="fr-FR" dirty="0"/>
          </a:p>
        </p:txBody>
      </p:sp>
      <p:sp>
        <p:nvSpPr>
          <p:cNvPr id="4" name="AutoShape 2" descr="Why the world's largest Hadoop installation may soon become the norm -  TechRepublic">
            <a:extLst>
              <a:ext uri="{FF2B5EF4-FFF2-40B4-BE49-F238E27FC236}">
                <a16:creationId xmlns:a16="http://schemas.microsoft.com/office/drawing/2014/main" id="{CE69BA7B-F133-DC60-3F35-D7A27C637A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906463"/>
            <a:ext cx="24193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446D2-9986-3CCF-8E85-D6919F28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837" y="589931"/>
            <a:ext cx="2145588" cy="12382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E039F81-694F-7F2E-F58C-E596C797DC11}"/>
              </a:ext>
            </a:extLst>
          </p:cNvPr>
          <p:cNvSpPr txBox="1"/>
          <p:nvPr/>
        </p:nvSpPr>
        <p:spPr>
          <a:xfrm>
            <a:off x="1127928" y="209999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4. Write your Spark application code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5AC43A4-4C55-6D73-BCE3-8D1DFFD6AE5B}"/>
              </a:ext>
            </a:extLst>
          </p:cNvPr>
          <p:cNvSpPr txBox="1"/>
          <p:nvPr/>
        </p:nvSpPr>
        <p:spPr>
          <a:xfrm>
            <a:off x="1073918" y="2623934"/>
            <a:ext cx="967405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2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run(String 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InputPath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 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SparkConf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conf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SparkConf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buNone/>
            </a:pP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conf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.setAppName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setMaster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"local[*]"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JavaSparkContext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u="sng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JavaSparkContext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conf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fr-FR" sz="12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Charger </a:t>
            </a:r>
            <a:r>
              <a:rPr lang="fr-FR" sz="1200" u="sng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le</a:t>
            </a:r>
            <a:r>
              <a:rPr lang="fr-FR" sz="12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u="sng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fichier</a:t>
            </a:r>
            <a:r>
              <a:rPr lang="fr-FR" sz="12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u="sng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texte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JavaRDD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 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.textFile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InputPath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JavaRDD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 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.flatMap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-&gt; 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Arrays.</a:t>
            </a:r>
            <a:r>
              <a:rPr lang="fr-FR" sz="120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.split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buNone/>
            </a:pP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.mapToPair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 </a:t>
            </a:r>
            <a:r>
              <a:rPr lang="fr-FR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Tuple2&lt;&gt;(</a:t>
            </a:r>
            <a:r>
              <a:rPr lang="fr-FR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,1)).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reduceByKey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saveAsTextFile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/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CE563F4-00FA-28E5-B6D5-BA4EDEB7BAD4}"/>
              </a:ext>
            </a:extLst>
          </p:cNvPr>
          <p:cNvSpPr txBox="1"/>
          <p:nvPr/>
        </p:nvSpPr>
        <p:spPr>
          <a:xfrm>
            <a:off x="844061" y="4532867"/>
            <a:ext cx="10295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Before moving to production, we will </a:t>
            </a:r>
            <a:r>
              <a:rPr lang="en-US" b="1" dirty="0">
                <a:solidFill>
                  <a:schemeClr val="accent6"/>
                </a:solidFill>
              </a:rPr>
              <a:t>test</a:t>
            </a:r>
            <a:r>
              <a:rPr lang="en-US" dirty="0"/>
              <a:t> our application using files by specifying the input file path and the output path."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BAFE81A-B8FD-BE80-B5A2-A4E595E6E872}"/>
              </a:ext>
            </a:extLst>
          </p:cNvPr>
          <p:cNvSpPr txBox="1"/>
          <p:nvPr/>
        </p:nvSpPr>
        <p:spPr>
          <a:xfrm>
            <a:off x="903901" y="5286238"/>
            <a:ext cx="837072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SparkWordCount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().run(</a:t>
            </a:r>
            <a:r>
              <a:rPr lang="en-US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/main/resources/</a:t>
            </a:r>
            <a:r>
              <a:rPr lang="en-US" sz="1200" u="sng" dirty="0">
                <a:solidFill>
                  <a:srgbClr val="0066CC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/file.txt"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/main/resources/Output2"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/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8816287-5A6F-B9AE-569F-B98A5EDC0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837" y="5058394"/>
            <a:ext cx="1771650" cy="12096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993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1C35-ECC3-C34C-D5A8-6739FC2C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5D6F-55E5-AE0E-F1A9-7AE1B8F5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a Spark application</a:t>
            </a:r>
            <a:endParaRPr lang="fr-FR" dirty="0"/>
          </a:p>
        </p:txBody>
      </p:sp>
      <p:sp>
        <p:nvSpPr>
          <p:cNvPr id="4" name="AutoShape 2" descr="Why the world's largest Hadoop installation may soon become the norm -  TechRepublic">
            <a:extLst>
              <a:ext uri="{FF2B5EF4-FFF2-40B4-BE49-F238E27FC236}">
                <a16:creationId xmlns:a16="http://schemas.microsoft.com/office/drawing/2014/main" id="{5E1AF900-1BF0-4933-EFC8-7CE60F9DC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906463"/>
            <a:ext cx="24193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5A0DC8-E1EE-9018-6698-F1CB7AF73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837" y="589931"/>
            <a:ext cx="2145588" cy="12382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1A30DFE-3CAD-4081-68F6-E877122E951F}"/>
              </a:ext>
            </a:extLst>
          </p:cNvPr>
          <p:cNvSpPr txBox="1"/>
          <p:nvPr/>
        </p:nvSpPr>
        <p:spPr>
          <a:xfrm>
            <a:off x="903901" y="207572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5. Create de jar file of the application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E2E1F1-2438-BE5C-FC49-E3A6590F3780}"/>
              </a:ext>
            </a:extLst>
          </p:cNvPr>
          <p:cNvSpPr txBox="1"/>
          <p:nvPr/>
        </p:nvSpPr>
        <p:spPr>
          <a:xfrm>
            <a:off x="940745" y="396649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6. Run your application using spark-submit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FC9FA82-43D0-9526-FB2D-2875066D2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830" y="6316775"/>
            <a:ext cx="8867775" cy="37147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31A3AE9-A3E3-8169-866C-AE2C4D99BF0F}"/>
              </a:ext>
            </a:extLst>
          </p:cNvPr>
          <p:cNvSpPr txBox="1"/>
          <p:nvPr/>
        </p:nvSpPr>
        <p:spPr>
          <a:xfrm>
            <a:off x="730956" y="4426010"/>
            <a:ext cx="10879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spark-submit</a:t>
            </a:r>
            <a:r>
              <a:rPr lang="en-US" dirty="0"/>
              <a:t> is a command-line tool provided by Apache Spark </a:t>
            </a:r>
            <a:r>
              <a:rPr lang="en-US" dirty="0">
                <a:solidFill>
                  <a:srgbClr val="00B050"/>
                </a:solidFill>
              </a:rPr>
              <a:t>to run Spark applications on a cluster or locally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529C118-AACF-83BE-85F5-73C86BE2F0D8}"/>
              </a:ext>
            </a:extLst>
          </p:cNvPr>
          <p:cNvSpPr txBox="1"/>
          <p:nvPr/>
        </p:nvSpPr>
        <p:spPr>
          <a:xfrm>
            <a:off x="1240081" y="4795342"/>
            <a:ext cx="6094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allows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Specify the JAR or Python file to execute.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the execution mode (local, yarn, spark://...,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 arguments to your program.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Configure memory, number of cores, configuration files, etc.</a:t>
            </a:r>
            <a:endParaRPr lang="fr-FR" dirty="0"/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1171D507-DFB9-8B2F-2E30-CFF705817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7092" y="4732623"/>
            <a:ext cx="2647950" cy="131648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B536F4F-1A06-EC0C-4AD2-E8A986055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330" y="2002305"/>
            <a:ext cx="4867275" cy="204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2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 </a:t>
            </a:r>
            <a:r>
              <a:rPr lang="fr-FR" dirty="0" err="1"/>
              <a:t>maven</a:t>
            </a:r>
            <a:r>
              <a:rPr lang="fr-FR" dirty="0"/>
              <a:t> APPLICATION</a:t>
            </a:r>
          </a:p>
        </p:txBody>
      </p:sp>
      <p:sp>
        <p:nvSpPr>
          <p:cNvPr id="4" name="AutoShape 2" descr="Why the world's largest Hadoop installation may soon become the norm -  TechRepublic"/>
          <p:cNvSpPr>
            <a:spLocks noChangeAspect="1" noChangeArrowheads="1"/>
          </p:cNvSpPr>
          <p:nvPr/>
        </p:nvSpPr>
        <p:spPr bwMode="auto">
          <a:xfrm>
            <a:off x="155575" y="-906463"/>
            <a:ext cx="24193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837" y="589931"/>
            <a:ext cx="2145588" cy="123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87" y="2597632"/>
            <a:ext cx="2840613" cy="15552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0" y="2844800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 production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10100" y="3619500"/>
            <a:ext cx="927100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7099300" y="2844800"/>
            <a:ext cx="2287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Créer le fichier wc.jar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492" y="3930650"/>
            <a:ext cx="2647950" cy="1562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06242" y="3561318"/>
            <a:ext cx="357631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Spark-submit</a:t>
            </a:r>
            <a:r>
              <a:rPr lang="fr-FR" dirty="0"/>
              <a:t>\</a:t>
            </a:r>
          </a:p>
          <a:p>
            <a:r>
              <a:rPr lang="fr-FR" dirty="0"/>
              <a:t>--class </a:t>
            </a:r>
            <a:r>
              <a:rPr lang="fr-FR" dirty="0" err="1"/>
              <a:t>sparkwordcount</a:t>
            </a:r>
            <a:r>
              <a:rPr lang="fr-FR" dirty="0"/>
              <a:t>\</a:t>
            </a:r>
          </a:p>
          <a:p>
            <a:r>
              <a:rPr lang="fr-FR" dirty="0"/>
              <a:t>--master local</a:t>
            </a:r>
          </a:p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Wc.jar</a:t>
            </a: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test.txt</a:t>
            </a:r>
            <a:r>
              <a:rPr lang="fr-FR" dirty="0"/>
              <a:t> </a:t>
            </a:r>
            <a:r>
              <a:rPr lang="fr-FR" b="1" dirty="0" err="1">
                <a:solidFill>
                  <a:srgbClr val="00B050"/>
                </a:solidFill>
              </a:rPr>
              <a:t>resultat</a:t>
            </a:r>
            <a:endParaRPr lang="fr-FR" b="1" dirty="0">
              <a:solidFill>
                <a:srgbClr val="00B05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7421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34886</TotalTime>
  <Words>670</Words>
  <Application>Microsoft Office PowerPoint</Application>
  <PresentationFormat>Grand écran</PresentationFormat>
  <Paragraphs>79</Paragraphs>
  <Slides>8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Gill Sans MT</vt:lpstr>
      <vt:lpstr>Wingdings 2</vt:lpstr>
      <vt:lpstr>Dividend</vt:lpstr>
      <vt:lpstr>     6. SPARK aPPLICATION</vt:lpstr>
      <vt:lpstr>Spark APPLICATION</vt:lpstr>
      <vt:lpstr>steps to create a Spark application</vt:lpstr>
      <vt:lpstr>steps to create a Spark application</vt:lpstr>
      <vt:lpstr>steps to create a Spark application</vt:lpstr>
      <vt:lpstr>steps to create a Spark application</vt:lpstr>
      <vt:lpstr>steps to create a Spark application</vt:lpstr>
      <vt:lpstr>Spark maven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installation</dc:title>
  <dc:creator>Utilisateur Windows</dc:creator>
  <cp:lastModifiedBy>sanaa mouhim</cp:lastModifiedBy>
  <cp:revision>425</cp:revision>
  <dcterms:created xsi:type="dcterms:W3CDTF">2022-01-10T12:06:14Z</dcterms:created>
  <dcterms:modified xsi:type="dcterms:W3CDTF">2025-04-16T11:23:46Z</dcterms:modified>
</cp:coreProperties>
</file>