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5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70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7E697-2DDA-422C-AF6F-B0B22395C0B3}" type="datetimeFigureOut">
              <a:rPr lang="fr-FR" smtClean="0"/>
              <a:t>08/05/2025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ED6A6-ED53-4C0B-8B97-2E5167A61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069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Espresso</a:t>
            </a:r>
            <a:r>
              <a:rPr lang="fr-FR" dirty="0"/>
              <a:t> : Base de données NoSQL de LinkedIn.</a:t>
            </a:r>
          </a:p>
          <a:p>
            <a:pPr>
              <a:buNone/>
            </a:pPr>
            <a:r>
              <a:rPr lang="fr-FR" b="1" dirty="0"/>
              <a:t>Voldemort</a:t>
            </a:r>
            <a:r>
              <a:rPr lang="fr-FR" dirty="0"/>
              <a:t> : Autre système de stockage distribué clé-valeur.</a:t>
            </a:r>
          </a:p>
          <a:p>
            <a:pPr>
              <a:buNone/>
            </a:pPr>
            <a:r>
              <a:rPr lang="fr-FR" b="1" dirty="0"/>
              <a:t>Oracle</a:t>
            </a:r>
            <a:r>
              <a:rPr lang="fr-FR" dirty="0"/>
              <a:t> : Base de données relationnelle.</a:t>
            </a:r>
          </a:p>
          <a:p>
            <a:pPr>
              <a:buNone/>
            </a:pPr>
            <a:r>
              <a:rPr lang="fr-FR" b="1" dirty="0"/>
              <a:t>User </a:t>
            </a:r>
            <a:r>
              <a:rPr lang="fr-FR" b="1" dirty="0" err="1"/>
              <a:t>Tracking</a:t>
            </a:r>
            <a:r>
              <a:rPr lang="fr-FR" dirty="0"/>
              <a:t> : Composant qui collecte les activités des utilisateurs.</a:t>
            </a:r>
          </a:p>
          <a:p>
            <a:pPr>
              <a:buNone/>
            </a:pPr>
            <a:r>
              <a:rPr lang="fr-FR" b="1" dirty="0" err="1"/>
              <a:t>Operational</a:t>
            </a:r>
            <a:r>
              <a:rPr lang="fr-FR" b="1" dirty="0"/>
              <a:t> Logs</a:t>
            </a:r>
            <a:r>
              <a:rPr lang="fr-FR" dirty="0"/>
              <a:t> : Journaux systèmes / opérationnels.</a:t>
            </a:r>
          </a:p>
          <a:p>
            <a:r>
              <a:rPr lang="fr-FR" b="1" dirty="0" err="1"/>
              <a:t>Operational</a:t>
            </a:r>
            <a:r>
              <a:rPr lang="fr-FR" b="1" dirty="0"/>
              <a:t> </a:t>
            </a:r>
            <a:r>
              <a:rPr lang="fr-FR" b="1" dirty="0" err="1"/>
              <a:t>Metrics</a:t>
            </a:r>
            <a:r>
              <a:rPr lang="fr-FR" dirty="0"/>
              <a:t> : Données sur les performances / métriques des services.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ED6A6-ED53-4C0B-8B97-2E5167A6179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4235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0436" y="1221993"/>
            <a:ext cx="11311127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200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1291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0436" y="614172"/>
            <a:ext cx="11309985" cy="1190625"/>
          </a:xfrm>
          <a:custGeom>
            <a:avLst/>
            <a:gdLst/>
            <a:ahLst/>
            <a:cxnLst/>
            <a:rect l="l" t="t" r="r" b="b"/>
            <a:pathLst>
              <a:path w="11309985" h="1190625">
                <a:moveTo>
                  <a:pt x="11309604" y="0"/>
                </a:moveTo>
                <a:lnTo>
                  <a:pt x="0" y="0"/>
                </a:lnTo>
                <a:lnTo>
                  <a:pt x="0" y="1190243"/>
                </a:lnTo>
                <a:lnTo>
                  <a:pt x="11309604" y="1190243"/>
                </a:lnTo>
                <a:lnTo>
                  <a:pt x="11309604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0436" y="1069975"/>
            <a:ext cx="11311127" cy="6047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1543" y="2305939"/>
            <a:ext cx="10761345" cy="194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kafka.apache.org/downloads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kafka.apache.org/31/javadoc/org/apache/kafka/clients/producer/KafkaProducer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kafka.apache.org/31/javadoc/org/apache/kafka/clients/producer/ProducerRecord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kafka.apache.org/31/javadoc/org/apache/kafka/clients/producer/ProducerRecord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6531" y="457200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41291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6531" y="3086100"/>
            <a:ext cx="11262360" cy="3304540"/>
          </a:xfrm>
          <a:custGeom>
            <a:avLst/>
            <a:gdLst/>
            <a:ahLst/>
            <a:cxnLst/>
            <a:rect l="l" t="t" r="r" b="b"/>
            <a:pathLst>
              <a:path w="11262360" h="3304540">
                <a:moveTo>
                  <a:pt x="11262360" y="0"/>
                </a:moveTo>
                <a:lnTo>
                  <a:pt x="0" y="0"/>
                </a:lnTo>
                <a:lnTo>
                  <a:pt x="0" y="3304031"/>
                </a:lnTo>
                <a:lnTo>
                  <a:pt x="11262360" y="3304031"/>
                </a:lnTo>
                <a:lnTo>
                  <a:pt x="1126236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6531" y="3086100"/>
            <a:ext cx="11262360" cy="330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5"/>
              </a:spcBef>
            </a:pPr>
            <a:endParaRPr sz="2800">
              <a:latin typeface="Times New Roman"/>
              <a:cs typeface="Times New Roman"/>
            </a:endParaRPr>
          </a:p>
          <a:p>
            <a:pPr marL="710565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Segoe UI Symbol"/>
                <a:cs typeface="Segoe UI Symbol"/>
              </a:rPr>
              <a:t>4</a:t>
            </a:r>
            <a:r>
              <a:rPr sz="3600" dirty="0">
                <a:solidFill>
                  <a:srgbClr val="FFFFFF"/>
                </a:solidFill>
                <a:latin typeface="Segoe UI Symbol"/>
                <a:cs typeface="Segoe UI Symbol"/>
              </a:rPr>
              <a:t>.</a:t>
            </a:r>
            <a:r>
              <a:rPr sz="3600" spc="-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2800" dirty="0">
                <a:solidFill>
                  <a:srgbClr val="FFFFFF"/>
                </a:solidFill>
                <a:latin typeface="Segoe UI Symbol"/>
                <a:cs typeface="Segoe UI Symbol"/>
              </a:rPr>
              <a:t>KAFKA</a:t>
            </a:r>
            <a:r>
              <a:rPr sz="2800" spc="-2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Symbol"/>
                <a:cs typeface="Segoe UI Symbol"/>
              </a:rPr>
              <a:t>BROKER</a:t>
            </a:r>
            <a:endParaRPr sz="28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</a:pPr>
            <a:endParaRPr sz="28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810"/>
              </a:spcBef>
            </a:pPr>
            <a:endParaRPr sz="2800">
              <a:latin typeface="Segoe UI Symbol"/>
              <a:cs typeface="Segoe UI Symbol"/>
            </a:endParaRPr>
          </a:p>
          <a:p>
            <a:pPr marR="7620" algn="ctr">
              <a:lnSpc>
                <a:spcPct val="100000"/>
              </a:lnSpc>
            </a:pPr>
            <a:r>
              <a:rPr sz="1800" dirty="0">
                <a:solidFill>
                  <a:srgbClr val="FFFF00"/>
                </a:solidFill>
                <a:latin typeface="Segoe UI Symbol"/>
                <a:cs typeface="Segoe UI Symbol"/>
              </a:rPr>
              <a:t>Dr</a:t>
            </a:r>
            <a:r>
              <a:rPr sz="1800" spc="-15" dirty="0">
                <a:solidFill>
                  <a:srgbClr val="FFFF00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FFFF00"/>
                </a:solidFill>
                <a:latin typeface="Segoe UI Symbol"/>
                <a:cs typeface="Segoe UI Symbol"/>
              </a:rPr>
              <a:t>Mouhim</a:t>
            </a:r>
            <a:r>
              <a:rPr sz="1800" spc="-30" dirty="0">
                <a:solidFill>
                  <a:srgbClr val="FFFF00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Segoe UI Symbol"/>
                <a:cs typeface="Segoe UI Symbol"/>
              </a:rPr>
              <a:t>Sanaa</a:t>
            </a:r>
            <a:endParaRPr sz="1800">
              <a:latin typeface="Segoe UI Symbol"/>
              <a:cs typeface="Segoe UI Symbo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" y="745236"/>
            <a:ext cx="1150619" cy="146303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9956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000000"/>
                </a:solidFill>
                <a:latin typeface="Calibri"/>
                <a:cs typeface="Calibri"/>
              </a:rPr>
              <a:t>INF4101-</a:t>
            </a:r>
            <a:r>
              <a:rPr sz="3200" b="1" dirty="0">
                <a:solidFill>
                  <a:srgbClr val="000000"/>
                </a:solidFill>
                <a:latin typeface="Calibri"/>
                <a:cs typeface="Calibri"/>
              </a:rPr>
              <a:t>Big</a:t>
            </a:r>
            <a:r>
              <a:rPr sz="3200" b="1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3200" b="1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00"/>
                </a:solidFill>
                <a:latin typeface="Calibri"/>
                <a:cs typeface="Calibri"/>
              </a:rPr>
              <a:t>et</a:t>
            </a:r>
            <a:r>
              <a:rPr sz="3200" b="1" spc="-10" dirty="0">
                <a:solidFill>
                  <a:srgbClr val="000000"/>
                </a:solidFill>
                <a:latin typeface="Calibri"/>
                <a:cs typeface="Calibri"/>
              </a:rPr>
              <a:t> NoSQL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84335" y="3656076"/>
            <a:ext cx="1699260" cy="17510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spc="-30" dirty="0"/>
              <a:t>WHAT</a:t>
            </a:r>
            <a:r>
              <a:rPr sz="2800" spc="-95" dirty="0"/>
              <a:t> </a:t>
            </a:r>
            <a:r>
              <a:rPr sz="2800" dirty="0"/>
              <a:t>IS</a:t>
            </a:r>
            <a:r>
              <a:rPr sz="2800" spc="-90" dirty="0"/>
              <a:t> </a:t>
            </a:r>
            <a:r>
              <a:rPr sz="2800" spc="-20" dirty="0"/>
              <a:t>KAFKA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143000" y="3200400"/>
            <a:ext cx="102196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ymbol"/>
                <a:cs typeface="Segoe UI Symbol"/>
              </a:rPr>
              <a:t>Apache</a:t>
            </a:r>
            <a:r>
              <a:rPr sz="1800" spc="434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4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is</a:t>
            </a:r>
            <a:r>
              <a:rPr sz="1800" spc="4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an</a:t>
            </a:r>
            <a:r>
              <a:rPr sz="1800" spc="430" dirty="0">
                <a:latin typeface="Segoe UI Symbol"/>
                <a:cs typeface="Segoe UI Symbol"/>
              </a:rPr>
              <a:t> 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open-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source</a:t>
            </a:r>
            <a:r>
              <a:rPr sz="1800" b="1" spc="4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distributed</a:t>
            </a:r>
            <a:r>
              <a:rPr sz="1800" spc="440" dirty="0">
                <a:latin typeface="Segoe UI Symbol"/>
                <a:cs typeface="Segoe UI Symbo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event</a:t>
            </a:r>
            <a:r>
              <a:rPr sz="1800" b="1" spc="45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streaming</a:t>
            </a:r>
            <a:r>
              <a:rPr sz="1800" b="1" spc="45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platform</a:t>
            </a:r>
            <a:r>
              <a:rPr sz="1800" b="1" spc="45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used</a:t>
            </a:r>
            <a:r>
              <a:rPr sz="1800" spc="434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by</a:t>
            </a:r>
            <a:r>
              <a:rPr sz="1800" spc="4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thousands</a:t>
            </a:r>
            <a:r>
              <a:rPr sz="1800" spc="450" dirty="0">
                <a:latin typeface="Segoe UI Symbol"/>
                <a:cs typeface="Segoe UI Symbol"/>
              </a:rPr>
              <a:t> </a:t>
            </a:r>
            <a:r>
              <a:rPr sz="1800" spc="-25" dirty="0">
                <a:latin typeface="Segoe UI Symbol"/>
                <a:cs typeface="Segoe UI Symbol"/>
              </a:rPr>
              <a:t>of </a:t>
            </a:r>
            <a:r>
              <a:rPr sz="1800" dirty="0">
                <a:latin typeface="Segoe UI Symbol"/>
                <a:cs typeface="Segoe UI Symbol"/>
              </a:rPr>
              <a:t>companies</a:t>
            </a:r>
            <a:r>
              <a:rPr sz="1800" spc="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for</a:t>
            </a:r>
            <a:r>
              <a:rPr sz="1800" spc="1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high-</a:t>
            </a:r>
            <a:r>
              <a:rPr sz="1800" dirty="0">
                <a:latin typeface="Segoe UI Symbol"/>
                <a:cs typeface="Segoe UI Symbol"/>
              </a:rPr>
              <a:t>performance</a:t>
            </a:r>
            <a:r>
              <a:rPr sz="1800" spc="25" dirty="0">
                <a:latin typeface="Segoe UI Symbol"/>
                <a:cs typeface="Segoe UI Symbo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data</a:t>
            </a:r>
            <a:r>
              <a:rPr sz="1800" b="1" spc="2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35" dirty="0">
                <a:solidFill>
                  <a:srgbClr val="FF0000"/>
                </a:solidFill>
                <a:latin typeface="Segoe UI"/>
                <a:cs typeface="Segoe UI"/>
              </a:rPr>
              <a:t>pipelines</a:t>
            </a:r>
            <a:r>
              <a:rPr sz="1800" spc="-35" dirty="0">
                <a:latin typeface="Segoe UI Symbol"/>
                <a:cs typeface="Segoe UI Symbol"/>
              </a:rPr>
              <a:t>,</a:t>
            </a:r>
            <a:r>
              <a:rPr sz="1800" spc="10" dirty="0">
                <a:latin typeface="Segoe UI Symbol"/>
                <a:cs typeface="Segoe UI Symbol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streaming</a:t>
            </a:r>
            <a:r>
              <a:rPr sz="1800" b="1" spc="1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35" dirty="0">
                <a:solidFill>
                  <a:srgbClr val="FF0000"/>
                </a:solidFill>
                <a:latin typeface="Segoe UI"/>
                <a:cs typeface="Segoe UI"/>
              </a:rPr>
              <a:t>analytics</a:t>
            </a:r>
            <a:r>
              <a:rPr sz="1800" spc="-35" dirty="0">
                <a:latin typeface="Segoe UI Symbol"/>
                <a:cs typeface="Segoe UI Symbol"/>
              </a:rPr>
              <a:t>,</a:t>
            </a:r>
            <a:r>
              <a:rPr sz="1800" spc="20" dirty="0">
                <a:latin typeface="Segoe UI Symbol"/>
                <a:cs typeface="Segoe UI Symbo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data</a:t>
            </a:r>
            <a:r>
              <a:rPr sz="1800" b="1" spc="2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integration</a:t>
            </a:r>
            <a:r>
              <a:rPr sz="1800" spc="-50" dirty="0">
                <a:latin typeface="Segoe UI Symbol"/>
                <a:cs typeface="Segoe UI Symbol"/>
              </a:rPr>
              <a:t>,</a:t>
            </a:r>
            <a:r>
              <a:rPr sz="1800" spc="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and</a:t>
            </a:r>
            <a:r>
              <a:rPr sz="1800" spc="15" dirty="0">
                <a:latin typeface="Segoe UI Symbol"/>
                <a:cs typeface="Segoe UI Symbo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mission- </a:t>
            </a:r>
            <a:r>
              <a:rPr sz="1800" b="1" spc="-60" dirty="0">
                <a:solidFill>
                  <a:srgbClr val="FF0000"/>
                </a:solidFill>
                <a:latin typeface="Segoe UI"/>
                <a:cs typeface="Segoe UI"/>
              </a:rPr>
              <a:t>critical 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applications</a:t>
            </a:r>
            <a:r>
              <a:rPr sz="1800" spc="-10" dirty="0">
                <a:latin typeface="Segoe UI Symbol"/>
                <a:cs typeface="Segoe UI Symbol"/>
              </a:rPr>
              <a:t>.</a:t>
            </a:r>
            <a:endParaRPr sz="1800" dirty="0">
              <a:latin typeface="Segoe UI Symbol"/>
              <a:cs typeface="Segoe UI Symbo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spc="-30" dirty="0"/>
              <a:t>WHAT</a:t>
            </a:r>
            <a:r>
              <a:rPr sz="2800" spc="-95" dirty="0"/>
              <a:t> </a:t>
            </a:r>
            <a:r>
              <a:rPr sz="2800" dirty="0"/>
              <a:t>IS</a:t>
            </a:r>
            <a:r>
              <a:rPr sz="2800" spc="-90" dirty="0"/>
              <a:t> </a:t>
            </a:r>
            <a:r>
              <a:rPr sz="2800" spc="-20" dirty="0"/>
              <a:t>KAFKA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1842" y="1980057"/>
            <a:ext cx="7788275" cy="145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006FC0"/>
                </a:solidFill>
                <a:latin typeface="Segoe UI"/>
                <a:cs typeface="Segoe UI"/>
              </a:rPr>
              <a:t>Why</a:t>
            </a:r>
            <a:r>
              <a:rPr sz="1800" b="1" spc="-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85" dirty="0">
                <a:solidFill>
                  <a:srgbClr val="006FC0"/>
                </a:solidFill>
                <a:latin typeface="Segoe UI"/>
                <a:cs typeface="Segoe UI"/>
              </a:rPr>
              <a:t>LinkedIn</a:t>
            </a:r>
            <a:r>
              <a:rPr sz="1800" b="1" spc="-2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created</a:t>
            </a:r>
            <a:r>
              <a:rPr sz="1800" b="1" spc="-3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KAFKA?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800">
              <a:latin typeface="Segoe UI"/>
              <a:cs typeface="Segoe UI"/>
            </a:endParaRPr>
          </a:p>
          <a:p>
            <a:pPr marL="921385" indent="-286385">
              <a:lnSpc>
                <a:spcPct val="100000"/>
              </a:lnSpc>
              <a:buFont typeface="Arial MT"/>
              <a:buChar char="•"/>
              <a:tabLst>
                <a:tab pos="921385" algn="l"/>
              </a:tabLst>
            </a:pP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6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LinkedIn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website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is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b="1" spc="-70" dirty="0">
                <a:solidFill>
                  <a:srgbClr val="FF0000"/>
                </a:solidFill>
                <a:latin typeface="Segoe UI"/>
                <a:cs typeface="Segoe UI"/>
              </a:rPr>
              <a:t>highly</a:t>
            </a:r>
            <a:r>
              <a:rPr sz="1800" b="1" spc="-4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75" dirty="0">
                <a:solidFill>
                  <a:srgbClr val="FF0000"/>
                </a:solidFill>
                <a:latin typeface="Segoe UI"/>
                <a:cs typeface="Segoe UI"/>
              </a:rPr>
              <a:t>trafficked</a:t>
            </a:r>
            <a:r>
              <a:rPr sz="1800" spc="-75" dirty="0">
                <a:latin typeface="Segoe UI Symbol"/>
                <a:cs typeface="Segoe UI Symbol"/>
              </a:rPr>
              <a:t>,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very</a:t>
            </a:r>
            <a:r>
              <a:rPr sz="1800" spc="-10" dirty="0">
                <a:latin typeface="Segoe UI Symbol"/>
                <a:cs typeface="Segoe UI Symbol"/>
              </a:rPr>
              <a:t> </a:t>
            </a:r>
            <a:r>
              <a:rPr sz="1800" b="1" spc="-70" dirty="0">
                <a:solidFill>
                  <a:srgbClr val="FF0000"/>
                </a:solidFill>
                <a:latin typeface="Segoe UI"/>
                <a:cs typeface="Segoe UI"/>
              </a:rPr>
              <a:t>active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Segoe UI"/>
                <a:cs typeface="Segoe UI"/>
              </a:rPr>
              <a:t>site</a:t>
            </a:r>
            <a:endParaRPr sz="1800">
              <a:latin typeface="Segoe UI"/>
              <a:cs typeface="Segoe UI"/>
            </a:endParaRPr>
          </a:p>
          <a:p>
            <a:pPr marL="9213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921385" algn="l"/>
              </a:tabLst>
            </a:pPr>
            <a:r>
              <a:rPr sz="1800" dirty="0">
                <a:latin typeface="Segoe UI Symbol"/>
                <a:cs typeface="Segoe UI Symbol"/>
              </a:rPr>
              <a:t>LinkedIn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grew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have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dozens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data</a:t>
            </a:r>
            <a:r>
              <a:rPr sz="1800" b="1" spc="-5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65" dirty="0">
                <a:solidFill>
                  <a:srgbClr val="FF0000"/>
                </a:solidFill>
                <a:latin typeface="Segoe UI"/>
                <a:cs typeface="Segoe UI"/>
              </a:rPr>
              <a:t>systems</a:t>
            </a:r>
            <a:r>
              <a:rPr sz="1800" b="1" spc="-6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and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data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b="1" spc="-35" dirty="0">
                <a:solidFill>
                  <a:srgbClr val="FF0000"/>
                </a:solidFill>
                <a:latin typeface="Segoe UI"/>
                <a:cs typeface="Segoe UI"/>
              </a:rPr>
              <a:t>repositories</a:t>
            </a:r>
            <a:r>
              <a:rPr sz="1800" spc="-35" dirty="0">
                <a:latin typeface="Segoe UI Symbol"/>
                <a:cs typeface="Segoe UI Symbol"/>
              </a:rPr>
              <a:t>.</a:t>
            </a:r>
            <a:endParaRPr sz="1800">
              <a:latin typeface="Segoe UI Symbol"/>
              <a:cs typeface="Segoe UI Symbol"/>
            </a:endParaRPr>
          </a:p>
          <a:p>
            <a:pPr marL="921385" indent="-286385">
              <a:lnSpc>
                <a:spcPct val="100000"/>
              </a:lnSpc>
              <a:buFont typeface="Arial MT"/>
              <a:buChar char="•"/>
              <a:tabLst>
                <a:tab pos="921385" algn="l"/>
              </a:tabLst>
            </a:pPr>
            <a:r>
              <a:rPr sz="1800" dirty="0">
                <a:latin typeface="Segoe UI Symbol"/>
                <a:cs typeface="Segoe UI Symbol"/>
              </a:rPr>
              <a:t>LinkdIn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described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their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point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point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data</a:t>
            </a:r>
            <a:r>
              <a:rPr sz="1800" b="1" spc="-7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pipelines</a:t>
            </a:r>
            <a:r>
              <a:rPr sz="1800" b="1" spc="-4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like:</a:t>
            </a:r>
            <a:endParaRPr sz="1800">
              <a:latin typeface="Segoe UI Symbol"/>
              <a:cs typeface="Segoe UI Symbo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3048" y="3787140"/>
            <a:ext cx="8969345" cy="30708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spc="-30" dirty="0"/>
              <a:t>WHAT</a:t>
            </a:r>
            <a:r>
              <a:rPr sz="2800" spc="-95" dirty="0"/>
              <a:t> </a:t>
            </a:r>
            <a:r>
              <a:rPr sz="2800" dirty="0"/>
              <a:t>IS</a:t>
            </a:r>
            <a:r>
              <a:rPr sz="2800" spc="-90" dirty="0"/>
              <a:t> </a:t>
            </a:r>
            <a:r>
              <a:rPr sz="2800" spc="-20" dirty="0"/>
              <a:t>KAFKA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1842" y="1980057"/>
            <a:ext cx="7858125" cy="906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006FC0"/>
                </a:solidFill>
                <a:latin typeface="Segoe UI"/>
                <a:cs typeface="Segoe UI"/>
              </a:rPr>
              <a:t>Why</a:t>
            </a:r>
            <a:r>
              <a:rPr sz="1800" b="1" spc="-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85" dirty="0">
                <a:solidFill>
                  <a:srgbClr val="006FC0"/>
                </a:solidFill>
                <a:latin typeface="Segoe UI"/>
                <a:cs typeface="Segoe UI"/>
              </a:rPr>
              <a:t>LinkedIn</a:t>
            </a:r>
            <a:r>
              <a:rPr sz="1800" b="1" spc="-2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created</a:t>
            </a:r>
            <a:r>
              <a:rPr sz="1800" b="1" spc="-3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KAFKA?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800">
              <a:latin typeface="Segoe UI"/>
              <a:cs typeface="Segoe UI"/>
            </a:endParaRPr>
          </a:p>
          <a:p>
            <a:pPr marL="921385" indent="-286385">
              <a:lnSpc>
                <a:spcPct val="100000"/>
              </a:lnSpc>
              <a:buFont typeface="Arial MT"/>
              <a:buChar char="•"/>
              <a:tabLst>
                <a:tab pos="921385" algn="l"/>
              </a:tabLst>
            </a:pP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was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created</a:t>
            </a:r>
            <a:r>
              <a:rPr sz="1800" spc="-1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serve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as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b="1" spc="-60" dirty="0">
                <a:solidFill>
                  <a:srgbClr val="FF0000"/>
                </a:solidFill>
                <a:latin typeface="Segoe UI"/>
                <a:cs typeface="Segoe UI"/>
              </a:rPr>
              <a:t>centralized</a:t>
            </a:r>
            <a:r>
              <a:rPr sz="1800" b="1" spc="-4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60" dirty="0">
                <a:solidFill>
                  <a:srgbClr val="FF0000"/>
                </a:solidFill>
                <a:latin typeface="Segoe UI"/>
                <a:cs typeface="Segoe UI"/>
              </a:rPr>
              <a:t>online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 data</a:t>
            </a:r>
            <a:r>
              <a:rPr sz="1800" b="1" spc="-55" dirty="0">
                <a:solidFill>
                  <a:srgbClr val="FF0000"/>
                </a:solidFill>
                <a:latin typeface="Segoe UI"/>
                <a:cs typeface="Segoe UI"/>
              </a:rPr>
              <a:t> pipeline 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system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9195" y="3028188"/>
            <a:ext cx="8164068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KAFKA</a:t>
            </a:r>
            <a:r>
              <a:rPr sz="2800" spc="-55" dirty="0"/>
              <a:t> </a:t>
            </a:r>
            <a:r>
              <a:rPr sz="2800" dirty="0"/>
              <a:t>USE</a:t>
            </a:r>
            <a:r>
              <a:rPr sz="2800" spc="-40" dirty="0"/>
              <a:t> </a:t>
            </a:r>
            <a:r>
              <a:rPr sz="2800" spc="-10" dirty="0"/>
              <a:t>CASES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2640" y="2057780"/>
            <a:ext cx="10529570" cy="1975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Messaging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239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3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works</a:t>
            </a:r>
            <a:r>
              <a:rPr sz="1800" spc="3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well</a:t>
            </a:r>
            <a:r>
              <a:rPr sz="1800" spc="3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as</a:t>
            </a:r>
            <a:r>
              <a:rPr sz="1800" spc="3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3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replacement</a:t>
            </a:r>
            <a:r>
              <a:rPr sz="1800" spc="3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for</a:t>
            </a:r>
            <a:r>
              <a:rPr sz="1800" spc="3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3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more</a:t>
            </a:r>
            <a:r>
              <a:rPr sz="1800" spc="3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traditional</a:t>
            </a:r>
            <a:r>
              <a:rPr sz="1800" spc="330" dirty="0">
                <a:latin typeface="Segoe UI Symbol"/>
                <a:cs typeface="Segoe UI Symbo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message</a:t>
            </a:r>
            <a:r>
              <a:rPr sz="1800" b="1" spc="34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40" dirty="0">
                <a:solidFill>
                  <a:srgbClr val="FF0000"/>
                </a:solidFill>
                <a:latin typeface="Segoe UI"/>
                <a:cs typeface="Segoe UI"/>
              </a:rPr>
              <a:t>broker</a:t>
            </a:r>
            <a:r>
              <a:rPr sz="1800" b="1" spc="33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such</a:t>
            </a:r>
            <a:r>
              <a:rPr sz="1800" spc="3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as</a:t>
            </a:r>
            <a:r>
              <a:rPr sz="1800" spc="325" dirty="0">
                <a:latin typeface="Segoe UI Symbol"/>
                <a:cs typeface="Segoe UI Symbol"/>
              </a:rPr>
              <a:t> </a:t>
            </a:r>
            <a:r>
              <a:rPr sz="1800" b="1" spc="-45" dirty="0">
                <a:solidFill>
                  <a:srgbClr val="00AF50"/>
                </a:solidFill>
                <a:latin typeface="Segoe UI"/>
                <a:cs typeface="Segoe UI"/>
              </a:rPr>
              <a:t>ActiveMQ</a:t>
            </a:r>
            <a:r>
              <a:rPr sz="1800" b="1" spc="35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latin typeface="Segoe UI Symbol"/>
                <a:cs typeface="Segoe UI Symbol"/>
              </a:rPr>
              <a:t>or</a:t>
            </a:r>
            <a:endParaRPr sz="1800">
              <a:latin typeface="Segoe UI Symbol"/>
              <a:cs typeface="Segoe UI Symbol"/>
            </a:endParaRPr>
          </a:p>
          <a:p>
            <a:pPr marL="299085">
              <a:lnSpc>
                <a:spcPct val="100000"/>
              </a:lnSpc>
            </a:pP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RabbitMQ</a:t>
            </a:r>
            <a:r>
              <a:rPr sz="1800" spc="-10" dirty="0">
                <a:latin typeface="Segoe UI Symbol"/>
                <a:cs typeface="Segoe UI Symbol"/>
              </a:rPr>
              <a:t>.</a:t>
            </a:r>
            <a:endParaRPr sz="1800">
              <a:latin typeface="Segoe UI Symbol"/>
              <a:cs typeface="Segoe UI Symbol"/>
            </a:endParaRPr>
          </a:p>
          <a:p>
            <a:pPr marL="299085" marR="5080" indent="-287020" algn="just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 Symbol"/>
                <a:cs typeface="Segoe UI Symbol"/>
              </a:rPr>
              <a:t>In</a:t>
            </a:r>
            <a:r>
              <a:rPr sz="1800" spc="60" dirty="0">
                <a:latin typeface="Segoe UI Symbol"/>
                <a:cs typeface="Segoe UI Symbol"/>
              </a:rPr>
              <a:t>  </a:t>
            </a:r>
            <a:r>
              <a:rPr sz="1800" dirty="0">
                <a:latin typeface="Segoe UI Symbol"/>
                <a:cs typeface="Segoe UI Symbol"/>
              </a:rPr>
              <a:t>comparison</a:t>
            </a:r>
            <a:r>
              <a:rPr sz="1800" spc="65" dirty="0">
                <a:latin typeface="Segoe UI Symbol"/>
                <a:cs typeface="Segoe UI Symbol"/>
              </a:rPr>
              <a:t> 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65" dirty="0">
                <a:latin typeface="Segoe UI Symbol"/>
                <a:cs typeface="Segoe UI Symbol"/>
              </a:rPr>
              <a:t>  </a:t>
            </a:r>
            <a:r>
              <a:rPr sz="1800" dirty="0">
                <a:latin typeface="Segoe UI Symbol"/>
                <a:cs typeface="Segoe UI Symbol"/>
              </a:rPr>
              <a:t>most</a:t>
            </a:r>
            <a:r>
              <a:rPr sz="1800" spc="65" dirty="0">
                <a:latin typeface="Segoe UI Symbol"/>
                <a:cs typeface="Segoe UI Symbol"/>
              </a:rPr>
              <a:t>  </a:t>
            </a:r>
            <a:r>
              <a:rPr sz="1800" dirty="0">
                <a:latin typeface="Segoe UI Symbol"/>
                <a:cs typeface="Segoe UI Symbol"/>
              </a:rPr>
              <a:t>messaging</a:t>
            </a:r>
            <a:r>
              <a:rPr sz="1800" spc="70" dirty="0">
                <a:latin typeface="Segoe UI Symbol"/>
                <a:cs typeface="Segoe UI Symbol"/>
              </a:rPr>
              <a:t>  </a:t>
            </a:r>
            <a:r>
              <a:rPr sz="1800" dirty="0">
                <a:latin typeface="Segoe UI Symbol"/>
                <a:cs typeface="Segoe UI Symbol"/>
              </a:rPr>
              <a:t>systems</a:t>
            </a:r>
            <a:r>
              <a:rPr sz="1800" spc="65" dirty="0">
                <a:latin typeface="Segoe UI Symbol"/>
                <a:cs typeface="Segoe UI Symbol"/>
              </a:rPr>
              <a:t>  </a:t>
            </a: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65" dirty="0">
                <a:latin typeface="Segoe UI Symbol"/>
                <a:cs typeface="Segoe UI Symbol"/>
              </a:rPr>
              <a:t>  </a:t>
            </a:r>
            <a:r>
              <a:rPr sz="1800" dirty="0">
                <a:latin typeface="Segoe UI Symbol"/>
                <a:cs typeface="Segoe UI Symbol"/>
              </a:rPr>
              <a:t>has</a:t>
            </a:r>
            <a:r>
              <a:rPr sz="1800" spc="65" dirty="0">
                <a:latin typeface="Segoe UI Symbol"/>
                <a:cs typeface="Segoe UI Symbol"/>
              </a:rPr>
              <a:t>  </a:t>
            </a:r>
            <a:r>
              <a:rPr sz="1800" dirty="0">
                <a:latin typeface="Segoe UI Symbol"/>
                <a:cs typeface="Segoe UI Symbol"/>
              </a:rPr>
              <a:t>better</a:t>
            </a:r>
            <a:r>
              <a:rPr sz="1800" spc="70" dirty="0">
                <a:latin typeface="Segoe UI Symbol"/>
                <a:cs typeface="Segoe UI Symbol"/>
              </a:rPr>
              <a:t>  </a:t>
            </a:r>
            <a:r>
              <a:rPr sz="1800" dirty="0">
                <a:solidFill>
                  <a:srgbClr val="00AF50"/>
                </a:solidFill>
                <a:latin typeface="Segoe UI Symbol"/>
                <a:cs typeface="Segoe UI Symbol"/>
              </a:rPr>
              <a:t>throughput</a:t>
            </a:r>
            <a:r>
              <a:rPr sz="1800" dirty="0">
                <a:latin typeface="Segoe UI Symbol"/>
                <a:cs typeface="Segoe UI Symbol"/>
              </a:rPr>
              <a:t>,</a:t>
            </a:r>
            <a:r>
              <a:rPr sz="1800" spc="65" dirty="0">
                <a:latin typeface="Segoe UI Symbol"/>
                <a:cs typeface="Segoe UI Symbol"/>
              </a:rPr>
              <a:t>  </a:t>
            </a:r>
            <a:r>
              <a:rPr sz="1800" spc="-35" dirty="0">
                <a:latin typeface="Segoe UI Symbol"/>
                <a:cs typeface="Segoe UI Symbol"/>
              </a:rPr>
              <a:t>built-</a:t>
            </a:r>
            <a:r>
              <a:rPr sz="1800" dirty="0">
                <a:latin typeface="Segoe UI Symbol"/>
                <a:cs typeface="Segoe UI Symbol"/>
              </a:rPr>
              <a:t>in</a:t>
            </a:r>
            <a:r>
              <a:rPr sz="1800" spc="70" dirty="0">
                <a:latin typeface="Segoe UI Symbol"/>
                <a:cs typeface="Segoe UI Symbol"/>
              </a:rPr>
              <a:t>  </a:t>
            </a:r>
            <a:r>
              <a:rPr sz="1800" b="1" spc="-25" dirty="0">
                <a:solidFill>
                  <a:srgbClr val="FF0000"/>
                </a:solidFill>
                <a:latin typeface="Segoe UI"/>
                <a:cs typeface="Segoe UI"/>
              </a:rPr>
              <a:t>partitioning</a:t>
            </a:r>
            <a:r>
              <a:rPr sz="1800" spc="-25" dirty="0">
                <a:latin typeface="Segoe UI Symbol"/>
                <a:cs typeface="Segoe UI Symbol"/>
              </a:rPr>
              <a:t>, </a:t>
            </a:r>
            <a:r>
              <a:rPr sz="1800" b="1" spc="-40" dirty="0">
                <a:solidFill>
                  <a:srgbClr val="FF0000"/>
                </a:solidFill>
                <a:latin typeface="Segoe UI"/>
                <a:cs typeface="Segoe UI"/>
              </a:rPr>
              <a:t>replication</a:t>
            </a:r>
            <a:r>
              <a:rPr sz="1800" spc="-40" dirty="0">
                <a:latin typeface="Segoe UI Symbol"/>
                <a:cs typeface="Segoe UI Symbol"/>
              </a:rPr>
              <a:t>,</a:t>
            </a:r>
            <a:r>
              <a:rPr sz="1800" spc="1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and</a:t>
            </a:r>
            <a:r>
              <a:rPr sz="1800" spc="170" dirty="0">
                <a:latin typeface="Segoe UI Symbol"/>
                <a:cs typeface="Segoe UI Symbol"/>
              </a:rPr>
              <a:t> </a:t>
            </a:r>
            <a:r>
              <a:rPr sz="1800" b="1" spc="-95" dirty="0">
                <a:solidFill>
                  <a:srgbClr val="FF0000"/>
                </a:solidFill>
                <a:latin typeface="Segoe UI"/>
                <a:cs typeface="Segoe UI"/>
              </a:rPr>
              <a:t>fault-</a:t>
            </a:r>
            <a:r>
              <a:rPr sz="1800" b="1" spc="-30" dirty="0">
                <a:solidFill>
                  <a:srgbClr val="FF0000"/>
                </a:solidFill>
                <a:latin typeface="Segoe UI"/>
                <a:cs typeface="Segoe UI"/>
              </a:rPr>
              <a:t>tolerance</a:t>
            </a:r>
            <a:r>
              <a:rPr sz="1800" b="1" spc="17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which</a:t>
            </a:r>
            <a:r>
              <a:rPr sz="1800" spc="1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makes</a:t>
            </a:r>
            <a:r>
              <a:rPr sz="1800" spc="1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it</a:t>
            </a:r>
            <a:r>
              <a:rPr sz="1800" spc="1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1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good</a:t>
            </a:r>
            <a:r>
              <a:rPr sz="1800" spc="17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solution</a:t>
            </a:r>
            <a:r>
              <a:rPr sz="1800" spc="16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for</a:t>
            </a:r>
            <a:r>
              <a:rPr sz="1800" spc="16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large</a:t>
            </a:r>
            <a:r>
              <a:rPr sz="1800" spc="1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scale</a:t>
            </a:r>
            <a:r>
              <a:rPr sz="1800" spc="1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message</a:t>
            </a:r>
            <a:r>
              <a:rPr sz="1800" spc="17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processing applications.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05177" y="4397502"/>
            <a:ext cx="1527175" cy="376555"/>
          </a:xfrm>
          <a:custGeom>
            <a:avLst/>
            <a:gdLst/>
            <a:ahLst/>
            <a:cxnLst/>
            <a:rect l="l" t="t" r="r" b="b"/>
            <a:pathLst>
              <a:path w="1527175" h="376554">
                <a:moveTo>
                  <a:pt x="0" y="376428"/>
                </a:moveTo>
                <a:lnTo>
                  <a:pt x="1527048" y="376428"/>
                </a:lnTo>
                <a:lnTo>
                  <a:pt x="1527048" y="0"/>
                </a:lnTo>
                <a:lnTo>
                  <a:pt x="0" y="0"/>
                </a:lnTo>
                <a:lnTo>
                  <a:pt x="0" y="376428"/>
                </a:lnTo>
                <a:close/>
              </a:path>
            </a:pathLst>
          </a:custGeom>
          <a:ln w="22859">
            <a:solidFill>
              <a:srgbClr val="0F21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3748" y="4386071"/>
            <a:ext cx="1550035" cy="399415"/>
          </a:xfrm>
          <a:prstGeom prst="rect">
            <a:avLst/>
          </a:prstGeom>
          <a:solidFill>
            <a:srgbClr val="122547"/>
          </a:solidFill>
        </p:spPr>
        <p:txBody>
          <a:bodyPr vert="horz" wrap="square" lIns="0" tIns="56515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445"/>
              </a:spcBef>
            </a:pPr>
            <a:r>
              <a:rPr sz="18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Producers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3748" y="5138928"/>
            <a:ext cx="1550035" cy="399415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450"/>
              </a:spcBef>
            </a:pPr>
            <a:r>
              <a:rPr sz="18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Producers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99844" y="5893308"/>
            <a:ext cx="1551940" cy="399415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271780">
              <a:lnSpc>
                <a:spcPct val="100000"/>
              </a:lnSpc>
              <a:spcBef>
                <a:spcPts val="445"/>
              </a:spcBef>
            </a:pPr>
            <a:r>
              <a:rPr sz="18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Producers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61153" y="4397502"/>
            <a:ext cx="1553210" cy="2016760"/>
          </a:xfrm>
          <a:custGeom>
            <a:avLst/>
            <a:gdLst/>
            <a:ahLst/>
            <a:cxnLst/>
            <a:rect l="l" t="t" r="r" b="b"/>
            <a:pathLst>
              <a:path w="1553210" h="2016760">
                <a:moveTo>
                  <a:pt x="0" y="258825"/>
                </a:moveTo>
                <a:lnTo>
                  <a:pt x="4168" y="212286"/>
                </a:lnTo>
                <a:lnTo>
                  <a:pt x="16186" y="168490"/>
                </a:lnTo>
                <a:lnTo>
                  <a:pt x="35324" y="128166"/>
                </a:lnTo>
                <a:lnTo>
                  <a:pt x="60854" y="92044"/>
                </a:lnTo>
                <a:lnTo>
                  <a:pt x="92044" y="60854"/>
                </a:lnTo>
                <a:lnTo>
                  <a:pt x="128166" y="35324"/>
                </a:lnTo>
                <a:lnTo>
                  <a:pt x="168490" y="16186"/>
                </a:lnTo>
                <a:lnTo>
                  <a:pt x="212286" y="4168"/>
                </a:lnTo>
                <a:lnTo>
                  <a:pt x="258825" y="0"/>
                </a:lnTo>
                <a:lnTo>
                  <a:pt x="1294130" y="0"/>
                </a:lnTo>
                <a:lnTo>
                  <a:pt x="1340669" y="4168"/>
                </a:lnTo>
                <a:lnTo>
                  <a:pt x="1384465" y="16186"/>
                </a:lnTo>
                <a:lnTo>
                  <a:pt x="1424789" y="35324"/>
                </a:lnTo>
                <a:lnTo>
                  <a:pt x="1460911" y="60854"/>
                </a:lnTo>
                <a:lnTo>
                  <a:pt x="1492101" y="92044"/>
                </a:lnTo>
                <a:lnTo>
                  <a:pt x="1517631" y="128166"/>
                </a:lnTo>
                <a:lnTo>
                  <a:pt x="1536769" y="168490"/>
                </a:lnTo>
                <a:lnTo>
                  <a:pt x="1548787" y="212286"/>
                </a:lnTo>
                <a:lnTo>
                  <a:pt x="1552956" y="258825"/>
                </a:lnTo>
                <a:lnTo>
                  <a:pt x="1552956" y="1757426"/>
                </a:lnTo>
                <a:lnTo>
                  <a:pt x="1548787" y="1803948"/>
                </a:lnTo>
                <a:lnTo>
                  <a:pt x="1536769" y="1847735"/>
                </a:lnTo>
                <a:lnTo>
                  <a:pt x="1517631" y="1888057"/>
                </a:lnTo>
                <a:lnTo>
                  <a:pt x="1492101" y="1924181"/>
                </a:lnTo>
                <a:lnTo>
                  <a:pt x="1460911" y="1955377"/>
                </a:lnTo>
                <a:lnTo>
                  <a:pt x="1424789" y="1980913"/>
                </a:lnTo>
                <a:lnTo>
                  <a:pt x="1384465" y="2000058"/>
                </a:lnTo>
                <a:lnTo>
                  <a:pt x="1340669" y="2012081"/>
                </a:lnTo>
                <a:lnTo>
                  <a:pt x="1294130" y="2016252"/>
                </a:lnTo>
                <a:lnTo>
                  <a:pt x="258825" y="2016252"/>
                </a:lnTo>
                <a:lnTo>
                  <a:pt x="212286" y="2012081"/>
                </a:lnTo>
                <a:lnTo>
                  <a:pt x="168490" y="2000058"/>
                </a:lnTo>
                <a:lnTo>
                  <a:pt x="128166" y="1980913"/>
                </a:lnTo>
                <a:lnTo>
                  <a:pt x="92044" y="1955377"/>
                </a:lnTo>
                <a:lnTo>
                  <a:pt x="60854" y="1924181"/>
                </a:lnTo>
                <a:lnTo>
                  <a:pt x="35324" y="1888057"/>
                </a:lnTo>
                <a:lnTo>
                  <a:pt x="16186" y="1847735"/>
                </a:lnTo>
                <a:lnTo>
                  <a:pt x="4168" y="1803948"/>
                </a:lnTo>
                <a:lnTo>
                  <a:pt x="0" y="1757426"/>
                </a:lnTo>
                <a:lnTo>
                  <a:pt x="0" y="258825"/>
                </a:lnTo>
                <a:close/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78400" y="5113146"/>
            <a:ext cx="916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100"/>
              </a:spcBef>
            </a:pPr>
            <a:r>
              <a:rPr sz="1800" b="1" spc="-55" dirty="0">
                <a:latin typeface="Segoe UI"/>
                <a:cs typeface="Segoe UI"/>
              </a:rPr>
              <a:t>Message </a:t>
            </a:r>
            <a:r>
              <a:rPr sz="1800" b="1" spc="-10" dirty="0">
                <a:latin typeface="Segoe UI"/>
                <a:cs typeface="Segoe UI"/>
              </a:rPr>
              <a:t>Broker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67016" y="5992367"/>
            <a:ext cx="1551940" cy="399415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450"/>
              </a:spcBef>
            </a:pPr>
            <a:r>
              <a:rPr sz="1800" spc="-10" dirty="0">
                <a:solidFill>
                  <a:srgbClr val="FFFFFF"/>
                </a:solidFill>
                <a:latin typeface="Segoe UI Symbol"/>
                <a:cs typeface="Segoe UI Symbol"/>
              </a:rPr>
              <a:t>Consumers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79207" y="5205984"/>
            <a:ext cx="1550035" cy="399415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450"/>
              </a:spcBef>
            </a:pPr>
            <a:r>
              <a:rPr sz="1800" spc="-10" dirty="0">
                <a:solidFill>
                  <a:srgbClr val="FFFFFF"/>
                </a:solidFill>
                <a:latin typeface="Segoe UI Symbol"/>
                <a:cs typeface="Segoe UI Symbol"/>
              </a:rPr>
              <a:t>Consumers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89114" y="4397502"/>
            <a:ext cx="1529080" cy="376555"/>
          </a:xfrm>
          <a:custGeom>
            <a:avLst/>
            <a:gdLst/>
            <a:ahLst/>
            <a:cxnLst/>
            <a:rect l="l" t="t" r="r" b="b"/>
            <a:pathLst>
              <a:path w="1529079" h="376554">
                <a:moveTo>
                  <a:pt x="0" y="376428"/>
                </a:moveTo>
                <a:lnTo>
                  <a:pt x="1528572" y="376428"/>
                </a:lnTo>
                <a:lnTo>
                  <a:pt x="1528572" y="0"/>
                </a:lnTo>
                <a:lnTo>
                  <a:pt x="0" y="0"/>
                </a:lnTo>
                <a:lnTo>
                  <a:pt x="0" y="376428"/>
                </a:lnTo>
                <a:close/>
              </a:path>
            </a:pathLst>
          </a:custGeom>
          <a:ln w="22860">
            <a:solidFill>
              <a:srgbClr val="0F21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77683" y="4386071"/>
            <a:ext cx="1551940" cy="399415"/>
          </a:xfrm>
          <a:prstGeom prst="rect">
            <a:avLst/>
          </a:prstGeom>
          <a:solidFill>
            <a:srgbClr val="122547"/>
          </a:solidFill>
        </p:spPr>
        <p:txBody>
          <a:bodyPr vert="horz" wrap="square" lIns="0" tIns="56515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445"/>
              </a:spcBef>
            </a:pPr>
            <a:r>
              <a:rPr sz="1800" spc="-10" dirty="0">
                <a:solidFill>
                  <a:srgbClr val="FFFFFF"/>
                </a:solidFill>
                <a:latin typeface="Segoe UI Symbol"/>
                <a:cs typeface="Segoe UI Symbol"/>
              </a:rPr>
              <a:t>Cosumers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24225" y="4576952"/>
            <a:ext cx="4065904" cy="1615440"/>
          </a:xfrm>
          <a:custGeom>
            <a:avLst/>
            <a:gdLst/>
            <a:ahLst/>
            <a:cxnLst/>
            <a:rect l="l" t="t" r="r" b="b"/>
            <a:pathLst>
              <a:path w="4065904" h="1615439">
                <a:moveTo>
                  <a:pt x="1335532" y="828675"/>
                </a:moveTo>
                <a:lnTo>
                  <a:pt x="1334389" y="828700"/>
                </a:lnTo>
                <a:lnTo>
                  <a:pt x="1335024" y="828421"/>
                </a:lnTo>
                <a:lnTo>
                  <a:pt x="1333411" y="827519"/>
                </a:lnTo>
                <a:lnTo>
                  <a:pt x="1335024" y="827659"/>
                </a:lnTo>
                <a:lnTo>
                  <a:pt x="1318818" y="801497"/>
                </a:lnTo>
                <a:lnTo>
                  <a:pt x="1290193" y="755269"/>
                </a:lnTo>
                <a:lnTo>
                  <a:pt x="1273530" y="782243"/>
                </a:lnTo>
                <a:lnTo>
                  <a:pt x="7620" y="0"/>
                </a:lnTo>
                <a:lnTo>
                  <a:pt x="3683" y="889"/>
                </a:lnTo>
                <a:lnTo>
                  <a:pt x="1778" y="3937"/>
                </a:lnTo>
                <a:lnTo>
                  <a:pt x="0" y="6858"/>
                </a:lnTo>
                <a:lnTo>
                  <a:pt x="889" y="10795"/>
                </a:lnTo>
                <a:lnTo>
                  <a:pt x="1260703" y="789279"/>
                </a:lnTo>
                <a:lnTo>
                  <a:pt x="1259928" y="804252"/>
                </a:lnTo>
                <a:lnTo>
                  <a:pt x="1259065" y="805662"/>
                </a:lnTo>
                <a:lnTo>
                  <a:pt x="1259065" y="820839"/>
                </a:lnTo>
                <a:lnTo>
                  <a:pt x="1258684" y="828421"/>
                </a:lnTo>
                <a:lnTo>
                  <a:pt x="1258646" y="829056"/>
                </a:lnTo>
                <a:lnTo>
                  <a:pt x="1258595" y="829945"/>
                </a:lnTo>
                <a:lnTo>
                  <a:pt x="1259065" y="820839"/>
                </a:lnTo>
                <a:lnTo>
                  <a:pt x="1259065" y="805662"/>
                </a:lnTo>
                <a:lnTo>
                  <a:pt x="1251521" y="817880"/>
                </a:lnTo>
                <a:lnTo>
                  <a:pt x="7620" y="755269"/>
                </a:lnTo>
                <a:lnTo>
                  <a:pt x="4064" y="755142"/>
                </a:lnTo>
                <a:lnTo>
                  <a:pt x="1003" y="757809"/>
                </a:lnTo>
                <a:lnTo>
                  <a:pt x="889" y="761238"/>
                </a:lnTo>
                <a:lnTo>
                  <a:pt x="762" y="764794"/>
                </a:lnTo>
                <a:lnTo>
                  <a:pt x="3416" y="767842"/>
                </a:lnTo>
                <a:lnTo>
                  <a:pt x="6858" y="767969"/>
                </a:lnTo>
                <a:lnTo>
                  <a:pt x="1250556" y="830567"/>
                </a:lnTo>
                <a:lnTo>
                  <a:pt x="1257846" y="844562"/>
                </a:lnTo>
                <a:lnTo>
                  <a:pt x="1256919" y="862342"/>
                </a:lnTo>
                <a:lnTo>
                  <a:pt x="11938" y="1509890"/>
                </a:lnTo>
                <a:lnTo>
                  <a:pt x="8763" y="1511503"/>
                </a:lnTo>
                <a:lnTo>
                  <a:pt x="7620" y="1515338"/>
                </a:lnTo>
                <a:lnTo>
                  <a:pt x="9271" y="1518450"/>
                </a:lnTo>
                <a:lnTo>
                  <a:pt x="10795" y="1521561"/>
                </a:lnTo>
                <a:lnTo>
                  <a:pt x="14732" y="1522768"/>
                </a:lnTo>
                <a:lnTo>
                  <a:pt x="1270812" y="869454"/>
                </a:lnTo>
                <a:lnTo>
                  <a:pt x="1285494" y="897636"/>
                </a:lnTo>
                <a:lnTo>
                  <a:pt x="1319491" y="850773"/>
                </a:lnTo>
                <a:lnTo>
                  <a:pt x="1335532" y="828675"/>
                </a:lnTo>
                <a:close/>
              </a:path>
              <a:path w="4065904" h="1615439">
                <a:moveTo>
                  <a:pt x="4065524" y="828675"/>
                </a:moveTo>
                <a:lnTo>
                  <a:pt x="4052824" y="822325"/>
                </a:lnTo>
                <a:lnTo>
                  <a:pt x="3989324" y="790575"/>
                </a:lnTo>
                <a:lnTo>
                  <a:pt x="3989324" y="822325"/>
                </a:lnTo>
                <a:lnTo>
                  <a:pt x="2907893" y="822325"/>
                </a:lnTo>
                <a:lnTo>
                  <a:pt x="4005643" y="55994"/>
                </a:lnTo>
                <a:lnTo>
                  <a:pt x="4023868" y="82042"/>
                </a:lnTo>
                <a:lnTo>
                  <a:pt x="4048696" y="36322"/>
                </a:lnTo>
                <a:lnTo>
                  <a:pt x="4064508" y="7239"/>
                </a:lnTo>
                <a:lnTo>
                  <a:pt x="3980180" y="19558"/>
                </a:lnTo>
                <a:lnTo>
                  <a:pt x="3998379" y="45605"/>
                </a:lnTo>
                <a:lnTo>
                  <a:pt x="2885617" y="822325"/>
                </a:lnTo>
                <a:lnTo>
                  <a:pt x="2885440" y="822452"/>
                </a:lnTo>
                <a:lnTo>
                  <a:pt x="2882646" y="824484"/>
                </a:lnTo>
                <a:lnTo>
                  <a:pt x="2881985" y="827900"/>
                </a:lnTo>
                <a:lnTo>
                  <a:pt x="2881884" y="828040"/>
                </a:lnTo>
                <a:lnTo>
                  <a:pt x="2881909" y="828230"/>
                </a:lnTo>
                <a:lnTo>
                  <a:pt x="2881884" y="828421"/>
                </a:lnTo>
                <a:lnTo>
                  <a:pt x="2881985" y="828573"/>
                </a:lnTo>
                <a:lnTo>
                  <a:pt x="2882646" y="831977"/>
                </a:lnTo>
                <a:lnTo>
                  <a:pt x="2882773" y="832065"/>
                </a:lnTo>
                <a:lnTo>
                  <a:pt x="2882773" y="832231"/>
                </a:lnTo>
                <a:lnTo>
                  <a:pt x="2885567" y="835025"/>
                </a:lnTo>
                <a:lnTo>
                  <a:pt x="2887256" y="835025"/>
                </a:lnTo>
                <a:lnTo>
                  <a:pt x="3987800" y="1577746"/>
                </a:lnTo>
                <a:lnTo>
                  <a:pt x="3970020" y="1604060"/>
                </a:lnTo>
                <a:lnTo>
                  <a:pt x="4054475" y="1615109"/>
                </a:lnTo>
                <a:lnTo>
                  <a:pt x="4038536" y="1586814"/>
                </a:lnTo>
                <a:lnTo>
                  <a:pt x="4012692" y="1540903"/>
                </a:lnTo>
                <a:lnTo>
                  <a:pt x="3994912" y="1567218"/>
                </a:lnTo>
                <a:lnTo>
                  <a:pt x="2909798" y="835025"/>
                </a:lnTo>
                <a:lnTo>
                  <a:pt x="3989324" y="835025"/>
                </a:lnTo>
                <a:lnTo>
                  <a:pt x="3989324" y="866775"/>
                </a:lnTo>
                <a:lnTo>
                  <a:pt x="4052824" y="835025"/>
                </a:lnTo>
                <a:lnTo>
                  <a:pt x="4065524" y="828675"/>
                </a:lnTo>
                <a:close/>
              </a:path>
            </a:pathLst>
          </a:custGeom>
          <a:solidFill>
            <a:srgbClr val="172C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KAFKA</a:t>
            </a:r>
            <a:r>
              <a:rPr sz="2800" spc="-55" dirty="0"/>
              <a:t> </a:t>
            </a:r>
            <a:r>
              <a:rPr sz="2800" dirty="0"/>
              <a:t>USE</a:t>
            </a:r>
            <a:r>
              <a:rPr sz="2800" spc="-40" dirty="0"/>
              <a:t> </a:t>
            </a:r>
            <a:r>
              <a:rPr sz="2800" spc="-10" dirty="0"/>
              <a:t>CASES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4461" y="2053285"/>
            <a:ext cx="10836275" cy="34496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endParaRPr sz="1800" dirty="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800" b="1" spc="-85" dirty="0">
                <a:solidFill>
                  <a:srgbClr val="006FC0"/>
                </a:solidFill>
                <a:latin typeface="Segoe UI"/>
                <a:cs typeface="Segoe UI"/>
              </a:rPr>
              <a:t>Web</a:t>
            </a:r>
            <a:r>
              <a:rPr sz="1800" b="1" spc="-1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site</a:t>
            </a:r>
            <a:r>
              <a:rPr sz="1800" b="1" spc="-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80" dirty="0">
                <a:solidFill>
                  <a:srgbClr val="006FC0"/>
                </a:solidFill>
                <a:latin typeface="Segoe UI"/>
                <a:cs typeface="Segoe UI"/>
              </a:rPr>
              <a:t>activity</a:t>
            </a:r>
            <a:r>
              <a:rPr sz="1800" b="1" spc="-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tracking</a:t>
            </a:r>
            <a:endParaRPr sz="1800" dirty="0">
              <a:latin typeface="Segoe UI"/>
              <a:cs typeface="Segoe UI"/>
            </a:endParaRPr>
          </a:p>
          <a:p>
            <a:pPr marL="462280" lvl="1" indent="-286385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462280" algn="l"/>
              </a:tabLst>
            </a:pPr>
            <a:r>
              <a:rPr sz="1800" b="1" spc="-114" dirty="0">
                <a:solidFill>
                  <a:srgbClr val="FF0000"/>
                </a:solidFill>
                <a:latin typeface="Segoe UI"/>
                <a:cs typeface="Segoe UI"/>
              </a:rPr>
              <a:t>Track</a:t>
            </a:r>
            <a:r>
              <a:rPr sz="1800" b="1" spc="-3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real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time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b="1" spc="-45" dirty="0">
                <a:solidFill>
                  <a:srgbClr val="FF0000"/>
                </a:solidFill>
                <a:latin typeface="Segoe UI"/>
                <a:cs typeface="Segoe UI"/>
              </a:rPr>
              <a:t>user</a:t>
            </a:r>
            <a:r>
              <a:rPr sz="1800" b="1" spc="-3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activity</a:t>
            </a:r>
            <a:endParaRPr sz="1800" dirty="0">
              <a:latin typeface="Segoe UI"/>
              <a:cs typeface="Segoe UI"/>
            </a:endParaRPr>
          </a:p>
          <a:p>
            <a:pPr marL="462280" marR="149860" lvl="1" indent="-287020">
              <a:lnSpc>
                <a:spcPct val="100000"/>
              </a:lnSpc>
              <a:buFont typeface="Arial MT"/>
              <a:buChar char="•"/>
              <a:tabLst>
                <a:tab pos="462280" algn="l"/>
              </a:tabLst>
            </a:pPr>
            <a:r>
              <a:rPr sz="1800" b="1" spc="-70" dirty="0">
                <a:solidFill>
                  <a:srgbClr val="00AF50"/>
                </a:solidFill>
                <a:latin typeface="Segoe UI"/>
                <a:cs typeface="Segoe UI"/>
              </a:rPr>
              <a:t>real-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time</a:t>
            </a:r>
            <a:r>
              <a:rPr sz="1800" b="1" spc="18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35" dirty="0">
                <a:solidFill>
                  <a:srgbClr val="00AF50"/>
                </a:solidFill>
                <a:latin typeface="Segoe UI"/>
                <a:cs typeface="Segoe UI"/>
              </a:rPr>
              <a:t>processing</a:t>
            </a:r>
            <a:r>
              <a:rPr sz="1800" spc="-35" dirty="0">
                <a:latin typeface="Segoe UI Symbol"/>
                <a:cs typeface="Segoe UI Symbol"/>
              </a:rPr>
              <a:t>,</a:t>
            </a:r>
            <a:r>
              <a:rPr sz="1800" spc="180" dirty="0">
                <a:latin typeface="Segoe UI Symbol"/>
                <a:cs typeface="Segoe UI Symbol"/>
              </a:rPr>
              <a:t> </a:t>
            </a:r>
            <a:r>
              <a:rPr sz="1800" b="1" spc="-70" dirty="0">
                <a:solidFill>
                  <a:srgbClr val="00AF50"/>
                </a:solidFill>
                <a:latin typeface="Segoe UI"/>
                <a:cs typeface="Segoe UI"/>
              </a:rPr>
              <a:t>real-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time</a:t>
            </a:r>
            <a:r>
              <a:rPr sz="1800" b="1" spc="18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50" dirty="0">
                <a:solidFill>
                  <a:srgbClr val="00AF50"/>
                </a:solidFill>
                <a:latin typeface="Segoe UI"/>
                <a:cs typeface="Segoe UI"/>
              </a:rPr>
              <a:t>monitoring</a:t>
            </a:r>
            <a:r>
              <a:rPr sz="1800" spc="-50" dirty="0">
                <a:latin typeface="Segoe UI Symbol"/>
                <a:cs typeface="Segoe UI Symbol"/>
              </a:rPr>
              <a:t>,</a:t>
            </a:r>
            <a:r>
              <a:rPr sz="1800" spc="18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and</a:t>
            </a:r>
            <a:r>
              <a:rPr sz="1800" spc="180" dirty="0">
                <a:latin typeface="Segoe UI Symbol"/>
                <a:cs typeface="Segoe UI Symbol"/>
              </a:rPr>
              <a:t> </a:t>
            </a:r>
            <a:r>
              <a:rPr sz="1800" b="1" spc="-35" dirty="0">
                <a:solidFill>
                  <a:srgbClr val="00AF50"/>
                </a:solidFill>
                <a:latin typeface="Segoe UI"/>
                <a:cs typeface="Segoe UI"/>
              </a:rPr>
              <a:t>loading</a:t>
            </a:r>
            <a:r>
              <a:rPr sz="1800" b="1" spc="19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into</a:t>
            </a:r>
            <a:r>
              <a:rPr sz="1800" b="1" spc="18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25" dirty="0">
                <a:solidFill>
                  <a:srgbClr val="00AF50"/>
                </a:solidFill>
                <a:latin typeface="Segoe UI"/>
                <a:cs typeface="Segoe UI"/>
              </a:rPr>
              <a:t>Hadoop</a:t>
            </a:r>
            <a:r>
              <a:rPr sz="1800" b="1" spc="18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or</a:t>
            </a:r>
            <a:r>
              <a:rPr sz="1800" spc="18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offline</a:t>
            </a:r>
            <a:r>
              <a:rPr sz="1800" spc="1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data</a:t>
            </a:r>
            <a:r>
              <a:rPr sz="1800" spc="19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warehousing </a:t>
            </a:r>
            <a:r>
              <a:rPr sz="1800" dirty="0">
                <a:latin typeface="Segoe UI Symbol"/>
                <a:cs typeface="Segoe UI Symbol"/>
              </a:rPr>
              <a:t>systems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for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b="1" spc="-90" dirty="0">
                <a:solidFill>
                  <a:srgbClr val="00AF50"/>
                </a:solidFill>
                <a:latin typeface="Segoe UI"/>
                <a:cs typeface="Segoe UI"/>
              </a:rPr>
              <a:t>offline</a:t>
            </a:r>
            <a:r>
              <a:rPr sz="1800" b="1" spc="-3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50" dirty="0">
                <a:solidFill>
                  <a:srgbClr val="00AF50"/>
                </a:solidFill>
                <a:latin typeface="Segoe UI"/>
                <a:cs typeface="Segoe UI"/>
              </a:rPr>
              <a:t>processing</a:t>
            </a:r>
            <a:r>
              <a:rPr sz="1800" b="1" spc="-3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and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reporting</a:t>
            </a:r>
            <a:r>
              <a:rPr sz="1800" spc="-10" dirty="0">
                <a:latin typeface="Segoe UI Symbol"/>
                <a:cs typeface="Segoe UI Symbol"/>
              </a:rPr>
              <a:t>.</a:t>
            </a:r>
            <a:endParaRPr sz="1800" dirty="0">
              <a:latin typeface="Segoe UI Symbol"/>
              <a:cs typeface="Segoe UI Symbol"/>
            </a:endParaRPr>
          </a:p>
          <a:p>
            <a:pPr marL="78105">
              <a:lnSpc>
                <a:spcPct val="100000"/>
              </a:lnSpc>
              <a:spcBef>
                <a:spcPts val="2360"/>
              </a:spcBef>
            </a:pPr>
            <a:r>
              <a:rPr sz="1800" b="1" spc="-40" dirty="0">
                <a:solidFill>
                  <a:srgbClr val="006FC0"/>
                </a:solidFill>
                <a:latin typeface="Segoe UI"/>
                <a:cs typeface="Segoe UI"/>
              </a:rPr>
              <a:t>Log</a:t>
            </a:r>
            <a:r>
              <a:rPr sz="1800" b="1" spc="-7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aggregation</a:t>
            </a:r>
            <a:endParaRPr sz="1800" dirty="0">
              <a:latin typeface="Segoe UI"/>
              <a:cs typeface="Segoe UI"/>
            </a:endParaRPr>
          </a:p>
          <a:p>
            <a:pPr marL="364490" marR="247650" indent="-287020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364490" algn="l"/>
              </a:tabLst>
            </a:pPr>
            <a:r>
              <a:rPr sz="1800" dirty="0">
                <a:latin typeface="Segoe UI Symbol"/>
                <a:cs typeface="Segoe UI Symbol"/>
              </a:rPr>
              <a:t>Log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aggregation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typically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collects</a:t>
            </a:r>
            <a:r>
              <a:rPr sz="1800" b="1" spc="-2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60" dirty="0">
                <a:solidFill>
                  <a:srgbClr val="00AF50"/>
                </a:solidFill>
                <a:latin typeface="Segoe UI"/>
                <a:cs typeface="Segoe UI"/>
              </a:rPr>
              <a:t>physical</a:t>
            </a:r>
            <a:r>
              <a:rPr sz="1800" b="1" spc="-3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20" dirty="0">
                <a:solidFill>
                  <a:srgbClr val="00AF50"/>
                </a:solidFill>
                <a:latin typeface="Segoe UI"/>
                <a:cs typeface="Segoe UI"/>
              </a:rPr>
              <a:t>log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55" dirty="0">
                <a:solidFill>
                  <a:srgbClr val="00AF50"/>
                </a:solidFill>
                <a:latin typeface="Segoe UI"/>
                <a:cs typeface="Segoe UI"/>
              </a:rPr>
              <a:t>files</a:t>
            </a:r>
            <a:r>
              <a:rPr sz="1800" b="1" spc="-4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100" dirty="0">
                <a:solidFill>
                  <a:srgbClr val="00AF50"/>
                </a:solidFill>
                <a:latin typeface="Segoe UI"/>
                <a:cs typeface="Segoe UI"/>
              </a:rPr>
              <a:t>off</a:t>
            </a:r>
            <a:r>
              <a:rPr sz="1800" b="1" spc="-2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35" dirty="0">
                <a:solidFill>
                  <a:srgbClr val="00AF50"/>
                </a:solidFill>
                <a:latin typeface="Segoe UI"/>
                <a:cs typeface="Segoe UI"/>
              </a:rPr>
              <a:t>servers</a:t>
            </a:r>
            <a:r>
              <a:rPr sz="1800" b="1" spc="-2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and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puts</a:t>
            </a:r>
            <a:r>
              <a:rPr sz="1800" b="1" spc="-3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55" dirty="0">
                <a:solidFill>
                  <a:srgbClr val="00AF50"/>
                </a:solidFill>
                <a:latin typeface="Segoe UI"/>
                <a:cs typeface="Segoe UI"/>
              </a:rPr>
              <a:t>them</a:t>
            </a:r>
            <a:r>
              <a:rPr sz="1800" b="1" spc="-3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Segoe UI"/>
                <a:cs typeface="Segoe UI"/>
              </a:rPr>
              <a:t>in</a:t>
            </a:r>
            <a:r>
              <a:rPr sz="1800" b="1" spc="-4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Segoe UI"/>
                <a:cs typeface="Segoe UI"/>
              </a:rPr>
              <a:t>a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50" dirty="0">
                <a:solidFill>
                  <a:srgbClr val="00AF50"/>
                </a:solidFill>
                <a:latin typeface="Segoe UI"/>
                <a:cs typeface="Segoe UI"/>
              </a:rPr>
              <a:t>central</a:t>
            </a:r>
            <a:r>
              <a:rPr sz="1800" b="1" spc="-4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20" dirty="0">
                <a:solidFill>
                  <a:srgbClr val="00AF50"/>
                </a:solidFill>
                <a:latin typeface="Segoe UI"/>
                <a:cs typeface="Segoe UI"/>
              </a:rPr>
              <a:t>place</a:t>
            </a:r>
            <a:r>
              <a:rPr sz="1800" b="1" spc="-3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(a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spc="-20" dirty="0">
                <a:latin typeface="Segoe UI Symbol"/>
                <a:cs typeface="Segoe UI Symbol"/>
              </a:rPr>
              <a:t>file </a:t>
            </a:r>
            <a:r>
              <a:rPr sz="1800" dirty="0">
                <a:latin typeface="Segoe UI Symbol"/>
                <a:cs typeface="Segoe UI Symbol"/>
              </a:rPr>
              <a:t>server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or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HDFS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perhaps)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for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processing.</a:t>
            </a:r>
            <a:endParaRPr sz="1800" dirty="0">
              <a:latin typeface="Segoe UI Symbol"/>
              <a:cs typeface="Segoe UI Symbol"/>
            </a:endParaRPr>
          </a:p>
          <a:p>
            <a:pPr marL="364490" marR="135890" indent="-28702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64490" algn="l"/>
              </a:tabLst>
            </a:pP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b="1" spc="-55" dirty="0">
                <a:solidFill>
                  <a:srgbClr val="00AF50"/>
                </a:solidFill>
                <a:latin typeface="Segoe UI"/>
                <a:cs typeface="Segoe UI"/>
              </a:rPr>
              <a:t>abstracts</a:t>
            </a:r>
            <a:r>
              <a:rPr sz="1800" b="1" spc="-6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away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details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files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and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gives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Segoe UI"/>
                <a:cs typeface="Segoe UI"/>
              </a:rPr>
              <a:t>a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50" dirty="0">
                <a:solidFill>
                  <a:srgbClr val="00AF50"/>
                </a:solidFill>
                <a:latin typeface="Segoe UI"/>
                <a:cs typeface="Segoe UI"/>
              </a:rPr>
              <a:t>cleaner</a:t>
            </a:r>
            <a:r>
              <a:rPr sz="1800" b="1" spc="-5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60" dirty="0">
                <a:solidFill>
                  <a:srgbClr val="00AF50"/>
                </a:solidFill>
                <a:latin typeface="Segoe UI"/>
                <a:cs typeface="Segoe UI"/>
              </a:rPr>
              <a:t>abstraction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log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or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event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data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as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stream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messages.</a:t>
            </a:r>
            <a:endParaRPr sz="18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KAFKA</a:t>
            </a:r>
            <a:r>
              <a:rPr sz="2800" spc="-55" dirty="0"/>
              <a:t> </a:t>
            </a:r>
            <a:r>
              <a:rPr sz="2800" dirty="0"/>
              <a:t>USE</a:t>
            </a:r>
            <a:r>
              <a:rPr sz="2800" spc="-40" dirty="0"/>
              <a:t> </a:t>
            </a:r>
            <a:r>
              <a:rPr sz="2800" spc="-10" dirty="0"/>
              <a:t>CASES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2353" y="2151634"/>
            <a:ext cx="10873740" cy="360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Metrics</a:t>
            </a:r>
            <a:endParaRPr sz="1800">
              <a:latin typeface="Segoe UI"/>
              <a:cs typeface="Segoe UI"/>
            </a:endParaRPr>
          </a:p>
          <a:p>
            <a:pPr marL="299085" marR="122555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-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is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often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used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for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b="1" spc="-65" dirty="0">
                <a:solidFill>
                  <a:srgbClr val="FF0000"/>
                </a:solidFill>
                <a:latin typeface="Segoe UI"/>
                <a:cs typeface="Segoe UI"/>
              </a:rPr>
              <a:t>operational</a:t>
            </a:r>
            <a:r>
              <a:rPr sz="1800" b="1" spc="-6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85" dirty="0">
                <a:solidFill>
                  <a:srgbClr val="FF0000"/>
                </a:solidFill>
                <a:latin typeface="Segoe UI"/>
                <a:cs typeface="Segoe UI"/>
              </a:rPr>
              <a:t>monitoring</a:t>
            </a:r>
            <a:r>
              <a:rPr sz="1800" b="1" spc="-4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30" dirty="0">
                <a:solidFill>
                  <a:srgbClr val="FF0000"/>
                </a:solidFill>
                <a:latin typeface="Segoe UI"/>
                <a:cs typeface="Segoe UI"/>
              </a:rPr>
              <a:t>data</a:t>
            </a:r>
            <a:r>
              <a:rPr sz="1800" spc="-30" dirty="0">
                <a:latin typeface="Segoe UI Symbol"/>
                <a:cs typeface="Segoe UI Symbol"/>
              </a:rPr>
              <a:t>.</a:t>
            </a:r>
            <a:r>
              <a:rPr sz="1800" spc="-7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This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involves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aggregating</a:t>
            </a:r>
            <a:r>
              <a:rPr sz="1800" spc="-1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statistics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b="1" spc="-100" dirty="0">
                <a:solidFill>
                  <a:srgbClr val="00AF50"/>
                </a:solidFill>
                <a:latin typeface="Segoe UI"/>
                <a:cs typeface="Segoe UI"/>
              </a:rPr>
              <a:t>from</a:t>
            </a:r>
            <a:r>
              <a:rPr sz="1800" b="1" spc="-3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distributed </a:t>
            </a:r>
            <a:r>
              <a:rPr sz="1800" b="1" spc="-60" dirty="0">
                <a:solidFill>
                  <a:srgbClr val="00AF50"/>
                </a:solidFill>
                <a:latin typeface="Segoe UI"/>
                <a:cs typeface="Segoe UI"/>
              </a:rPr>
              <a:t>applications</a:t>
            </a:r>
            <a:r>
              <a:rPr sz="1800" b="1" spc="-6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produce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b="1" spc="-60" dirty="0">
                <a:solidFill>
                  <a:srgbClr val="00AF50"/>
                </a:solidFill>
                <a:latin typeface="Segoe UI"/>
                <a:cs typeface="Segoe UI"/>
              </a:rPr>
              <a:t>centralized</a:t>
            </a:r>
            <a:r>
              <a:rPr sz="1800" b="1" spc="-5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55" dirty="0">
                <a:solidFill>
                  <a:srgbClr val="00AF50"/>
                </a:solidFill>
                <a:latin typeface="Segoe UI"/>
                <a:cs typeface="Segoe UI"/>
              </a:rPr>
              <a:t>feeds</a:t>
            </a:r>
            <a:r>
              <a:rPr sz="1800" b="1" spc="-5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operational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data.</a:t>
            </a:r>
            <a:endParaRPr sz="18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635"/>
              </a:spcBef>
              <a:buFont typeface="Arial MT"/>
              <a:buChar char="•"/>
            </a:pPr>
            <a:endParaRPr sz="18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800" b="1" spc="-85" dirty="0">
                <a:solidFill>
                  <a:srgbClr val="006FC0"/>
                </a:solidFill>
                <a:latin typeface="Segoe UI"/>
                <a:cs typeface="Segoe UI"/>
              </a:rPr>
              <a:t>Stream</a:t>
            </a:r>
            <a:r>
              <a:rPr sz="1800" b="1" spc="-2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processing</a:t>
            </a:r>
            <a:endParaRPr sz="1800">
              <a:latin typeface="Segoe UI"/>
              <a:cs typeface="Segoe UI"/>
            </a:endParaRPr>
          </a:p>
          <a:p>
            <a:pPr marL="299085" marR="5080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  <a:tab pos="1221105" algn="l"/>
                <a:tab pos="1537970" algn="l"/>
                <a:tab pos="2487295" algn="l"/>
                <a:tab pos="2736215" algn="l"/>
                <a:tab pos="4079240" algn="l"/>
                <a:tab pos="4552950" algn="l"/>
                <a:tab pos="5572760" algn="l"/>
                <a:tab pos="6389370" algn="l"/>
                <a:tab pos="7606030" algn="l"/>
                <a:tab pos="8378190" algn="l"/>
                <a:tab pos="9095105" algn="l"/>
                <a:tab pos="9779000" algn="l"/>
                <a:tab pos="10708640" algn="l"/>
              </a:tabLst>
            </a:pPr>
            <a:r>
              <a:rPr sz="1800" spc="-10" dirty="0">
                <a:latin typeface="Segoe UI Symbol"/>
                <a:cs typeface="Segoe UI Symbol"/>
              </a:rPr>
              <a:t>Starting</a:t>
            </a:r>
            <a:r>
              <a:rPr sz="1800" dirty="0">
                <a:latin typeface="Segoe UI Symbol"/>
                <a:cs typeface="Segoe UI Symbol"/>
              </a:rPr>
              <a:t>	</a:t>
            </a:r>
            <a:r>
              <a:rPr sz="1800" spc="-25" dirty="0">
                <a:latin typeface="Segoe UI Symbol"/>
                <a:cs typeface="Segoe UI Symbol"/>
              </a:rPr>
              <a:t>in</a:t>
            </a:r>
            <a:r>
              <a:rPr sz="1800" dirty="0">
                <a:latin typeface="Segoe UI Symbol"/>
                <a:cs typeface="Segoe UI Symbol"/>
              </a:rPr>
              <a:t>	</a:t>
            </a:r>
            <a:r>
              <a:rPr sz="1800" spc="-10" dirty="0">
                <a:latin typeface="Segoe UI Symbol"/>
                <a:cs typeface="Segoe UI Symbol"/>
              </a:rPr>
              <a:t>0.10.0.0,</a:t>
            </a:r>
            <a:r>
              <a:rPr sz="1800" dirty="0">
                <a:latin typeface="Segoe UI Symbol"/>
                <a:cs typeface="Segoe UI Symbol"/>
              </a:rPr>
              <a:t>	</a:t>
            </a:r>
            <a:r>
              <a:rPr sz="1800" spc="-50" dirty="0">
                <a:latin typeface="Segoe UI Symbol"/>
                <a:cs typeface="Segoe UI Symbol"/>
              </a:rPr>
              <a:t>a</a:t>
            </a:r>
            <a:r>
              <a:rPr sz="1800" dirty="0">
                <a:latin typeface="Segoe UI Symbol"/>
                <a:cs typeface="Segoe UI Symbol"/>
              </a:rPr>
              <a:t>	</a:t>
            </a:r>
            <a:r>
              <a:rPr sz="1800" spc="-30" dirty="0">
                <a:latin typeface="Segoe UI Symbol"/>
                <a:cs typeface="Segoe UI Symbol"/>
              </a:rPr>
              <a:t>light-</a:t>
            </a:r>
            <a:r>
              <a:rPr sz="1800" spc="-10" dirty="0">
                <a:latin typeface="Segoe UI Symbol"/>
                <a:cs typeface="Segoe UI Symbol"/>
              </a:rPr>
              <a:t>weight</a:t>
            </a:r>
            <a:r>
              <a:rPr sz="1800" dirty="0">
                <a:latin typeface="Segoe UI Symbol"/>
                <a:cs typeface="Segoe UI Symbol"/>
              </a:rPr>
              <a:t>	</a:t>
            </a:r>
            <a:r>
              <a:rPr sz="1800" spc="-25" dirty="0">
                <a:latin typeface="Segoe UI Symbol"/>
                <a:cs typeface="Segoe UI Symbol"/>
              </a:rPr>
              <a:t>but</a:t>
            </a:r>
            <a:r>
              <a:rPr sz="1800" dirty="0">
                <a:latin typeface="Segoe UI Symbol"/>
                <a:cs typeface="Segoe UI Symbol"/>
              </a:rPr>
              <a:t>	</a:t>
            </a:r>
            <a:r>
              <a:rPr sz="1800" spc="-10" dirty="0">
                <a:latin typeface="Segoe UI Symbol"/>
                <a:cs typeface="Segoe UI Symbol"/>
              </a:rPr>
              <a:t>powerful</a:t>
            </a:r>
            <a:r>
              <a:rPr sz="1800" dirty="0">
                <a:latin typeface="Segoe UI Symbol"/>
                <a:cs typeface="Segoe UI Symbol"/>
              </a:rPr>
              <a:t>	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stream</a:t>
            </a:r>
            <a:r>
              <a:rPr sz="1800" b="1" dirty="0">
                <a:solidFill>
                  <a:srgbClr val="00AF50"/>
                </a:solidFill>
                <a:latin typeface="Segoe UI"/>
                <a:cs typeface="Segoe UI"/>
              </a:rPr>
              <a:t>	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processing</a:t>
            </a:r>
            <a:r>
              <a:rPr sz="1800" b="1" dirty="0">
                <a:solidFill>
                  <a:srgbClr val="00AF50"/>
                </a:solidFill>
                <a:latin typeface="Segoe UI"/>
                <a:cs typeface="Segoe UI"/>
              </a:rPr>
              <a:t>	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library</a:t>
            </a:r>
            <a:r>
              <a:rPr sz="1800" b="1" dirty="0">
                <a:solidFill>
                  <a:srgbClr val="00AF50"/>
                </a:solidFill>
                <a:latin typeface="Segoe UI"/>
                <a:cs typeface="Segoe UI"/>
              </a:rPr>
              <a:t>	</a:t>
            </a:r>
            <a:r>
              <a:rPr sz="1800" spc="-10" dirty="0">
                <a:latin typeface="Segoe UI Symbol"/>
                <a:cs typeface="Segoe UI Symbol"/>
              </a:rPr>
              <a:t>called</a:t>
            </a:r>
            <a:r>
              <a:rPr sz="1800" dirty="0">
                <a:latin typeface="Segoe UI Symbol"/>
                <a:cs typeface="Segoe UI Symbol"/>
              </a:rPr>
              <a:t>	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Kafka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	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Streams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	</a:t>
            </a:r>
            <a:r>
              <a:rPr sz="1800" spc="-25" dirty="0">
                <a:latin typeface="Segoe UI Symbol"/>
                <a:cs typeface="Segoe UI Symbol"/>
              </a:rPr>
              <a:t>is </a:t>
            </a:r>
            <a:r>
              <a:rPr sz="1800" dirty="0">
                <a:latin typeface="Segoe UI Symbol"/>
                <a:cs typeface="Segoe UI Symbol"/>
              </a:rPr>
              <a:t>available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Apache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perform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such</a:t>
            </a:r>
            <a:r>
              <a:rPr sz="1800" spc="-6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data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processing</a:t>
            </a:r>
            <a:endParaRPr sz="18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325"/>
              </a:spcBef>
            </a:pPr>
            <a:endParaRPr sz="18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800" b="1" spc="-80" dirty="0">
                <a:solidFill>
                  <a:srgbClr val="006FC0"/>
                </a:solidFill>
                <a:latin typeface="Segoe UI"/>
                <a:cs typeface="Segoe UI"/>
              </a:rPr>
              <a:t>More!</a:t>
            </a:r>
            <a:r>
              <a:rPr sz="1800" b="1" spc="-3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25" dirty="0">
                <a:solidFill>
                  <a:srgbClr val="006FC0"/>
                </a:solidFill>
                <a:latin typeface="Segoe UI"/>
                <a:cs typeface="Segoe UI"/>
              </a:rPr>
              <a:t>….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MAIN</a:t>
            </a:r>
            <a:r>
              <a:rPr sz="2800" spc="-55" dirty="0"/>
              <a:t> </a:t>
            </a:r>
            <a:r>
              <a:rPr sz="2800" dirty="0"/>
              <a:t>KAFKA</a:t>
            </a:r>
            <a:r>
              <a:rPr sz="2800" spc="-60" dirty="0"/>
              <a:t> </a:t>
            </a:r>
            <a:r>
              <a:rPr sz="2800" spc="-10" dirty="0"/>
              <a:t>CONCEPTS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2756" y="2211451"/>
            <a:ext cx="4749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Topics</a:t>
            </a:r>
            <a:endParaRPr sz="18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 Symbol"/>
                <a:cs typeface="Segoe UI Symbol"/>
              </a:rPr>
              <a:t>Feeds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messages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are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organized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into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topics</a:t>
            </a:r>
            <a:endParaRPr sz="1800" dirty="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2756" y="3305936"/>
            <a:ext cx="36163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Brokers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runs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on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cluster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servers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2756" y="4330700"/>
            <a:ext cx="8208645" cy="164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Producers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 Symbol"/>
                <a:cs typeface="Segoe UI Symbol"/>
              </a:rPr>
              <a:t>Processes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that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publish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messages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topic</a:t>
            </a:r>
            <a:endParaRPr sz="18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750"/>
              </a:spcBef>
              <a:buFont typeface="Arial MT"/>
              <a:buChar char="•"/>
            </a:pPr>
            <a:endParaRPr sz="18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Consumers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 Symbol"/>
                <a:cs typeface="Segoe UI Symbol"/>
              </a:rPr>
              <a:t>Processes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that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subscribe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topics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and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process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feed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published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messages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71131" y="2532888"/>
            <a:ext cx="1016635" cy="356870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71131" y="3201923"/>
            <a:ext cx="1016635" cy="356870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645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87133" y="3882390"/>
            <a:ext cx="993775" cy="334010"/>
          </a:xfrm>
          <a:custGeom>
            <a:avLst/>
            <a:gdLst/>
            <a:ahLst/>
            <a:cxnLst/>
            <a:rect l="l" t="t" r="r" b="b"/>
            <a:pathLst>
              <a:path w="993775" h="334010">
                <a:moveTo>
                  <a:pt x="0" y="333756"/>
                </a:moveTo>
                <a:lnTo>
                  <a:pt x="993648" y="333756"/>
                </a:lnTo>
                <a:lnTo>
                  <a:pt x="993648" y="0"/>
                </a:lnTo>
                <a:lnTo>
                  <a:pt x="0" y="0"/>
                </a:lnTo>
                <a:lnTo>
                  <a:pt x="0" y="333756"/>
                </a:lnTo>
                <a:close/>
              </a:path>
            </a:pathLst>
          </a:custGeom>
          <a:ln w="22860">
            <a:solidFill>
              <a:srgbClr val="0F21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75704" y="3870959"/>
            <a:ext cx="1016635" cy="356870"/>
          </a:xfrm>
          <a:prstGeom prst="rect">
            <a:avLst/>
          </a:prstGeom>
          <a:solidFill>
            <a:srgbClr val="122547"/>
          </a:solidFill>
        </p:spPr>
        <p:txBody>
          <a:bodyPr vert="horz" wrap="square" lIns="0" tIns="81915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645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38793" y="2544317"/>
            <a:ext cx="1009015" cy="1790700"/>
          </a:xfrm>
          <a:custGeom>
            <a:avLst/>
            <a:gdLst/>
            <a:ahLst/>
            <a:cxnLst/>
            <a:rect l="l" t="t" r="r" b="b"/>
            <a:pathLst>
              <a:path w="1009015" h="1790700">
                <a:moveTo>
                  <a:pt x="0" y="168148"/>
                </a:moveTo>
                <a:lnTo>
                  <a:pt x="6008" y="123457"/>
                </a:lnTo>
                <a:lnTo>
                  <a:pt x="22963" y="83293"/>
                </a:lnTo>
                <a:lnTo>
                  <a:pt x="49260" y="49260"/>
                </a:lnTo>
                <a:lnTo>
                  <a:pt x="83293" y="22963"/>
                </a:lnTo>
                <a:lnTo>
                  <a:pt x="123457" y="6008"/>
                </a:lnTo>
                <a:lnTo>
                  <a:pt x="168148" y="0"/>
                </a:lnTo>
                <a:lnTo>
                  <a:pt x="840739" y="0"/>
                </a:lnTo>
                <a:lnTo>
                  <a:pt x="885430" y="6008"/>
                </a:lnTo>
                <a:lnTo>
                  <a:pt x="925594" y="22963"/>
                </a:lnTo>
                <a:lnTo>
                  <a:pt x="959627" y="49260"/>
                </a:lnTo>
                <a:lnTo>
                  <a:pt x="985924" y="83293"/>
                </a:lnTo>
                <a:lnTo>
                  <a:pt x="1002879" y="123457"/>
                </a:lnTo>
                <a:lnTo>
                  <a:pt x="1008887" y="168148"/>
                </a:lnTo>
                <a:lnTo>
                  <a:pt x="1008887" y="1622552"/>
                </a:lnTo>
                <a:lnTo>
                  <a:pt x="1002879" y="1667242"/>
                </a:lnTo>
                <a:lnTo>
                  <a:pt x="985924" y="1707406"/>
                </a:lnTo>
                <a:lnTo>
                  <a:pt x="959627" y="1741439"/>
                </a:lnTo>
                <a:lnTo>
                  <a:pt x="925594" y="1767736"/>
                </a:lnTo>
                <a:lnTo>
                  <a:pt x="885430" y="1784691"/>
                </a:lnTo>
                <a:lnTo>
                  <a:pt x="840739" y="1790700"/>
                </a:lnTo>
                <a:lnTo>
                  <a:pt x="168148" y="1790700"/>
                </a:lnTo>
                <a:lnTo>
                  <a:pt x="123457" y="1784691"/>
                </a:lnTo>
                <a:lnTo>
                  <a:pt x="83293" y="1767736"/>
                </a:lnTo>
                <a:lnTo>
                  <a:pt x="49260" y="1741439"/>
                </a:lnTo>
                <a:lnTo>
                  <a:pt x="22963" y="1707406"/>
                </a:lnTo>
                <a:lnTo>
                  <a:pt x="6008" y="1667242"/>
                </a:lnTo>
                <a:lnTo>
                  <a:pt x="0" y="1622552"/>
                </a:lnTo>
                <a:lnTo>
                  <a:pt x="0" y="168148"/>
                </a:lnTo>
                <a:close/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79509" y="3146297"/>
            <a:ext cx="727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30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Kafka </a:t>
            </a:r>
            <a:r>
              <a:rPr sz="1800" b="1" spc="-65" dirty="0">
                <a:latin typeface="Segoe UI"/>
                <a:cs typeface="Segoe UI"/>
              </a:rPr>
              <a:t>Cluster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05109" y="3970782"/>
            <a:ext cx="993775" cy="334010"/>
          </a:xfrm>
          <a:custGeom>
            <a:avLst/>
            <a:gdLst/>
            <a:ahLst/>
            <a:cxnLst/>
            <a:rect l="l" t="t" r="r" b="b"/>
            <a:pathLst>
              <a:path w="993775" h="334010">
                <a:moveTo>
                  <a:pt x="0" y="333756"/>
                </a:moveTo>
                <a:lnTo>
                  <a:pt x="993648" y="333756"/>
                </a:lnTo>
                <a:lnTo>
                  <a:pt x="993648" y="0"/>
                </a:lnTo>
                <a:lnTo>
                  <a:pt x="0" y="0"/>
                </a:lnTo>
                <a:lnTo>
                  <a:pt x="0" y="333756"/>
                </a:lnTo>
                <a:close/>
              </a:path>
            </a:pathLst>
          </a:custGeom>
          <a:ln w="22860">
            <a:solidFill>
              <a:srgbClr val="0F21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393680" y="3959352"/>
            <a:ext cx="1016635" cy="356870"/>
          </a:xfrm>
          <a:prstGeom prst="rect">
            <a:avLst/>
          </a:prstGeom>
          <a:solidFill>
            <a:srgbClr val="122547"/>
          </a:solidFill>
        </p:spPr>
        <p:txBody>
          <a:bodyPr vert="horz" wrap="square" lIns="0" tIns="8191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645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Consumers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401300" y="3261359"/>
            <a:ext cx="1015365" cy="356870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645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Consumers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99776" y="2532888"/>
            <a:ext cx="1016635" cy="356870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Cosumers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768336" y="2702559"/>
            <a:ext cx="2643505" cy="1433830"/>
          </a:xfrm>
          <a:custGeom>
            <a:avLst/>
            <a:gdLst/>
            <a:ahLst/>
            <a:cxnLst/>
            <a:rect l="l" t="t" r="r" b="b"/>
            <a:pathLst>
              <a:path w="2643504" h="1433829">
                <a:moveTo>
                  <a:pt x="869823" y="735457"/>
                </a:moveTo>
                <a:lnTo>
                  <a:pt x="855306" y="701675"/>
                </a:lnTo>
                <a:lnTo>
                  <a:pt x="836295" y="657225"/>
                </a:lnTo>
                <a:lnTo>
                  <a:pt x="815759" y="681520"/>
                </a:lnTo>
                <a:lnTo>
                  <a:pt x="11176" y="2286"/>
                </a:lnTo>
                <a:lnTo>
                  <a:pt x="8509" y="0"/>
                </a:lnTo>
                <a:lnTo>
                  <a:pt x="4572" y="381"/>
                </a:lnTo>
                <a:lnTo>
                  <a:pt x="0" y="5715"/>
                </a:lnTo>
                <a:lnTo>
                  <a:pt x="381" y="9652"/>
                </a:lnTo>
                <a:lnTo>
                  <a:pt x="3048" y="11938"/>
                </a:lnTo>
                <a:lnTo>
                  <a:pt x="807554" y="691222"/>
                </a:lnTo>
                <a:lnTo>
                  <a:pt x="803249" y="696302"/>
                </a:lnTo>
                <a:lnTo>
                  <a:pt x="796417" y="692277"/>
                </a:lnTo>
                <a:lnTo>
                  <a:pt x="795502" y="705472"/>
                </a:lnTo>
                <a:lnTo>
                  <a:pt x="787019" y="715518"/>
                </a:lnTo>
                <a:lnTo>
                  <a:pt x="794689" y="717384"/>
                </a:lnTo>
                <a:lnTo>
                  <a:pt x="794245" y="723925"/>
                </a:lnTo>
                <a:lnTo>
                  <a:pt x="4064" y="669544"/>
                </a:lnTo>
                <a:lnTo>
                  <a:pt x="1016" y="672211"/>
                </a:lnTo>
                <a:lnTo>
                  <a:pt x="508" y="679196"/>
                </a:lnTo>
                <a:lnTo>
                  <a:pt x="3175" y="682244"/>
                </a:lnTo>
                <a:lnTo>
                  <a:pt x="793369" y="736625"/>
                </a:lnTo>
                <a:lnTo>
                  <a:pt x="810895" y="736625"/>
                </a:lnTo>
                <a:lnTo>
                  <a:pt x="863117" y="736625"/>
                </a:lnTo>
                <a:lnTo>
                  <a:pt x="855916" y="737743"/>
                </a:lnTo>
                <a:lnTo>
                  <a:pt x="809625" y="737743"/>
                </a:lnTo>
                <a:lnTo>
                  <a:pt x="793292" y="737743"/>
                </a:lnTo>
                <a:lnTo>
                  <a:pt x="792619" y="747585"/>
                </a:lnTo>
                <a:lnTo>
                  <a:pt x="785622" y="748665"/>
                </a:lnTo>
                <a:lnTo>
                  <a:pt x="791933" y="757555"/>
                </a:lnTo>
                <a:lnTo>
                  <a:pt x="791210" y="768223"/>
                </a:lnTo>
                <a:lnTo>
                  <a:pt x="797623" y="765556"/>
                </a:lnTo>
                <a:lnTo>
                  <a:pt x="804062" y="774585"/>
                </a:lnTo>
                <a:lnTo>
                  <a:pt x="8001" y="1340231"/>
                </a:lnTo>
                <a:lnTo>
                  <a:pt x="5207" y="1342263"/>
                </a:lnTo>
                <a:lnTo>
                  <a:pt x="4445" y="1346200"/>
                </a:lnTo>
                <a:lnTo>
                  <a:pt x="6477" y="1349121"/>
                </a:lnTo>
                <a:lnTo>
                  <a:pt x="8509" y="1351915"/>
                </a:lnTo>
                <a:lnTo>
                  <a:pt x="12446" y="1352550"/>
                </a:lnTo>
                <a:lnTo>
                  <a:pt x="15367" y="1350518"/>
                </a:lnTo>
                <a:lnTo>
                  <a:pt x="811403" y="784898"/>
                </a:lnTo>
                <a:lnTo>
                  <a:pt x="829818" y="810768"/>
                </a:lnTo>
                <a:lnTo>
                  <a:pt x="854075" y="765175"/>
                </a:lnTo>
                <a:lnTo>
                  <a:pt x="869823" y="735584"/>
                </a:lnTo>
                <a:lnTo>
                  <a:pt x="869340" y="735660"/>
                </a:lnTo>
                <a:lnTo>
                  <a:pt x="869619" y="735545"/>
                </a:lnTo>
                <a:lnTo>
                  <a:pt x="869823" y="735584"/>
                </a:lnTo>
                <a:lnTo>
                  <a:pt x="869823" y="735457"/>
                </a:lnTo>
                <a:close/>
              </a:path>
              <a:path w="2643504" h="1433829">
                <a:moveTo>
                  <a:pt x="2642997" y="735584"/>
                </a:moveTo>
                <a:lnTo>
                  <a:pt x="2630297" y="729234"/>
                </a:lnTo>
                <a:lnTo>
                  <a:pt x="2566797" y="697484"/>
                </a:lnTo>
                <a:lnTo>
                  <a:pt x="2566797" y="729234"/>
                </a:lnTo>
                <a:lnTo>
                  <a:pt x="1894344" y="729234"/>
                </a:lnTo>
                <a:lnTo>
                  <a:pt x="2591536" y="64262"/>
                </a:lnTo>
                <a:lnTo>
                  <a:pt x="2613533" y="87249"/>
                </a:lnTo>
                <a:lnTo>
                  <a:pt x="2629065" y="44069"/>
                </a:lnTo>
                <a:lnTo>
                  <a:pt x="2642362" y="7112"/>
                </a:lnTo>
                <a:lnTo>
                  <a:pt x="2560828" y="32131"/>
                </a:lnTo>
                <a:lnTo>
                  <a:pt x="2582786" y="55105"/>
                </a:lnTo>
                <a:lnTo>
                  <a:pt x="1876501" y="728726"/>
                </a:lnTo>
                <a:lnTo>
                  <a:pt x="1876298" y="728726"/>
                </a:lnTo>
                <a:lnTo>
                  <a:pt x="1875815" y="729234"/>
                </a:lnTo>
                <a:lnTo>
                  <a:pt x="1875028" y="729234"/>
                </a:lnTo>
                <a:lnTo>
                  <a:pt x="1872234" y="732028"/>
                </a:lnTo>
                <a:lnTo>
                  <a:pt x="1872234" y="732828"/>
                </a:lnTo>
                <a:lnTo>
                  <a:pt x="1871599" y="733425"/>
                </a:lnTo>
                <a:lnTo>
                  <a:pt x="1871599" y="733806"/>
                </a:lnTo>
                <a:lnTo>
                  <a:pt x="1871599" y="737362"/>
                </a:lnTo>
                <a:lnTo>
                  <a:pt x="1871713" y="737489"/>
                </a:lnTo>
                <a:lnTo>
                  <a:pt x="1871726" y="737870"/>
                </a:lnTo>
                <a:lnTo>
                  <a:pt x="1872234" y="738352"/>
                </a:lnTo>
                <a:lnTo>
                  <a:pt x="1872234" y="739140"/>
                </a:lnTo>
                <a:lnTo>
                  <a:pt x="1875028" y="741934"/>
                </a:lnTo>
                <a:lnTo>
                  <a:pt x="1875929" y="741934"/>
                </a:lnTo>
                <a:lnTo>
                  <a:pt x="1876539" y="742569"/>
                </a:lnTo>
                <a:lnTo>
                  <a:pt x="1876742" y="742569"/>
                </a:lnTo>
                <a:lnTo>
                  <a:pt x="2575496" y="1386878"/>
                </a:lnTo>
                <a:lnTo>
                  <a:pt x="2553970" y="1410208"/>
                </a:lnTo>
                <a:lnTo>
                  <a:pt x="2635885" y="1433830"/>
                </a:lnTo>
                <a:lnTo>
                  <a:pt x="2622181" y="1397762"/>
                </a:lnTo>
                <a:lnTo>
                  <a:pt x="2605659" y="1354201"/>
                </a:lnTo>
                <a:lnTo>
                  <a:pt x="2584158" y="1377505"/>
                </a:lnTo>
                <a:lnTo>
                  <a:pt x="1894878" y="741934"/>
                </a:lnTo>
                <a:lnTo>
                  <a:pt x="2566797" y="741934"/>
                </a:lnTo>
                <a:lnTo>
                  <a:pt x="2566797" y="773684"/>
                </a:lnTo>
                <a:lnTo>
                  <a:pt x="2630297" y="741934"/>
                </a:lnTo>
                <a:lnTo>
                  <a:pt x="2642997" y="735584"/>
                </a:lnTo>
                <a:close/>
              </a:path>
            </a:pathLst>
          </a:custGeom>
          <a:solidFill>
            <a:srgbClr val="172C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MAIN</a:t>
            </a:r>
            <a:r>
              <a:rPr sz="2800" spc="-100" dirty="0"/>
              <a:t> </a:t>
            </a:r>
            <a:r>
              <a:rPr sz="2800" dirty="0"/>
              <a:t>KAFKA</a:t>
            </a:r>
            <a:r>
              <a:rPr sz="2800" spc="-105" dirty="0"/>
              <a:t> </a:t>
            </a:r>
            <a:r>
              <a:rPr sz="2800" dirty="0"/>
              <a:t>CONCEPTS:</a:t>
            </a:r>
            <a:r>
              <a:rPr sz="2800" spc="-75" dirty="0"/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TOPICS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67700" y="1853184"/>
            <a:ext cx="3631692" cy="915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50579" y="2761488"/>
            <a:ext cx="3281172" cy="163372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5155" y="2163571"/>
            <a:ext cx="716534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Kafka</a:t>
            </a:r>
            <a:r>
              <a:rPr sz="1800" spc="4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topics</a:t>
            </a:r>
            <a:r>
              <a:rPr sz="1800" spc="45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are</a:t>
            </a:r>
            <a:r>
              <a:rPr sz="1800" spc="4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4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user</a:t>
            </a:r>
            <a:r>
              <a:rPr sz="1800" b="1" spc="46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defined</a:t>
            </a:r>
            <a:r>
              <a:rPr sz="1800" b="1" spc="45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categories</a:t>
            </a:r>
            <a:r>
              <a:rPr sz="1800" b="1" spc="459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used</a:t>
            </a:r>
            <a:r>
              <a:rPr sz="1800" spc="4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to</a:t>
            </a:r>
            <a:r>
              <a:rPr sz="1800" spc="434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30" dirty="0">
                <a:solidFill>
                  <a:srgbClr val="006FC0"/>
                </a:solidFill>
                <a:latin typeface="Segoe UI"/>
                <a:cs typeface="Segoe UI"/>
              </a:rPr>
              <a:t>organize 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messages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.</a:t>
            </a:r>
            <a:r>
              <a:rPr sz="1800" spc="204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Each</a:t>
            </a:r>
            <a:r>
              <a:rPr sz="1800" spc="20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topic</a:t>
            </a:r>
            <a:r>
              <a:rPr sz="1800" spc="204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has</a:t>
            </a:r>
            <a:r>
              <a:rPr sz="1800" spc="20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</a:t>
            </a:r>
            <a:r>
              <a:rPr sz="1800" spc="20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name</a:t>
            </a:r>
            <a:r>
              <a:rPr sz="1800" spc="204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that</a:t>
            </a:r>
            <a:r>
              <a:rPr sz="1800" spc="21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is</a:t>
            </a:r>
            <a:r>
              <a:rPr sz="1800" spc="19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unique</a:t>
            </a:r>
            <a:r>
              <a:rPr sz="1800" spc="204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across</a:t>
            </a:r>
            <a:r>
              <a:rPr sz="1800" spc="204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21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entire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Kafka</a:t>
            </a:r>
            <a:r>
              <a:rPr sz="1800" spc="-5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cluster.</a:t>
            </a:r>
            <a:endParaRPr sz="1800" dirty="0">
              <a:latin typeface="Segoe UI Symbol"/>
              <a:cs typeface="Segoe UI Symbo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47176" y="4733544"/>
            <a:ext cx="3093720" cy="2060575"/>
            <a:chOff x="8647176" y="4733544"/>
            <a:chExt cx="3093720" cy="20605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0058" y="4937893"/>
              <a:ext cx="2826265" cy="17718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651748" y="4738116"/>
              <a:ext cx="3084830" cy="2051685"/>
            </a:xfrm>
            <a:custGeom>
              <a:avLst/>
              <a:gdLst/>
              <a:ahLst/>
              <a:cxnLst/>
              <a:rect l="l" t="t" r="r" b="b"/>
              <a:pathLst>
                <a:path w="3084829" h="2051684">
                  <a:moveTo>
                    <a:pt x="0" y="2051304"/>
                  </a:moveTo>
                  <a:lnTo>
                    <a:pt x="3084576" y="2051304"/>
                  </a:lnTo>
                  <a:lnTo>
                    <a:pt x="3084576" y="0"/>
                  </a:lnTo>
                  <a:lnTo>
                    <a:pt x="0" y="0"/>
                  </a:lnTo>
                  <a:lnTo>
                    <a:pt x="0" y="2051304"/>
                  </a:lnTo>
                  <a:close/>
                </a:path>
              </a:pathLst>
            </a:custGeom>
            <a:ln w="9144">
              <a:solidFill>
                <a:srgbClr val="1A3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61DA6E78-D323-5598-0080-8316D1AE2E4D}"/>
              </a:ext>
            </a:extLst>
          </p:cNvPr>
          <p:cNvSpPr txBox="1"/>
          <p:nvPr/>
        </p:nvSpPr>
        <p:spPr>
          <a:xfrm>
            <a:off x="473895" y="30073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085" indent="-286385" algn="just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800" dirty="0">
                <a:solidFill>
                  <a:srgbClr val="333333"/>
                </a:solidFill>
                <a:latin typeface="Segoe UI Symbol"/>
                <a:cs typeface="Segoe UI Symbol"/>
              </a:rPr>
              <a:t>Messages</a:t>
            </a:r>
            <a:r>
              <a:rPr lang="en-US" sz="1800" spc="-7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Segoe UI Symbol"/>
                <a:cs typeface="Segoe UI Symbol"/>
              </a:rPr>
              <a:t>are</a:t>
            </a:r>
            <a:r>
              <a:rPr lang="en-US"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lang="en-US" sz="1800" b="1" spc="-50" dirty="0">
                <a:solidFill>
                  <a:srgbClr val="006FC0"/>
                </a:solidFill>
                <a:latin typeface="Segoe UI"/>
                <a:cs typeface="Segoe UI"/>
              </a:rPr>
              <a:t>sent</a:t>
            </a:r>
            <a:r>
              <a:rPr lang="en-US" sz="1800" b="1" spc="-6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lang="en-US" sz="1800" b="1" spc="-50" dirty="0">
                <a:solidFill>
                  <a:srgbClr val="006FC0"/>
                </a:solidFill>
                <a:latin typeface="Segoe UI"/>
                <a:cs typeface="Segoe UI"/>
              </a:rPr>
              <a:t>to</a:t>
            </a:r>
            <a:r>
              <a:rPr lang="en-US" sz="1800" b="1" spc="-6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Segoe UI Symbol"/>
                <a:cs typeface="Segoe UI Symbol"/>
              </a:rPr>
              <a:t>and</a:t>
            </a:r>
            <a:r>
              <a:rPr lang="en-US"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lang="en-US" sz="1800" b="1" spc="-55" dirty="0">
                <a:solidFill>
                  <a:srgbClr val="006FC0"/>
                </a:solidFill>
                <a:latin typeface="Segoe UI"/>
                <a:cs typeface="Segoe UI"/>
              </a:rPr>
              <a:t>read</a:t>
            </a:r>
            <a:r>
              <a:rPr lang="en-US" sz="1800" b="1" spc="-6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lang="en-US" sz="1800" b="1" spc="-100" dirty="0">
                <a:solidFill>
                  <a:srgbClr val="006FC0"/>
                </a:solidFill>
                <a:latin typeface="Segoe UI"/>
                <a:cs typeface="Segoe UI"/>
              </a:rPr>
              <a:t>from</a:t>
            </a:r>
            <a:r>
              <a:rPr lang="en-US" sz="1800" b="1" spc="-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Segoe UI Symbol"/>
                <a:cs typeface="Segoe UI Symbol"/>
              </a:rPr>
              <a:t>specific</a:t>
            </a:r>
            <a:r>
              <a:rPr lang="en-US" sz="1800" spc="-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lang="en-US"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topics.</a:t>
            </a:r>
            <a:endParaRPr lang="en-US" sz="1800" dirty="0">
              <a:latin typeface="Segoe UI Symbol"/>
              <a:cs typeface="Segoe UI Symbol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BB01B7F-F7A3-9E25-66FC-527D945294F7}"/>
              </a:ext>
            </a:extLst>
          </p:cNvPr>
          <p:cNvSpPr txBox="1"/>
          <p:nvPr/>
        </p:nvSpPr>
        <p:spPr>
          <a:xfrm>
            <a:off x="472763" y="34582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 algn="just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800" dirty="0">
                <a:solidFill>
                  <a:srgbClr val="333333"/>
                </a:solidFill>
                <a:latin typeface="Segoe UI Symbol"/>
                <a:cs typeface="Segoe UI Symbol"/>
              </a:rPr>
              <a:t>Kafka</a:t>
            </a:r>
            <a:r>
              <a:rPr lang="en-US"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Segoe UI Symbol"/>
                <a:cs typeface="Segoe UI Symbol"/>
              </a:rPr>
              <a:t>topics</a:t>
            </a:r>
            <a:r>
              <a:rPr lang="en-US"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Segoe UI Symbol"/>
                <a:cs typeface="Segoe UI Symbol"/>
              </a:rPr>
              <a:t>are</a:t>
            </a:r>
            <a:r>
              <a:rPr lang="en-US"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lang="en-US" sz="1800" b="1" spc="-75" dirty="0">
                <a:solidFill>
                  <a:srgbClr val="006FC0"/>
                </a:solidFill>
                <a:latin typeface="Segoe UI"/>
                <a:cs typeface="Segoe UI"/>
              </a:rPr>
              <a:t>multi-</a:t>
            </a:r>
            <a:r>
              <a:rPr lang="en-US" sz="1800" b="1" spc="-10" dirty="0">
                <a:solidFill>
                  <a:srgbClr val="006FC0"/>
                </a:solidFill>
                <a:latin typeface="Segoe UI"/>
                <a:cs typeface="Segoe UI"/>
              </a:rPr>
              <a:t>subscriber.</a:t>
            </a:r>
            <a:endParaRPr lang="en-US" sz="1800" dirty="0">
              <a:latin typeface="Segoe UI"/>
              <a:cs typeface="Segoe UI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E2F66DD-D26A-1246-C04F-A30EEBEC714A}"/>
              </a:ext>
            </a:extLst>
          </p:cNvPr>
          <p:cNvSpPr txBox="1"/>
          <p:nvPr/>
        </p:nvSpPr>
        <p:spPr>
          <a:xfrm>
            <a:off x="455422" y="3909034"/>
            <a:ext cx="7697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085" marR="145415" indent="-287020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800" dirty="0">
                <a:latin typeface="Segoe UI Symbol"/>
                <a:cs typeface="Segoe UI Symbol"/>
              </a:rPr>
              <a:t>Each</a:t>
            </a:r>
            <a:r>
              <a:rPr lang="en-US" sz="1800" spc="-25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topic</a:t>
            </a:r>
            <a:r>
              <a:rPr lang="en-US" sz="1800" spc="-25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consists</a:t>
            </a:r>
            <a:r>
              <a:rPr lang="en-US" sz="1800" spc="-25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of</a:t>
            </a:r>
            <a:r>
              <a:rPr lang="en-US" sz="1800" spc="-40" dirty="0">
                <a:latin typeface="Segoe UI Symbol"/>
                <a:cs typeface="Segoe UI Symbol"/>
              </a:rPr>
              <a:t> </a:t>
            </a:r>
            <a:r>
              <a:rPr lang="en-US" sz="1800" b="1" spc="-65" dirty="0" err="1">
                <a:solidFill>
                  <a:srgbClr val="FF0000"/>
                </a:solidFill>
                <a:latin typeface="Segoe UI"/>
                <a:cs typeface="Segoe UI"/>
              </a:rPr>
              <a:t>partitionned</a:t>
            </a:r>
            <a:r>
              <a:rPr lang="en-US" sz="1800" b="1" spc="-2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log.</a:t>
            </a:r>
            <a:r>
              <a:rPr lang="en-US" sz="1800" spc="-25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Partitions</a:t>
            </a:r>
            <a:r>
              <a:rPr lang="en-US" sz="1800" spc="-15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allow</a:t>
            </a:r>
            <a:r>
              <a:rPr lang="en-US" sz="1800" spc="-35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log</a:t>
            </a:r>
            <a:r>
              <a:rPr lang="en-US" sz="1800" spc="-35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to</a:t>
            </a:r>
            <a:r>
              <a:rPr lang="en-US" sz="1800" spc="-25" dirty="0">
                <a:latin typeface="Segoe UI Symbol"/>
                <a:cs typeface="Segoe UI Symbol"/>
              </a:rPr>
              <a:t> </a:t>
            </a:r>
            <a:r>
              <a:rPr lang="en-US" sz="1800" spc="-10" dirty="0">
                <a:latin typeface="Segoe UI Symbol"/>
                <a:cs typeface="Segoe UI Symbol"/>
              </a:rPr>
              <a:t>scale horizontally.</a:t>
            </a:r>
            <a:endParaRPr lang="en-US" sz="1800" dirty="0">
              <a:latin typeface="Segoe UI Symbol"/>
              <a:cs typeface="Segoe UI Symbol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003DFB2-04F3-29E5-9F34-8ED956FF913E}"/>
              </a:ext>
            </a:extLst>
          </p:cNvPr>
          <p:cNvSpPr txBox="1"/>
          <p:nvPr/>
        </p:nvSpPr>
        <p:spPr>
          <a:xfrm>
            <a:off x="456598" y="4636854"/>
            <a:ext cx="7544401" cy="1038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085" marR="143510" indent="-28702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800" dirty="0">
                <a:latin typeface="Segoe UI Symbol"/>
                <a:cs typeface="Segoe UI Symbol"/>
              </a:rPr>
              <a:t>Partitions</a:t>
            </a:r>
            <a:r>
              <a:rPr lang="en-US" sz="1800" spc="130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are</a:t>
            </a:r>
            <a:r>
              <a:rPr lang="en-US" sz="1800" spc="95" dirty="0">
                <a:latin typeface="Segoe UI Symbol"/>
                <a:cs typeface="Segoe UI Symbol"/>
              </a:rPr>
              <a:t> </a:t>
            </a:r>
            <a:r>
              <a:rPr lang="en-US" sz="1800" b="1" spc="-40" dirty="0">
                <a:solidFill>
                  <a:srgbClr val="006FC0"/>
                </a:solidFill>
                <a:latin typeface="Segoe UI"/>
                <a:cs typeface="Segoe UI"/>
              </a:rPr>
              <a:t>ordered</a:t>
            </a:r>
            <a:r>
              <a:rPr lang="en-US" sz="1800" spc="-40" dirty="0">
                <a:solidFill>
                  <a:srgbClr val="006FC0"/>
                </a:solidFill>
                <a:latin typeface="Segoe UI Symbol"/>
                <a:cs typeface="Segoe UI Symbol"/>
              </a:rPr>
              <a:t>,</a:t>
            </a:r>
            <a:r>
              <a:rPr lang="en-US" sz="1800" spc="114" dirty="0">
                <a:solidFill>
                  <a:srgbClr val="006FC0"/>
                </a:solidFill>
                <a:latin typeface="Segoe UI Symbol"/>
                <a:cs typeface="Segoe UI Symbol"/>
              </a:rPr>
              <a:t> </a:t>
            </a:r>
            <a:r>
              <a:rPr lang="en-US" sz="1800" b="1" spc="-65" dirty="0">
                <a:solidFill>
                  <a:srgbClr val="006FC0"/>
                </a:solidFill>
                <a:latin typeface="Segoe UI"/>
                <a:cs typeface="Segoe UI"/>
              </a:rPr>
              <a:t>immutable</a:t>
            </a:r>
            <a:r>
              <a:rPr lang="en-US" sz="1800" b="1" spc="11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sequence</a:t>
            </a:r>
            <a:r>
              <a:rPr lang="en-US" sz="1800" spc="120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of</a:t>
            </a:r>
            <a:r>
              <a:rPr lang="en-US" sz="1800" spc="110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messages</a:t>
            </a:r>
            <a:r>
              <a:rPr lang="en-US" sz="1800" spc="120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that</a:t>
            </a:r>
            <a:r>
              <a:rPr lang="en-US" sz="1800" spc="125" dirty="0">
                <a:latin typeface="Segoe UI Symbol"/>
                <a:cs typeface="Segoe UI Symbol"/>
              </a:rPr>
              <a:t> </a:t>
            </a:r>
            <a:r>
              <a:rPr lang="en-US" sz="1800" spc="-25" dirty="0">
                <a:latin typeface="Segoe UI Symbol"/>
                <a:cs typeface="Segoe UI Symbol"/>
              </a:rPr>
              <a:t>are </a:t>
            </a:r>
            <a:r>
              <a:rPr lang="en-US" sz="1800" dirty="0">
                <a:latin typeface="Segoe UI Symbol"/>
                <a:cs typeface="Segoe UI Symbol"/>
              </a:rPr>
              <a:t>continually</a:t>
            </a:r>
            <a:r>
              <a:rPr lang="en-US" sz="1800" spc="-75" dirty="0">
                <a:latin typeface="Segoe UI Symbol"/>
                <a:cs typeface="Segoe UI Symbol"/>
              </a:rPr>
              <a:t> </a:t>
            </a:r>
            <a:r>
              <a:rPr lang="en-US" sz="1800" spc="-10" dirty="0">
                <a:latin typeface="Segoe UI Symbol"/>
                <a:cs typeface="Segoe UI Symbol"/>
              </a:rPr>
              <a:t>appended.</a:t>
            </a:r>
            <a:endParaRPr lang="en-US" sz="1800" dirty="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800" dirty="0">
                <a:latin typeface="Segoe UI Symbol"/>
                <a:cs typeface="Segoe UI Symbol"/>
              </a:rPr>
              <a:t>Each</a:t>
            </a:r>
            <a:r>
              <a:rPr lang="en-US" sz="1800" spc="-40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message</a:t>
            </a:r>
            <a:r>
              <a:rPr lang="en-US" sz="1800" spc="-35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in</a:t>
            </a:r>
            <a:r>
              <a:rPr lang="en-US" sz="1800" spc="-50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partitions</a:t>
            </a:r>
            <a:r>
              <a:rPr lang="en-US" sz="1800" spc="-25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assigned</a:t>
            </a:r>
            <a:r>
              <a:rPr lang="en-US" sz="1800" spc="-45" dirty="0">
                <a:latin typeface="Segoe UI Symbol"/>
                <a:cs typeface="Segoe UI Symbol"/>
              </a:rPr>
              <a:t> </a:t>
            </a:r>
            <a:r>
              <a:rPr lang="en-US" sz="1800" dirty="0" err="1">
                <a:latin typeface="Segoe UI Symbol"/>
                <a:cs typeface="Segoe UI Symbol"/>
              </a:rPr>
              <a:t>sequantial</a:t>
            </a:r>
            <a:r>
              <a:rPr lang="en-US" sz="1800" spc="-40" dirty="0">
                <a:latin typeface="Segoe UI Symbol"/>
                <a:cs typeface="Segoe UI Symbol"/>
              </a:rPr>
              <a:t> </a:t>
            </a:r>
            <a:r>
              <a:rPr lang="en-US" sz="1800" b="1" spc="-10" dirty="0">
                <a:solidFill>
                  <a:srgbClr val="006FC0"/>
                </a:solidFill>
                <a:latin typeface="Segoe UI"/>
                <a:cs typeface="Segoe UI"/>
              </a:rPr>
              <a:t>id</a:t>
            </a:r>
            <a:r>
              <a:rPr lang="en-US" sz="1800" b="1" spc="-4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lang="en-US" sz="1800" b="1" spc="-70" dirty="0">
                <a:solidFill>
                  <a:srgbClr val="006FC0"/>
                </a:solidFill>
                <a:latin typeface="Segoe UI"/>
                <a:cs typeface="Segoe UI"/>
              </a:rPr>
              <a:t>number</a:t>
            </a:r>
            <a:r>
              <a:rPr lang="en-US" sz="18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lang="en-US" sz="1800" spc="-10" dirty="0">
                <a:latin typeface="Segoe UI Symbol"/>
                <a:cs typeface="Segoe UI Symbol"/>
              </a:rPr>
              <a:t>(‘</a:t>
            </a:r>
            <a:r>
              <a:rPr lang="en-US" sz="1800" b="1" spc="-10" dirty="0">
                <a:solidFill>
                  <a:srgbClr val="006FC0"/>
                </a:solidFill>
                <a:latin typeface="Segoe UI"/>
                <a:cs typeface="Segoe UI"/>
              </a:rPr>
              <a:t>offset</a:t>
            </a:r>
            <a:r>
              <a:rPr lang="en-US" sz="1800" spc="-10" dirty="0">
                <a:latin typeface="Segoe UI Symbol"/>
                <a:cs typeface="Segoe UI Symbol"/>
              </a:rPr>
              <a:t>’)</a:t>
            </a:r>
            <a:endParaRPr lang="en-US" sz="1800" dirty="0">
              <a:latin typeface="Segoe UI Symbol"/>
              <a:cs typeface="Segoe UI Symbol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1EC3640-98CF-9797-3646-69FEB794FC6F}"/>
              </a:ext>
            </a:extLst>
          </p:cNvPr>
          <p:cNvSpPr txBox="1"/>
          <p:nvPr/>
        </p:nvSpPr>
        <p:spPr>
          <a:xfrm>
            <a:off x="412727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83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800" dirty="0">
                <a:latin typeface="Segoe UI Symbol"/>
                <a:cs typeface="Segoe UI Symbol"/>
              </a:rPr>
              <a:t>Messages</a:t>
            </a:r>
            <a:r>
              <a:rPr lang="en-US" sz="1800" spc="-30" dirty="0">
                <a:latin typeface="Segoe UI Symbol"/>
                <a:cs typeface="Segoe UI Symbol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are</a:t>
            </a:r>
            <a:r>
              <a:rPr lang="en-US" sz="1800" spc="-15" dirty="0">
                <a:latin typeface="Segoe UI Symbol"/>
                <a:cs typeface="Segoe UI Symbol"/>
              </a:rPr>
              <a:t> </a:t>
            </a:r>
            <a:r>
              <a:rPr lang="en-US" sz="1800" b="1" spc="-65" dirty="0">
                <a:solidFill>
                  <a:srgbClr val="006FC0"/>
                </a:solidFill>
                <a:latin typeface="Segoe UI"/>
                <a:cs typeface="Segoe UI"/>
              </a:rPr>
              <a:t>retained</a:t>
            </a:r>
            <a:r>
              <a:rPr lang="en-US" sz="18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lang="en-US" sz="1800" dirty="0">
                <a:latin typeface="Segoe UI Symbol"/>
                <a:cs typeface="Segoe UI Symbol"/>
              </a:rPr>
              <a:t>for</a:t>
            </a:r>
            <a:r>
              <a:rPr lang="en-US" sz="1800" spc="-25" dirty="0">
                <a:latin typeface="Segoe UI Symbol"/>
                <a:cs typeface="Segoe UI Symbol"/>
              </a:rPr>
              <a:t> </a:t>
            </a:r>
            <a:r>
              <a:rPr lang="en-US" sz="1800" b="1" spc="-70" dirty="0">
                <a:solidFill>
                  <a:srgbClr val="006FC0"/>
                </a:solidFill>
                <a:latin typeface="Segoe UI"/>
                <a:cs typeface="Segoe UI"/>
              </a:rPr>
              <a:t>configurable</a:t>
            </a:r>
            <a:r>
              <a:rPr lang="en-US" sz="1800" b="1" spc="-3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lang="en-US" sz="1800" b="1" spc="-60" dirty="0">
                <a:solidFill>
                  <a:srgbClr val="006FC0"/>
                </a:solidFill>
                <a:latin typeface="Segoe UI"/>
                <a:cs typeface="Segoe UI"/>
              </a:rPr>
              <a:t>period</a:t>
            </a:r>
            <a:r>
              <a:rPr lang="en-US" sz="1800" b="1" spc="-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lang="en-US" sz="1800" b="1" spc="-100" dirty="0">
                <a:solidFill>
                  <a:srgbClr val="006FC0"/>
                </a:solidFill>
                <a:latin typeface="Segoe UI"/>
                <a:cs typeface="Segoe UI"/>
              </a:rPr>
              <a:t>of</a:t>
            </a:r>
            <a:r>
              <a:rPr lang="en-US" sz="1800" b="1" spc="-2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lang="en-US" sz="1800" b="1" spc="-10" dirty="0">
                <a:solidFill>
                  <a:srgbClr val="006FC0"/>
                </a:solidFill>
                <a:latin typeface="Segoe UI"/>
                <a:cs typeface="Segoe UI"/>
              </a:rPr>
              <a:t>time.</a:t>
            </a:r>
            <a:endParaRPr lang="en-US" sz="1800" dirty="0">
              <a:latin typeface="Segoe UI"/>
              <a:cs typeface="Segoe UI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117BEB5-1C2E-B0E3-E937-F80EC918AFD2}"/>
              </a:ext>
            </a:extLst>
          </p:cNvPr>
          <p:cNvSpPr txBox="1"/>
          <p:nvPr/>
        </p:nvSpPr>
        <p:spPr>
          <a:xfrm>
            <a:off x="1039825" y="57639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 offset is a </a:t>
            </a:r>
            <a:r>
              <a:rPr lang="en-US" sz="1200" dirty="0">
                <a:solidFill>
                  <a:srgbClr val="00B050"/>
                </a:solidFill>
              </a:rPr>
              <a:t>unique identifier for a message in a Kafka </a:t>
            </a:r>
            <a:r>
              <a:rPr lang="en-US" sz="1200" dirty="0" err="1">
                <a:solidFill>
                  <a:srgbClr val="00B050"/>
                </a:solidFill>
              </a:rPr>
              <a:t>partition</a:t>
            </a:r>
            <a:r>
              <a:rPr lang="en-US" sz="1200" dirty="0" err="1"/>
              <a:t>.It</a:t>
            </a:r>
            <a:r>
              <a:rPr lang="en-US" sz="1200" dirty="0"/>
              <a:t> is a sequential number that starts at 0 and increments with each new message in a partition.</a:t>
            </a:r>
            <a:endParaRPr lang="fr-FR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4" grpId="0"/>
      <p:bldP spid="16" grpId="0"/>
      <p:bldP spid="18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MAIN</a:t>
            </a:r>
            <a:r>
              <a:rPr sz="2800" spc="-100" dirty="0"/>
              <a:t> </a:t>
            </a:r>
            <a:r>
              <a:rPr sz="2800" dirty="0"/>
              <a:t>KAFKA</a:t>
            </a:r>
            <a:r>
              <a:rPr sz="2800" spc="-105" dirty="0"/>
              <a:t> </a:t>
            </a:r>
            <a:r>
              <a:rPr sz="2800" dirty="0"/>
              <a:t>CONCEPTS:</a:t>
            </a:r>
            <a:r>
              <a:rPr sz="2800" spc="-75" dirty="0"/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BROKERS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63244" y="2133600"/>
            <a:ext cx="766318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Kafka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cluster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comprised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of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one</a:t>
            </a:r>
            <a:r>
              <a:rPr sz="1800" spc="-6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or</a:t>
            </a:r>
            <a:r>
              <a:rPr sz="1800" spc="-5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more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servers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called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“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brokers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”</a:t>
            </a:r>
            <a:r>
              <a:rPr lang="fr-FR"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.</a:t>
            </a:r>
            <a:endParaRPr sz="1800" dirty="0">
              <a:latin typeface="Segoe UI Symbol"/>
              <a:cs typeface="Segoe UI Symbol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E6AEA9D-52AC-E8D1-8761-DA307A350D52}"/>
              </a:ext>
            </a:extLst>
          </p:cNvPr>
          <p:cNvSpPr txBox="1"/>
          <p:nvPr/>
        </p:nvSpPr>
        <p:spPr>
          <a:xfrm>
            <a:off x="482981" y="2502071"/>
            <a:ext cx="7437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broker is the operational core of Kafka; </a:t>
            </a:r>
            <a:r>
              <a:rPr lang="en-US" b="1" dirty="0">
                <a:solidFill>
                  <a:srgbClr val="0070C0"/>
                </a:solidFill>
              </a:rPr>
              <a:t>It handles the transfer, storage, and distribution of messages within the cluster.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E27A8B3-CF22-03BC-093C-7D50F525A043}"/>
              </a:ext>
            </a:extLst>
          </p:cNvPr>
          <p:cNvSpPr txBox="1"/>
          <p:nvPr/>
        </p:nvSpPr>
        <p:spPr>
          <a:xfrm>
            <a:off x="482980" y="3250746"/>
            <a:ext cx="72894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Kafka broker stores one or more partitions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spread a single topic’s partitions across multiple brokers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1529D78-8FF7-EBAE-DBD6-509BD3716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00" y="1984893"/>
            <a:ext cx="4368800" cy="1880798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102D196C-1CE8-E8EB-0188-48A2DD5E912C}"/>
              </a:ext>
            </a:extLst>
          </p:cNvPr>
          <p:cNvSpPr txBox="1"/>
          <p:nvPr/>
        </p:nvSpPr>
        <p:spPr>
          <a:xfrm>
            <a:off x="482980" y="42640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Kafka brokers </a:t>
            </a:r>
            <a:r>
              <a:rPr lang="en-US" b="1" dirty="0">
                <a:solidFill>
                  <a:srgbClr val="0070C0"/>
                </a:solidFill>
              </a:rPr>
              <a:t>are stateless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DD21935-465E-3054-FD7B-F402BB9741E9}"/>
              </a:ext>
            </a:extLst>
          </p:cNvPr>
          <p:cNvSpPr txBox="1"/>
          <p:nvPr/>
        </p:nvSpPr>
        <p:spPr>
          <a:xfrm>
            <a:off x="491530" y="4769752"/>
            <a:ext cx="10967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Consumers	have	to	keep	track	of	what	offset	position	they would like to read.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C5EAD1B-A47A-66F0-3845-B269AC2CDC38}"/>
              </a:ext>
            </a:extLst>
          </p:cNvPr>
          <p:cNvSpPr txBox="1"/>
          <p:nvPr/>
        </p:nvSpPr>
        <p:spPr>
          <a:xfrm>
            <a:off x="540708" y="5563797"/>
            <a:ext cx="9796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Kafka also allows the topic's partitions to be replicated across the brokers.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9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MAIN</a:t>
            </a:r>
            <a:r>
              <a:rPr sz="2800" spc="-100" dirty="0"/>
              <a:t> </a:t>
            </a:r>
            <a:r>
              <a:rPr sz="2800" dirty="0"/>
              <a:t>KAFKA</a:t>
            </a:r>
            <a:r>
              <a:rPr sz="2800" spc="-105" dirty="0"/>
              <a:t> </a:t>
            </a:r>
            <a:r>
              <a:rPr sz="2800" dirty="0"/>
              <a:t>CONCEPTS:</a:t>
            </a:r>
            <a:r>
              <a:rPr sz="2800" spc="-75" dirty="0"/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BROKERS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5155" y="1800352"/>
            <a:ext cx="11039475" cy="4845557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085"/>
              </a:spcBef>
            </a:pP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Replication</a:t>
            </a:r>
            <a:endParaRPr sz="18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In</a:t>
            </a:r>
            <a:r>
              <a:rPr sz="1800" spc="-5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Kafka,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each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partition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30" dirty="0">
                <a:solidFill>
                  <a:srgbClr val="FF0000"/>
                </a:solidFill>
                <a:latin typeface="Segoe UI"/>
                <a:cs typeface="Segoe UI"/>
              </a:rPr>
              <a:t>can</a:t>
            </a:r>
            <a:r>
              <a:rPr sz="1800" b="1" spc="-4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be</a:t>
            </a:r>
            <a:r>
              <a:rPr sz="1800" b="1" spc="-3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65" dirty="0">
                <a:solidFill>
                  <a:srgbClr val="FF0000"/>
                </a:solidFill>
                <a:latin typeface="Segoe UI"/>
                <a:cs typeface="Segoe UI"/>
              </a:rPr>
              <a:t>replicated</a:t>
            </a:r>
            <a:r>
              <a:rPr sz="1800" b="1" spc="-6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across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</a:t>
            </a:r>
            <a:r>
              <a:rPr sz="1800" spc="-5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number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of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servers.</a:t>
            </a:r>
            <a:endParaRPr sz="1800" dirty="0">
              <a:latin typeface="Segoe UI Symbol"/>
              <a:cs typeface="Segoe UI Symbol"/>
            </a:endParaRPr>
          </a:p>
          <a:p>
            <a:pPr marL="634365" lvl="1" indent="-335280">
              <a:lnSpc>
                <a:spcPct val="100000"/>
              </a:lnSpc>
              <a:buFont typeface="Wingdings"/>
              <a:buChar char=""/>
              <a:tabLst>
                <a:tab pos="634365" algn="l"/>
                <a:tab pos="3214370" algn="l"/>
                <a:tab pos="4446270" algn="l"/>
                <a:tab pos="4726305" algn="l"/>
                <a:tab pos="5845175" algn="l"/>
                <a:tab pos="6649720" algn="l"/>
                <a:tab pos="6929120" algn="l"/>
                <a:tab pos="7640955" algn="l"/>
                <a:tab pos="8094980" algn="l"/>
                <a:tab pos="10864215" algn="l"/>
              </a:tabLst>
            </a:pP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The</a:t>
            </a:r>
            <a:r>
              <a:rPr sz="1800" b="1" spc="254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30" dirty="0">
                <a:solidFill>
                  <a:srgbClr val="006FC0"/>
                </a:solidFill>
                <a:latin typeface="Segoe UI"/>
                <a:cs typeface="Segoe UI"/>
              </a:rPr>
              <a:t>number</a:t>
            </a:r>
            <a:r>
              <a:rPr sz="1800" b="1" spc="26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of</a:t>
            </a:r>
            <a:r>
              <a:rPr sz="1800" b="1" spc="26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servers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	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</a:t>
            </a:r>
            <a:r>
              <a:rPr sz="1800" spc="484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partition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	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is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	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replicated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	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across,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	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is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	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called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	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	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‘</a:t>
            </a:r>
            <a:r>
              <a:rPr sz="1800" b="1" spc="-40" dirty="0">
                <a:solidFill>
                  <a:srgbClr val="FF0000"/>
                </a:solidFill>
                <a:latin typeface="Segoe UI"/>
                <a:cs typeface="Segoe UI"/>
              </a:rPr>
              <a:t>replication</a:t>
            </a:r>
            <a:r>
              <a:rPr sz="1800" b="1" spc="30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Segoe UI"/>
                <a:cs typeface="Segoe UI"/>
              </a:rPr>
              <a:t>factor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’</a:t>
            </a:r>
            <a:r>
              <a:rPr sz="1800" spc="30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and</a:t>
            </a:r>
            <a:r>
              <a:rPr sz="1800" spc="30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it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	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is</a:t>
            </a:r>
            <a:endParaRPr sz="1800" dirty="0">
              <a:latin typeface="Segoe UI Symbol"/>
              <a:cs typeface="Segoe UI Symbol"/>
            </a:endParaRPr>
          </a:p>
          <a:p>
            <a:pPr marL="299085">
              <a:lnSpc>
                <a:spcPct val="100000"/>
              </a:lnSpc>
            </a:pP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configurable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.</a:t>
            </a:r>
            <a:endParaRPr sz="1800" dirty="0">
              <a:latin typeface="Segoe UI Symbol"/>
              <a:cs typeface="Segoe UI Symbol"/>
            </a:endParaRPr>
          </a:p>
          <a:p>
            <a:pPr marL="634365" lvl="1" indent="-335280">
              <a:lnSpc>
                <a:spcPct val="100000"/>
              </a:lnSpc>
              <a:buFont typeface="Wingdings"/>
              <a:buChar char=""/>
              <a:tabLst>
                <a:tab pos="634365" algn="l"/>
              </a:tabLst>
            </a:pP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Replicate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partitions</a:t>
            </a:r>
            <a:r>
              <a:rPr sz="1800" spc="-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provide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75" dirty="0">
                <a:solidFill>
                  <a:srgbClr val="006FC0"/>
                </a:solidFill>
                <a:latin typeface="Segoe UI"/>
                <a:cs typeface="Segoe UI"/>
              </a:rPr>
              <a:t>fault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tolerance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to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system.</a:t>
            </a:r>
            <a:endParaRPr sz="1800" dirty="0">
              <a:latin typeface="Segoe UI Symbol"/>
              <a:cs typeface="Segoe UI Symbol"/>
            </a:endParaRPr>
          </a:p>
          <a:p>
            <a:pPr marL="299085" marR="13970" indent="-28702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Each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partition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has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25" dirty="0">
                <a:solidFill>
                  <a:srgbClr val="006FC0"/>
                </a:solidFill>
                <a:latin typeface="Segoe UI"/>
                <a:cs typeface="Segoe UI"/>
              </a:rPr>
              <a:t>one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server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which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acts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as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95" dirty="0">
                <a:solidFill>
                  <a:srgbClr val="FF0000"/>
                </a:solidFill>
                <a:latin typeface="Segoe UI"/>
                <a:cs typeface="Segoe UI"/>
              </a:rPr>
              <a:t>"leader"</a:t>
            </a:r>
            <a:r>
              <a:rPr sz="1800" b="1" spc="-3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and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then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depending</a:t>
            </a:r>
            <a:r>
              <a:rPr sz="1800" spc="-1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on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replication factor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there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will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be</a:t>
            </a:r>
            <a:r>
              <a:rPr sz="1800" spc="-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zero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or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80" dirty="0">
                <a:solidFill>
                  <a:srgbClr val="006FC0"/>
                </a:solidFill>
                <a:latin typeface="Segoe UI"/>
                <a:cs typeface="Segoe UI"/>
              </a:rPr>
              <a:t>more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servers</a:t>
            </a:r>
            <a:r>
              <a:rPr sz="1800" spc="-1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acting</a:t>
            </a:r>
            <a:r>
              <a:rPr sz="1800" spc="-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as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"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followers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".</a:t>
            </a:r>
            <a:endParaRPr sz="1800" dirty="0">
              <a:latin typeface="Segoe UI Symbol"/>
              <a:cs typeface="Segoe UI Symbol"/>
            </a:endParaRPr>
          </a:p>
          <a:p>
            <a:pPr marL="574040" lvl="1" indent="-285750">
              <a:lnSpc>
                <a:spcPct val="100000"/>
              </a:lnSpc>
              <a:spcBef>
                <a:spcPts val="645"/>
              </a:spcBef>
              <a:buFont typeface="Wingdings"/>
              <a:buChar char=""/>
              <a:tabLst>
                <a:tab pos="574040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6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leader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handles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all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read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and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write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requests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for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partition.</a:t>
            </a:r>
            <a:endParaRPr sz="1800" dirty="0">
              <a:latin typeface="Segoe UI Symbol"/>
              <a:cs typeface="Segoe UI Symbol"/>
            </a:endParaRPr>
          </a:p>
          <a:p>
            <a:pPr marL="574675" lvl="1" indent="-286385">
              <a:lnSpc>
                <a:spcPct val="100000"/>
              </a:lnSpc>
              <a:buFont typeface="Wingdings"/>
              <a:buChar char=""/>
              <a:tabLst>
                <a:tab pos="574675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8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followers</a:t>
            </a:r>
            <a:r>
              <a:rPr sz="1800" spc="-5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passively</a:t>
            </a:r>
            <a:r>
              <a:rPr sz="1800" spc="-5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replicate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7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leader.</a:t>
            </a:r>
            <a:endParaRPr sz="1800" dirty="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7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leaders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keep</a:t>
            </a:r>
            <a:r>
              <a:rPr sz="1800" b="1" spc="-65" dirty="0">
                <a:solidFill>
                  <a:srgbClr val="006FC0"/>
                </a:solidFill>
                <a:latin typeface="Segoe UI"/>
                <a:cs typeface="Segoe UI"/>
              </a:rPr>
              <a:t> track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of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what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is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called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In</a:t>
            </a:r>
            <a:r>
              <a:rPr sz="1800" b="1" spc="-3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60" dirty="0">
                <a:solidFill>
                  <a:srgbClr val="FF0000"/>
                </a:solidFill>
                <a:latin typeface="Segoe UI"/>
                <a:cs typeface="Segoe UI"/>
              </a:rPr>
              <a:t>Sync</a:t>
            </a:r>
            <a:r>
              <a:rPr sz="1800" b="1" spc="-55" dirty="0">
                <a:solidFill>
                  <a:srgbClr val="FF0000"/>
                </a:solidFill>
                <a:latin typeface="Segoe UI"/>
                <a:cs typeface="Segoe UI"/>
              </a:rPr>
              <a:t> Replicas</a:t>
            </a:r>
            <a:r>
              <a:rPr sz="1800" spc="-55" dirty="0">
                <a:solidFill>
                  <a:srgbClr val="333333"/>
                </a:solidFill>
                <a:latin typeface="Segoe UI Symbol"/>
                <a:cs typeface="Segoe UI Symbol"/>
              </a:rPr>
              <a:t>,</a:t>
            </a:r>
            <a:r>
              <a:rPr sz="1800" spc="-7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which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is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abbreviated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to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"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ISR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".</a:t>
            </a:r>
            <a:endParaRPr sz="1800" dirty="0">
              <a:latin typeface="Segoe UI Symbol"/>
              <a:cs typeface="Segoe UI Symbol"/>
            </a:endParaRPr>
          </a:p>
          <a:p>
            <a:pPr marL="577850" lvl="1" indent="-387350">
              <a:lnSpc>
                <a:spcPct val="100000"/>
              </a:lnSpc>
              <a:buFont typeface="Wingdings"/>
              <a:buChar char=""/>
              <a:tabLst>
                <a:tab pos="577850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8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In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Sync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Replicas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are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a</a:t>
            </a:r>
            <a:r>
              <a:rPr sz="1800" b="1" spc="-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35" dirty="0">
                <a:solidFill>
                  <a:srgbClr val="006FC0"/>
                </a:solidFill>
                <a:latin typeface="Segoe UI"/>
                <a:cs typeface="Segoe UI"/>
              </a:rPr>
              <a:t>set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100" dirty="0">
                <a:solidFill>
                  <a:srgbClr val="006FC0"/>
                </a:solidFill>
                <a:latin typeface="Segoe UI"/>
                <a:cs typeface="Segoe UI"/>
              </a:rPr>
              <a:t>of</a:t>
            </a:r>
            <a:r>
              <a:rPr sz="1800" b="1" spc="-2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replicas</a:t>
            </a:r>
            <a:r>
              <a:rPr sz="1800" b="1" spc="-7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that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are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65" dirty="0">
                <a:solidFill>
                  <a:srgbClr val="006FC0"/>
                </a:solidFill>
                <a:latin typeface="Segoe UI"/>
                <a:cs typeface="Segoe UI"/>
              </a:rPr>
              <a:t>alive</a:t>
            </a:r>
            <a:r>
              <a:rPr sz="1800" b="1" spc="-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and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are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fully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caught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up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with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leader.</a:t>
            </a:r>
            <a:endParaRPr sz="1800" dirty="0">
              <a:latin typeface="Segoe UI Symbol"/>
              <a:cs typeface="Segoe UI Symbol"/>
            </a:endParaRPr>
          </a:p>
          <a:p>
            <a:pPr marL="577850" lvl="1" indent="-387350">
              <a:lnSpc>
                <a:spcPct val="100000"/>
              </a:lnSpc>
              <a:buFont typeface="Wingdings"/>
              <a:buChar char=""/>
              <a:tabLst>
                <a:tab pos="577850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If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one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of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followers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dies,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gets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stuck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or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falls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behind,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then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it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is</a:t>
            </a:r>
            <a:r>
              <a:rPr sz="1800" spc="-1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removed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from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list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of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In</a:t>
            </a:r>
            <a:r>
              <a:rPr sz="1800" spc="-5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Sync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Replicas.</a:t>
            </a:r>
            <a:endParaRPr sz="1800" dirty="0">
              <a:latin typeface="Segoe UI Symbol"/>
              <a:cs typeface="Segoe UI Symbol"/>
            </a:endParaRPr>
          </a:p>
          <a:p>
            <a:pPr marL="302260" indent="-286385">
              <a:lnSpc>
                <a:spcPct val="100000"/>
              </a:lnSpc>
              <a:spcBef>
                <a:spcPts val="1165"/>
              </a:spcBef>
              <a:buFont typeface="Arial MT"/>
              <a:buChar char="•"/>
              <a:tabLst>
                <a:tab pos="302260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</a:t>
            </a:r>
            <a:r>
              <a:rPr sz="1800" spc="-5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message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is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70" dirty="0">
                <a:solidFill>
                  <a:srgbClr val="333333"/>
                </a:solidFill>
                <a:latin typeface="Segoe UI Symbol"/>
                <a:cs typeface="Segoe UI Symbol"/>
              </a:rPr>
              <a:t>"</a:t>
            </a:r>
            <a:r>
              <a:rPr sz="1800" b="1" spc="-70" dirty="0">
                <a:solidFill>
                  <a:srgbClr val="FF0000"/>
                </a:solidFill>
                <a:latin typeface="Segoe UI"/>
                <a:cs typeface="Segoe UI"/>
              </a:rPr>
              <a:t>committed</a:t>
            </a:r>
            <a:r>
              <a:rPr sz="1800" spc="-70" dirty="0">
                <a:solidFill>
                  <a:srgbClr val="333333"/>
                </a:solidFill>
                <a:latin typeface="Segoe UI Symbol"/>
                <a:cs typeface="Segoe UI Symbol"/>
              </a:rPr>
              <a:t>"</a:t>
            </a:r>
            <a:r>
              <a:rPr sz="1800" spc="-5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when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all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In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Sync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Replicas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for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partition</a:t>
            </a:r>
            <a:r>
              <a:rPr sz="1800" spc="-1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have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applied</a:t>
            </a:r>
            <a:r>
              <a:rPr sz="1800" spc="-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it</a:t>
            </a:r>
            <a:r>
              <a:rPr sz="1800" spc="-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to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their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log.</a:t>
            </a:r>
            <a:endParaRPr sz="1800" dirty="0">
              <a:latin typeface="Segoe UI Symbol"/>
              <a:cs typeface="Segoe UI Symbol"/>
            </a:endParaRPr>
          </a:p>
          <a:p>
            <a:pPr marL="497205" lvl="1" indent="-302895">
              <a:lnSpc>
                <a:spcPct val="100000"/>
              </a:lnSpc>
              <a:buClr>
                <a:srgbClr val="333333"/>
              </a:buClr>
              <a:buFont typeface="Wingdings"/>
              <a:buChar char=""/>
              <a:tabLst>
                <a:tab pos="497205" algn="l"/>
              </a:tabLst>
            </a:pP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Only</a:t>
            </a:r>
            <a:r>
              <a:rPr sz="1800" b="1" spc="-3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75" dirty="0">
                <a:solidFill>
                  <a:srgbClr val="006FC0"/>
                </a:solidFill>
                <a:latin typeface="Segoe UI"/>
                <a:cs typeface="Segoe UI"/>
              </a:rPr>
              <a:t>committed</a:t>
            </a:r>
            <a:r>
              <a:rPr sz="1800" b="1" spc="-40" dirty="0">
                <a:solidFill>
                  <a:srgbClr val="006FC0"/>
                </a:solidFill>
                <a:latin typeface="Segoe UI"/>
                <a:cs typeface="Segoe UI"/>
              </a:rPr>
              <a:t> messages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are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70" dirty="0">
                <a:solidFill>
                  <a:srgbClr val="006FC0"/>
                </a:solidFill>
                <a:latin typeface="Segoe UI"/>
                <a:cs typeface="Segoe UI"/>
              </a:rPr>
              <a:t>given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to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consumers.</a:t>
            </a:r>
            <a:endParaRPr sz="1800" dirty="0">
              <a:latin typeface="Segoe UI Symbol"/>
              <a:cs typeface="Segoe UI Symbol"/>
            </a:endParaRPr>
          </a:p>
          <a:p>
            <a:pPr marL="496570" lvl="1" indent="-302260">
              <a:lnSpc>
                <a:spcPct val="100000"/>
              </a:lnSpc>
              <a:spcBef>
                <a:spcPts val="5"/>
              </a:spcBef>
              <a:buClr>
                <a:srgbClr val="333333"/>
              </a:buClr>
              <a:buFont typeface="Wingdings"/>
              <a:buChar char=""/>
              <a:tabLst>
                <a:tab pos="496570" algn="l"/>
              </a:tabLst>
            </a:pPr>
            <a:r>
              <a:rPr sz="1800" b="1" spc="-70" dirty="0">
                <a:solidFill>
                  <a:srgbClr val="006FC0"/>
                </a:solidFill>
                <a:latin typeface="Segoe UI"/>
                <a:cs typeface="Segoe UI"/>
              </a:rPr>
              <a:t>Producers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on</a:t>
            </a:r>
            <a:r>
              <a:rPr sz="1800" spc="-1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other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hand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have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option</a:t>
            </a:r>
            <a:r>
              <a:rPr sz="1800" spc="-1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of</a:t>
            </a:r>
            <a:r>
              <a:rPr sz="1800" spc="-1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whether</a:t>
            </a:r>
            <a:r>
              <a:rPr sz="1800" spc="-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to</a:t>
            </a:r>
            <a:r>
              <a:rPr sz="1800" spc="-1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85" dirty="0">
                <a:solidFill>
                  <a:srgbClr val="006FC0"/>
                </a:solidFill>
                <a:latin typeface="Segoe UI"/>
                <a:cs typeface="Segoe UI"/>
              </a:rPr>
              <a:t>wait</a:t>
            </a:r>
            <a:r>
              <a:rPr sz="1800" b="1" spc="-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for</a:t>
            </a:r>
            <a:r>
              <a:rPr sz="1800" spc="-1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the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80" dirty="0">
                <a:solidFill>
                  <a:srgbClr val="006FC0"/>
                </a:solidFill>
                <a:latin typeface="Segoe UI"/>
                <a:cs typeface="Segoe UI"/>
              </a:rPr>
              <a:t>commit</a:t>
            </a:r>
            <a:r>
              <a:rPr sz="1800" b="1" spc="-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or</a:t>
            </a:r>
            <a:r>
              <a:rPr sz="1800" spc="-1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Segoe UI"/>
                <a:cs typeface="Segoe UI"/>
              </a:rPr>
              <a:t>not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.</a:t>
            </a:r>
            <a:r>
              <a:rPr lang="fr-FR"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(</a:t>
            </a:r>
            <a:r>
              <a:rPr lang="fr-FR" sz="1800" spc="-20" dirty="0" err="1">
                <a:solidFill>
                  <a:srgbClr val="333333"/>
                </a:solidFill>
                <a:latin typeface="Segoe UI Symbol"/>
                <a:cs typeface="Segoe UI Symbol"/>
              </a:rPr>
              <a:t>acks</a:t>
            </a:r>
            <a:r>
              <a:rPr lang="fr-FR"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p.24)</a:t>
            </a:r>
            <a:endParaRPr sz="18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MAIN</a:t>
            </a:r>
            <a:r>
              <a:rPr sz="2800" spc="-100" dirty="0"/>
              <a:t> </a:t>
            </a:r>
            <a:r>
              <a:rPr sz="2800" dirty="0"/>
              <a:t>KAFKA</a:t>
            </a:r>
            <a:r>
              <a:rPr sz="2800" spc="-105" dirty="0"/>
              <a:t> </a:t>
            </a:r>
            <a:r>
              <a:rPr sz="2800" dirty="0"/>
              <a:t>CONCEPTS:</a:t>
            </a:r>
            <a:r>
              <a:rPr sz="2800" spc="-75" dirty="0"/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BROKERS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1304" y="1925573"/>
            <a:ext cx="2052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5" dirty="0">
                <a:solidFill>
                  <a:srgbClr val="006FC0"/>
                </a:solidFill>
                <a:latin typeface="Segoe UI"/>
                <a:cs typeface="Segoe UI"/>
              </a:rPr>
              <a:t>Replication</a:t>
            </a:r>
            <a:r>
              <a:rPr sz="1800" b="1" spc="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65" dirty="0">
                <a:solidFill>
                  <a:srgbClr val="006FC0"/>
                </a:solidFill>
                <a:latin typeface="Segoe UI"/>
                <a:cs typeface="Segoe UI"/>
              </a:rPr>
              <a:t>Exemple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7098" y="2692145"/>
            <a:ext cx="1316990" cy="455930"/>
          </a:xfrm>
          <a:prstGeom prst="rect">
            <a:avLst/>
          </a:prstGeom>
          <a:solidFill>
            <a:srgbClr val="1A315F"/>
          </a:solidFill>
          <a:ln w="22859">
            <a:solidFill>
              <a:srgbClr val="0F2144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56432" y="3866388"/>
            <a:ext cx="1635760" cy="2406650"/>
            <a:chOff x="3456432" y="3866388"/>
            <a:chExt cx="1635760" cy="2406650"/>
          </a:xfrm>
        </p:grpSpPr>
        <p:sp>
          <p:nvSpPr>
            <p:cNvPr id="7" name="object 7"/>
            <p:cNvSpPr/>
            <p:nvPr/>
          </p:nvSpPr>
          <p:spPr>
            <a:xfrm>
              <a:off x="3467862" y="3877818"/>
              <a:ext cx="1612900" cy="2383790"/>
            </a:xfrm>
            <a:custGeom>
              <a:avLst/>
              <a:gdLst/>
              <a:ahLst/>
              <a:cxnLst/>
              <a:rect l="l" t="t" r="r" b="b"/>
              <a:pathLst>
                <a:path w="1612900" h="2383790">
                  <a:moveTo>
                    <a:pt x="0" y="268731"/>
                  </a:moveTo>
                  <a:lnTo>
                    <a:pt x="4328" y="220414"/>
                  </a:lnTo>
                  <a:lnTo>
                    <a:pt x="16807" y="174943"/>
                  </a:lnTo>
                  <a:lnTo>
                    <a:pt x="36679" y="133077"/>
                  </a:lnTo>
                  <a:lnTo>
                    <a:pt x="63187" y="95572"/>
                  </a:lnTo>
                  <a:lnTo>
                    <a:pt x="95572" y="63187"/>
                  </a:lnTo>
                  <a:lnTo>
                    <a:pt x="133077" y="36679"/>
                  </a:lnTo>
                  <a:lnTo>
                    <a:pt x="174943" y="16807"/>
                  </a:lnTo>
                  <a:lnTo>
                    <a:pt x="220414" y="4328"/>
                  </a:lnTo>
                  <a:lnTo>
                    <a:pt x="268732" y="0"/>
                  </a:lnTo>
                  <a:lnTo>
                    <a:pt x="1343660" y="0"/>
                  </a:lnTo>
                  <a:lnTo>
                    <a:pt x="1391977" y="4328"/>
                  </a:lnTo>
                  <a:lnTo>
                    <a:pt x="1437448" y="16807"/>
                  </a:lnTo>
                  <a:lnTo>
                    <a:pt x="1479314" y="36679"/>
                  </a:lnTo>
                  <a:lnTo>
                    <a:pt x="1516819" y="63187"/>
                  </a:lnTo>
                  <a:lnTo>
                    <a:pt x="1549204" y="95572"/>
                  </a:lnTo>
                  <a:lnTo>
                    <a:pt x="1575712" y="133077"/>
                  </a:lnTo>
                  <a:lnTo>
                    <a:pt x="1595584" y="174943"/>
                  </a:lnTo>
                  <a:lnTo>
                    <a:pt x="1608063" y="220414"/>
                  </a:lnTo>
                  <a:lnTo>
                    <a:pt x="1612391" y="268731"/>
                  </a:lnTo>
                  <a:lnTo>
                    <a:pt x="1612391" y="2114804"/>
                  </a:lnTo>
                  <a:lnTo>
                    <a:pt x="1608063" y="2163107"/>
                  </a:lnTo>
                  <a:lnTo>
                    <a:pt x="1595584" y="2208571"/>
                  </a:lnTo>
                  <a:lnTo>
                    <a:pt x="1575712" y="2250436"/>
                  </a:lnTo>
                  <a:lnTo>
                    <a:pt x="1549204" y="2287942"/>
                  </a:lnTo>
                  <a:lnTo>
                    <a:pt x="1516819" y="2320332"/>
                  </a:lnTo>
                  <a:lnTo>
                    <a:pt x="1479314" y="2346845"/>
                  </a:lnTo>
                  <a:lnTo>
                    <a:pt x="1437448" y="2366722"/>
                  </a:lnTo>
                  <a:lnTo>
                    <a:pt x="1391977" y="2379206"/>
                  </a:lnTo>
                  <a:lnTo>
                    <a:pt x="1343660" y="2383535"/>
                  </a:lnTo>
                  <a:lnTo>
                    <a:pt x="268732" y="2383535"/>
                  </a:lnTo>
                  <a:lnTo>
                    <a:pt x="220414" y="2379206"/>
                  </a:lnTo>
                  <a:lnTo>
                    <a:pt x="174943" y="2366722"/>
                  </a:lnTo>
                  <a:lnTo>
                    <a:pt x="133077" y="2346845"/>
                  </a:lnTo>
                  <a:lnTo>
                    <a:pt x="95572" y="2320332"/>
                  </a:lnTo>
                  <a:lnTo>
                    <a:pt x="63187" y="2287942"/>
                  </a:lnTo>
                  <a:lnTo>
                    <a:pt x="36679" y="2250436"/>
                  </a:lnTo>
                  <a:lnTo>
                    <a:pt x="16807" y="2208571"/>
                  </a:lnTo>
                  <a:lnTo>
                    <a:pt x="4328" y="2163107"/>
                  </a:lnTo>
                  <a:lnTo>
                    <a:pt x="0" y="2114804"/>
                  </a:lnTo>
                  <a:lnTo>
                    <a:pt x="0" y="268731"/>
                  </a:lnTo>
                  <a:close/>
                </a:path>
              </a:pathLst>
            </a:custGeom>
            <a:ln w="22860">
              <a:solidFill>
                <a:srgbClr val="0F214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63874" y="4310634"/>
              <a:ext cx="1422400" cy="483234"/>
            </a:xfrm>
            <a:custGeom>
              <a:avLst/>
              <a:gdLst/>
              <a:ahLst/>
              <a:cxnLst/>
              <a:rect l="l" t="t" r="r" b="b"/>
              <a:pathLst>
                <a:path w="1422400" h="483235">
                  <a:moveTo>
                    <a:pt x="1421891" y="0"/>
                  </a:moveTo>
                  <a:lnTo>
                    <a:pt x="0" y="0"/>
                  </a:lnTo>
                  <a:lnTo>
                    <a:pt x="0" y="483107"/>
                  </a:lnTo>
                  <a:lnTo>
                    <a:pt x="1421891" y="483107"/>
                  </a:lnTo>
                  <a:lnTo>
                    <a:pt x="1421891" y="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63874" y="4310634"/>
              <a:ext cx="1422400" cy="483234"/>
            </a:xfrm>
            <a:custGeom>
              <a:avLst/>
              <a:gdLst/>
              <a:ahLst/>
              <a:cxnLst/>
              <a:rect l="l" t="t" r="r" b="b"/>
              <a:pathLst>
                <a:path w="1422400" h="483235">
                  <a:moveTo>
                    <a:pt x="0" y="483107"/>
                  </a:moveTo>
                  <a:lnTo>
                    <a:pt x="1421891" y="483107"/>
                  </a:lnTo>
                  <a:lnTo>
                    <a:pt x="1421891" y="0"/>
                  </a:lnTo>
                  <a:lnTo>
                    <a:pt x="0" y="0"/>
                  </a:lnTo>
                  <a:lnTo>
                    <a:pt x="0" y="483107"/>
                  </a:lnTo>
                  <a:close/>
                </a:path>
              </a:pathLst>
            </a:custGeom>
            <a:ln w="22860">
              <a:solidFill>
                <a:srgbClr val="2F68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800602" y="4291076"/>
            <a:ext cx="9467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335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Segoe UI Symbol"/>
                <a:cs typeface="Segoe UI Symbol"/>
              </a:rPr>
              <a:t>Topic1 </a:t>
            </a:r>
            <a:r>
              <a:rPr sz="1600" dirty="0">
                <a:solidFill>
                  <a:srgbClr val="FFFFFF"/>
                </a:solidFill>
                <a:latin typeface="Segoe UI Symbol"/>
                <a:cs typeface="Segoe UI Symbol"/>
              </a:rPr>
              <a:t>Partition</a:t>
            </a:r>
            <a:r>
              <a:rPr sz="1600" spc="-50" dirty="0">
                <a:solidFill>
                  <a:srgbClr val="FFFFFF"/>
                </a:solidFill>
                <a:latin typeface="Segoe UI Symbol"/>
                <a:cs typeface="Segoe UI Symbol"/>
              </a:rPr>
              <a:t> 1</a:t>
            </a:r>
            <a:endParaRPr sz="1600">
              <a:latin typeface="Segoe UI Symbol"/>
              <a:cs typeface="Segoe UI 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83508" y="3866388"/>
            <a:ext cx="3470275" cy="2406650"/>
            <a:chOff x="3683508" y="3866388"/>
            <a:chExt cx="3470275" cy="2406650"/>
          </a:xfrm>
        </p:grpSpPr>
        <p:sp>
          <p:nvSpPr>
            <p:cNvPr id="12" name="object 12"/>
            <p:cNvSpPr/>
            <p:nvPr/>
          </p:nvSpPr>
          <p:spPr>
            <a:xfrm>
              <a:off x="3683508" y="4309872"/>
              <a:ext cx="253365" cy="274320"/>
            </a:xfrm>
            <a:custGeom>
              <a:avLst/>
              <a:gdLst/>
              <a:ahLst/>
              <a:cxnLst/>
              <a:rect l="l" t="t" r="r" b="b"/>
              <a:pathLst>
                <a:path w="253364" h="274320">
                  <a:moveTo>
                    <a:pt x="126491" y="0"/>
                  </a:moveTo>
                  <a:lnTo>
                    <a:pt x="96646" y="104775"/>
                  </a:lnTo>
                  <a:lnTo>
                    <a:pt x="0" y="104775"/>
                  </a:lnTo>
                  <a:lnTo>
                    <a:pt x="78231" y="169544"/>
                  </a:lnTo>
                  <a:lnTo>
                    <a:pt x="48259" y="274319"/>
                  </a:lnTo>
                  <a:lnTo>
                    <a:pt x="126491" y="209550"/>
                  </a:lnTo>
                  <a:lnTo>
                    <a:pt x="204724" y="274319"/>
                  </a:lnTo>
                  <a:lnTo>
                    <a:pt x="174751" y="169544"/>
                  </a:lnTo>
                  <a:lnTo>
                    <a:pt x="252983" y="104775"/>
                  </a:lnTo>
                  <a:lnTo>
                    <a:pt x="156337" y="104775"/>
                  </a:lnTo>
                  <a:lnTo>
                    <a:pt x="1264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28310" y="3877818"/>
              <a:ext cx="1614170" cy="2383790"/>
            </a:xfrm>
            <a:custGeom>
              <a:avLst/>
              <a:gdLst/>
              <a:ahLst/>
              <a:cxnLst/>
              <a:rect l="l" t="t" r="r" b="b"/>
              <a:pathLst>
                <a:path w="1614170" h="2383790">
                  <a:moveTo>
                    <a:pt x="0" y="268985"/>
                  </a:moveTo>
                  <a:lnTo>
                    <a:pt x="4332" y="220626"/>
                  </a:lnTo>
                  <a:lnTo>
                    <a:pt x="16824" y="175114"/>
                  </a:lnTo>
                  <a:lnTo>
                    <a:pt x="36717" y="133208"/>
                  </a:lnTo>
                  <a:lnTo>
                    <a:pt x="63251" y="95668"/>
                  </a:lnTo>
                  <a:lnTo>
                    <a:pt x="95668" y="63251"/>
                  </a:lnTo>
                  <a:lnTo>
                    <a:pt x="133208" y="36717"/>
                  </a:lnTo>
                  <a:lnTo>
                    <a:pt x="175114" y="16824"/>
                  </a:lnTo>
                  <a:lnTo>
                    <a:pt x="220626" y="4332"/>
                  </a:lnTo>
                  <a:lnTo>
                    <a:pt x="268986" y="0"/>
                  </a:lnTo>
                  <a:lnTo>
                    <a:pt x="1344930" y="0"/>
                  </a:lnTo>
                  <a:lnTo>
                    <a:pt x="1393289" y="4332"/>
                  </a:lnTo>
                  <a:lnTo>
                    <a:pt x="1438801" y="16824"/>
                  </a:lnTo>
                  <a:lnTo>
                    <a:pt x="1480707" y="36717"/>
                  </a:lnTo>
                  <a:lnTo>
                    <a:pt x="1518247" y="63251"/>
                  </a:lnTo>
                  <a:lnTo>
                    <a:pt x="1550664" y="95668"/>
                  </a:lnTo>
                  <a:lnTo>
                    <a:pt x="1577198" y="133208"/>
                  </a:lnTo>
                  <a:lnTo>
                    <a:pt x="1597091" y="175114"/>
                  </a:lnTo>
                  <a:lnTo>
                    <a:pt x="1609583" y="220626"/>
                  </a:lnTo>
                  <a:lnTo>
                    <a:pt x="1613915" y="268985"/>
                  </a:lnTo>
                  <a:lnTo>
                    <a:pt x="1613915" y="2114537"/>
                  </a:lnTo>
                  <a:lnTo>
                    <a:pt x="1609583" y="2162890"/>
                  </a:lnTo>
                  <a:lnTo>
                    <a:pt x="1597091" y="2208399"/>
                  </a:lnTo>
                  <a:lnTo>
                    <a:pt x="1577198" y="2250306"/>
                  </a:lnTo>
                  <a:lnTo>
                    <a:pt x="1550664" y="2287850"/>
                  </a:lnTo>
                  <a:lnTo>
                    <a:pt x="1518247" y="2320271"/>
                  </a:lnTo>
                  <a:lnTo>
                    <a:pt x="1480707" y="2346809"/>
                  </a:lnTo>
                  <a:lnTo>
                    <a:pt x="1438801" y="2366706"/>
                  </a:lnTo>
                  <a:lnTo>
                    <a:pt x="1393289" y="2379202"/>
                  </a:lnTo>
                  <a:lnTo>
                    <a:pt x="1344930" y="2383535"/>
                  </a:lnTo>
                  <a:lnTo>
                    <a:pt x="268986" y="2383535"/>
                  </a:lnTo>
                  <a:lnTo>
                    <a:pt x="220626" y="2379202"/>
                  </a:lnTo>
                  <a:lnTo>
                    <a:pt x="175114" y="2366706"/>
                  </a:lnTo>
                  <a:lnTo>
                    <a:pt x="133208" y="2346809"/>
                  </a:lnTo>
                  <a:lnTo>
                    <a:pt x="95668" y="2320271"/>
                  </a:lnTo>
                  <a:lnTo>
                    <a:pt x="63251" y="2287850"/>
                  </a:lnTo>
                  <a:lnTo>
                    <a:pt x="36717" y="2250306"/>
                  </a:lnTo>
                  <a:lnTo>
                    <a:pt x="16824" y="2208399"/>
                  </a:lnTo>
                  <a:lnTo>
                    <a:pt x="4332" y="2162890"/>
                  </a:lnTo>
                  <a:lnTo>
                    <a:pt x="0" y="2114537"/>
                  </a:lnTo>
                  <a:lnTo>
                    <a:pt x="0" y="268985"/>
                  </a:lnTo>
                  <a:close/>
                </a:path>
              </a:pathLst>
            </a:custGeom>
            <a:ln w="22860">
              <a:solidFill>
                <a:srgbClr val="0F214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24322" y="4310634"/>
              <a:ext cx="1422400" cy="483234"/>
            </a:xfrm>
            <a:custGeom>
              <a:avLst/>
              <a:gdLst/>
              <a:ahLst/>
              <a:cxnLst/>
              <a:rect l="l" t="t" r="r" b="b"/>
              <a:pathLst>
                <a:path w="1422400" h="483235">
                  <a:moveTo>
                    <a:pt x="1421892" y="0"/>
                  </a:moveTo>
                  <a:lnTo>
                    <a:pt x="0" y="0"/>
                  </a:lnTo>
                  <a:lnTo>
                    <a:pt x="0" y="483107"/>
                  </a:lnTo>
                  <a:lnTo>
                    <a:pt x="1421892" y="483107"/>
                  </a:lnTo>
                  <a:lnTo>
                    <a:pt x="1421892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24322" y="4310634"/>
              <a:ext cx="1422400" cy="483234"/>
            </a:xfrm>
            <a:custGeom>
              <a:avLst/>
              <a:gdLst/>
              <a:ahLst/>
              <a:cxnLst/>
              <a:rect l="l" t="t" r="r" b="b"/>
              <a:pathLst>
                <a:path w="1422400" h="483235">
                  <a:moveTo>
                    <a:pt x="0" y="483107"/>
                  </a:moveTo>
                  <a:lnTo>
                    <a:pt x="1421892" y="483107"/>
                  </a:lnTo>
                  <a:lnTo>
                    <a:pt x="1421892" y="0"/>
                  </a:lnTo>
                  <a:lnTo>
                    <a:pt x="0" y="0"/>
                  </a:lnTo>
                  <a:lnTo>
                    <a:pt x="0" y="483107"/>
                  </a:lnTo>
                  <a:close/>
                </a:path>
              </a:pathLst>
            </a:custGeom>
            <a:ln w="22860">
              <a:solidFill>
                <a:srgbClr val="2F68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563873" y="5001005"/>
            <a:ext cx="1422400" cy="483234"/>
          </a:xfrm>
          <a:prstGeom prst="rect">
            <a:avLst/>
          </a:prstGeom>
          <a:solidFill>
            <a:srgbClr val="D2D2D2"/>
          </a:solidFill>
          <a:ln w="22859">
            <a:solidFill>
              <a:srgbClr val="6C747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8920" marR="243840" indent="173355">
              <a:lnSpc>
                <a:spcPts val="1920"/>
              </a:lnSpc>
            </a:pPr>
            <a:r>
              <a:rPr sz="1600" spc="-10" dirty="0">
                <a:solidFill>
                  <a:srgbClr val="FFFFFF"/>
                </a:solidFill>
                <a:latin typeface="Segoe UI Symbol"/>
                <a:cs typeface="Segoe UI Symbol"/>
              </a:rPr>
              <a:t>Topic1 </a:t>
            </a:r>
            <a:r>
              <a:rPr sz="1600" dirty="0">
                <a:solidFill>
                  <a:srgbClr val="FFFFFF"/>
                </a:solidFill>
                <a:latin typeface="Segoe UI Symbol"/>
                <a:cs typeface="Segoe UI Symbol"/>
              </a:rPr>
              <a:t>Partition</a:t>
            </a:r>
            <a:r>
              <a:rPr sz="1600" spc="-50" dirty="0">
                <a:solidFill>
                  <a:srgbClr val="FFFFFF"/>
                </a:solidFill>
                <a:latin typeface="Segoe UI Symbol"/>
                <a:cs typeface="Segoe UI Symbol"/>
              </a:rPr>
              <a:t> 2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73500" y="3495547"/>
            <a:ext cx="861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ymbol"/>
                <a:cs typeface="Segoe UI Symbol"/>
              </a:rPr>
              <a:t>Broker</a:t>
            </a:r>
            <a:r>
              <a:rPr sz="1800" spc="-110" dirty="0">
                <a:latin typeface="Segoe UI Symbol"/>
                <a:cs typeface="Segoe UI Symbol"/>
              </a:rPr>
              <a:t> </a:t>
            </a:r>
            <a:r>
              <a:rPr sz="1800" spc="-50" dirty="0">
                <a:latin typeface="Segoe UI Symbol"/>
                <a:cs typeface="Segoe UI Symbol"/>
              </a:rPr>
              <a:t>1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61684" y="4291076"/>
            <a:ext cx="9467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335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Segoe UI Symbol"/>
                <a:cs typeface="Segoe UI Symbol"/>
              </a:rPr>
              <a:t>Topic1 </a:t>
            </a:r>
            <a:r>
              <a:rPr sz="1600" dirty="0">
                <a:solidFill>
                  <a:srgbClr val="FFFFFF"/>
                </a:solidFill>
                <a:latin typeface="Segoe UI Symbol"/>
                <a:cs typeface="Segoe UI Symbol"/>
              </a:rPr>
              <a:t>Partition</a:t>
            </a:r>
            <a:r>
              <a:rPr sz="1600" spc="-50" dirty="0">
                <a:solidFill>
                  <a:srgbClr val="FFFFFF"/>
                </a:solidFill>
                <a:latin typeface="Segoe UI Symbol"/>
                <a:cs typeface="Segoe UI Symbol"/>
              </a:rPr>
              <a:t> 1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24321" y="5001005"/>
            <a:ext cx="1422400" cy="483234"/>
          </a:xfrm>
          <a:custGeom>
            <a:avLst/>
            <a:gdLst/>
            <a:ahLst/>
            <a:cxnLst/>
            <a:rect l="l" t="t" r="r" b="b"/>
            <a:pathLst>
              <a:path w="1422400" h="483235">
                <a:moveTo>
                  <a:pt x="1421892" y="0"/>
                </a:moveTo>
                <a:lnTo>
                  <a:pt x="0" y="0"/>
                </a:lnTo>
                <a:lnTo>
                  <a:pt x="0" y="483108"/>
                </a:lnTo>
                <a:lnTo>
                  <a:pt x="1421892" y="483108"/>
                </a:lnTo>
                <a:lnTo>
                  <a:pt x="1421892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624321" y="5001005"/>
            <a:ext cx="1422400" cy="483234"/>
          </a:xfrm>
          <a:prstGeom prst="rect">
            <a:avLst/>
          </a:prstGeom>
          <a:ln w="22859">
            <a:solidFill>
              <a:srgbClr val="2F688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9554" marR="243204" indent="173355">
              <a:lnSpc>
                <a:spcPts val="1920"/>
              </a:lnSpc>
            </a:pPr>
            <a:r>
              <a:rPr sz="1600" spc="-10" dirty="0">
                <a:solidFill>
                  <a:srgbClr val="FFFFFF"/>
                </a:solidFill>
                <a:latin typeface="Segoe UI Symbol"/>
                <a:cs typeface="Segoe UI Symbol"/>
              </a:rPr>
              <a:t>Topic1 </a:t>
            </a:r>
            <a:r>
              <a:rPr sz="1600" dirty="0">
                <a:solidFill>
                  <a:srgbClr val="FFFFFF"/>
                </a:solidFill>
                <a:latin typeface="Segoe UI Symbol"/>
                <a:cs typeface="Segoe UI Symbol"/>
              </a:rPr>
              <a:t>Partition</a:t>
            </a:r>
            <a:r>
              <a:rPr sz="1600" spc="-50" dirty="0">
                <a:solidFill>
                  <a:srgbClr val="FFFFFF"/>
                </a:solidFill>
                <a:latin typeface="Segoe UI Symbol"/>
                <a:cs typeface="Segoe UI Symbol"/>
              </a:rPr>
              <a:t> 2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34202" y="3495547"/>
            <a:ext cx="861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ymbol"/>
                <a:cs typeface="Segoe UI Symbol"/>
              </a:rPr>
              <a:t>Broker</a:t>
            </a:r>
            <a:r>
              <a:rPr sz="1800" spc="-110" dirty="0">
                <a:latin typeface="Segoe UI Symbol"/>
                <a:cs typeface="Segoe UI Symbol"/>
              </a:rPr>
              <a:t> </a:t>
            </a:r>
            <a:r>
              <a:rPr sz="1800" spc="-50" dirty="0">
                <a:latin typeface="Segoe UI Symbol"/>
                <a:cs typeface="Segoe UI Symbol"/>
              </a:rPr>
              <a:t>2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617714" y="3877817"/>
            <a:ext cx="1612900" cy="2383790"/>
          </a:xfrm>
          <a:custGeom>
            <a:avLst/>
            <a:gdLst/>
            <a:ahLst/>
            <a:cxnLst/>
            <a:rect l="l" t="t" r="r" b="b"/>
            <a:pathLst>
              <a:path w="1612900" h="2383790">
                <a:moveTo>
                  <a:pt x="0" y="268731"/>
                </a:moveTo>
                <a:lnTo>
                  <a:pt x="4328" y="220414"/>
                </a:lnTo>
                <a:lnTo>
                  <a:pt x="16807" y="174943"/>
                </a:lnTo>
                <a:lnTo>
                  <a:pt x="36679" y="133077"/>
                </a:lnTo>
                <a:lnTo>
                  <a:pt x="63187" y="95572"/>
                </a:lnTo>
                <a:lnTo>
                  <a:pt x="95572" y="63187"/>
                </a:lnTo>
                <a:lnTo>
                  <a:pt x="133077" y="36679"/>
                </a:lnTo>
                <a:lnTo>
                  <a:pt x="174943" y="16807"/>
                </a:lnTo>
                <a:lnTo>
                  <a:pt x="220414" y="4328"/>
                </a:lnTo>
                <a:lnTo>
                  <a:pt x="268731" y="0"/>
                </a:lnTo>
                <a:lnTo>
                  <a:pt x="1343659" y="0"/>
                </a:lnTo>
                <a:lnTo>
                  <a:pt x="1391977" y="4328"/>
                </a:lnTo>
                <a:lnTo>
                  <a:pt x="1437448" y="16807"/>
                </a:lnTo>
                <a:lnTo>
                  <a:pt x="1479314" y="36679"/>
                </a:lnTo>
                <a:lnTo>
                  <a:pt x="1516819" y="63187"/>
                </a:lnTo>
                <a:lnTo>
                  <a:pt x="1549204" y="95572"/>
                </a:lnTo>
                <a:lnTo>
                  <a:pt x="1575712" y="133077"/>
                </a:lnTo>
                <a:lnTo>
                  <a:pt x="1595584" y="174943"/>
                </a:lnTo>
                <a:lnTo>
                  <a:pt x="1608063" y="220414"/>
                </a:lnTo>
                <a:lnTo>
                  <a:pt x="1612391" y="268731"/>
                </a:lnTo>
                <a:lnTo>
                  <a:pt x="1612391" y="2114804"/>
                </a:lnTo>
                <a:lnTo>
                  <a:pt x="1608063" y="2163107"/>
                </a:lnTo>
                <a:lnTo>
                  <a:pt x="1595584" y="2208571"/>
                </a:lnTo>
                <a:lnTo>
                  <a:pt x="1575712" y="2250436"/>
                </a:lnTo>
                <a:lnTo>
                  <a:pt x="1549204" y="2287942"/>
                </a:lnTo>
                <a:lnTo>
                  <a:pt x="1516819" y="2320332"/>
                </a:lnTo>
                <a:lnTo>
                  <a:pt x="1479314" y="2346845"/>
                </a:lnTo>
                <a:lnTo>
                  <a:pt x="1437448" y="2366722"/>
                </a:lnTo>
                <a:lnTo>
                  <a:pt x="1391977" y="2379206"/>
                </a:lnTo>
                <a:lnTo>
                  <a:pt x="1343659" y="2383535"/>
                </a:lnTo>
                <a:lnTo>
                  <a:pt x="268731" y="2383535"/>
                </a:lnTo>
                <a:lnTo>
                  <a:pt x="220414" y="2379206"/>
                </a:lnTo>
                <a:lnTo>
                  <a:pt x="174943" y="2366722"/>
                </a:lnTo>
                <a:lnTo>
                  <a:pt x="133077" y="2346845"/>
                </a:lnTo>
                <a:lnTo>
                  <a:pt x="95572" y="2320332"/>
                </a:lnTo>
                <a:lnTo>
                  <a:pt x="63187" y="2287942"/>
                </a:lnTo>
                <a:lnTo>
                  <a:pt x="36679" y="2250436"/>
                </a:lnTo>
                <a:lnTo>
                  <a:pt x="16807" y="2208571"/>
                </a:lnTo>
                <a:lnTo>
                  <a:pt x="4328" y="2163107"/>
                </a:lnTo>
                <a:lnTo>
                  <a:pt x="0" y="2114804"/>
                </a:lnTo>
                <a:lnTo>
                  <a:pt x="0" y="268731"/>
                </a:lnTo>
                <a:close/>
              </a:path>
            </a:pathLst>
          </a:custGeom>
          <a:ln w="22860">
            <a:solidFill>
              <a:srgbClr val="0F214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712202" y="4310634"/>
            <a:ext cx="1422400" cy="483234"/>
          </a:xfrm>
          <a:prstGeom prst="rect">
            <a:avLst/>
          </a:prstGeom>
          <a:solidFill>
            <a:srgbClr val="D2D2D2"/>
          </a:solidFill>
          <a:ln w="22859">
            <a:solidFill>
              <a:srgbClr val="2F688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0190" marR="242570" indent="173355">
              <a:lnSpc>
                <a:spcPts val="1920"/>
              </a:lnSpc>
            </a:pPr>
            <a:r>
              <a:rPr sz="1600" spc="-10" dirty="0">
                <a:solidFill>
                  <a:srgbClr val="FFFFFF"/>
                </a:solidFill>
                <a:latin typeface="Segoe UI Symbol"/>
                <a:cs typeface="Segoe UI Symbol"/>
              </a:rPr>
              <a:t>Topic1 </a:t>
            </a:r>
            <a:r>
              <a:rPr sz="1600" dirty="0">
                <a:solidFill>
                  <a:srgbClr val="FFFFFF"/>
                </a:solidFill>
                <a:latin typeface="Segoe UI Symbol"/>
                <a:cs typeface="Segoe UI Symbol"/>
              </a:rPr>
              <a:t>Partition</a:t>
            </a:r>
            <a:r>
              <a:rPr sz="1600" spc="-50" dirty="0">
                <a:solidFill>
                  <a:srgbClr val="FFFFFF"/>
                </a:solidFill>
                <a:latin typeface="Segoe UI Symbol"/>
                <a:cs typeface="Segoe UI Symbol"/>
              </a:rPr>
              <a:t> 1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12202" y="5001005"/>
            <a:ext cx="1422400" cy="483234"/>
          </a:xfrm>
          <a:prstGeom prst="rect">
            <a:avLst/>
          </a:prstGeom>
          <a:solidFill>
            <a:srgbClr val="D2D2D2"/>
          </a:solidFill>
          <a:ln w="22859">
            <a:solidFill>
              <a:srgbClr val="2F688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0190" marR="242570" indent="173355">
              <a:lnSpc>
                <a:spcPts val="1920"/>
              </a:lnSpc>
            </a:pPr>
            <a:r>
              <a:rPr sz="1600" spc="-10" dirty="0">
                <a:solidFill>
                  <a:srgbClr val="FFFFFF"/>
                </a:solidFill>
                <a:latin typeface="Segoe UI Symbol"/>
                <a:cs typeface="Segoe UI Symbol"/>
              </a:rPr>
              <a:t>Topic1 </a:t>
            </a:r>
            <a:r>
              <a:rPr sz="1600" dirty="0">
                <a:solidFill>
                  <a:srgbClr val="FFFFFF"/>
                </a:solidFill>
                <a:latin typeface="Segoe UI Symbol"/>
                <a:cs typeface="Segoe UI Symbol"/>
              </a:rPr>
              <a:t>Partition</a:t>
            </a:r>
            <a:r>
              <a:rPr sz="1600" spc="-50" dirty="0">
                <a:solidFill>
                  <a:srgbClr val="FFFFFF"/>
                </a:solidFill>
                <a:latin typeface="Segoe UI Symbol"/>
                <a:cs typeface="Segoe UI Symbol"/>
              </a:rPr>
              <a:t> 2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23097" y="3495547"/>
            <a:ext cx="861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ymbol"/>
                <a:cs typeface="Segoe UI Symbol"/>
              </a:rPr>
              <a:t>Broker</a:t>
            </a:r>
            <a:r>
              <a:rPr sz="1800" spc="-110" dirty="0">
                <a:latin typeface="Segoe UI Symbol"/>
                <a:cs typeface="Segoe UI Symbol"/>
              </a:rPr>
              <a:t> </a:t>
            </a:r>
            <a:r>
              <a:rPr sz="1800" spc="-50" dirty="0">
                <a:latin typeface="Segoe UI Symbol"/>
                <a:cs typeface="Segoe UI Symbol"/>
              </a:rPr>
              <a:t>3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727191" y="5000244"/>
            <a:ext cx="254635" cy="276225"/>
          </a:xfrm>
          <a:custGeom>
            <a:avLst/>
            <a:gdLst/>
            <a:ahLst/>
            <a:cxnLst/>
            <a:rect l="l" t="t" r="r" b="b"/>
            <a:pathLst>
              <a:path w="254635" h="276225">
                <a:moveTo>
                  <a:pt x="127254" y="0"/>
                </a:moveTo>
                <a:lnTo>
                  <a:pt x="97155" y="105409"/>
                </a:lnTo>
                <a:lnTo>
                  <a:pt x="0" y="105409"/>
                </a:lnTo>
                <a:lnTo>
                  <a:pt x="78612" y="170433"/>
                </a:lnTo>
                <a:lnTo>
                  <a:pt x="48641" y="275843"/>
                </a:lnTo>
                <a:lnTo>
                  <a:pt x="127254" y="210692"/>
                </a:lnTo>
                <a:lnTo>
                  <a:pt x="205867" y="275843"/>
                </a:lnTo>
                <a:lnTo>
                  <a:pt x="175895" y="170433"/>
                </a:lnTo>
                <a:lnTo>
                  <a:pt x="254508" y="105409"/>
                </a:lnTo>
                <a:lnTo>
                  <a:pt x="157353" y="105409"/>
                </a:lnTo>
                <a:lnTo>
                  <a:pt x="12725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2578354" y="3140710"/>
            <a:ext cx="3122930" cy="1507490"/>
            <a:chOff x="2578354" y="3140710"/>
            <a:chExt cx="3122930" cy="1507490"/>
          </a:xfrm>
        </p:grpSpPr>
        <p:sp>
          <p:nvSpPr>
            <p:cNvPr id="28" name="object 28"/>
            <p:cNvSpPr/>
            <p:nvPr/>
          </p:nvSpPr>
          <p:spPr>
            <a:xfrm>
              <a:off x="2578354" y="3140710"/>
              <a:ext cx="984250" cy="1449070"/>
            </a:xfrm>
            <a:custGeom>
              <a:avLst/>
              <a:gdLst/>
              <a:ahLst/>
              <a:cxnLst/>
              <a:rect l="l" t="t" r="r" b="b"/>
              <a:pathLst>
                <a:path w="984250" h="1449070">
                  <a:moveTo>
                    <a:pt x="908049" y="1372615"/>
                  </a:moveTo>
                  <a:lnTo>
                    <a:pt x="908049" y="1448815"/>
                  </a:lnTo>
                  <a:lnTo>
                    <a:pt x="971549" y="1417065"/>
                  </a:lnTo>
                  <a:lnTo>
                    <a:pt x="924306" y="1417065"/>
                  </a:lnTo>
                  <a:lnTo>
                    <a:pt x="927099" y="1414145"/>
                  </a:lnTo>
                  <a:lnTo>
                    <a:pt x="927099" y="1407159"/>
                  </a:lnTo>
                  <a:lnTo>
                    <a:pt x="924306" y="1404365"/>
                  </a:lnTo>
                  <a:lnTo>
                    <a:pt x="971549" y="1404365"/>
                  </a:lnTo>
                  <a:lnTo>
                    <a:pt x="908049" y="1372615"/>
                  </a:lnTo>
                  <a:close/>
                </a:path>
                <a:path w="984250" h="1449070">
                  <a:moveTo>
                    <a:pt x="9906" y="0"/>
                  </a:moveTo>
                  <a:lnTo>
                    <a:pt x="2793" y="0"/>
                  </a:lnTo>
                  <a:lnTo>
                    <a:pt x="0" y="2793"/>
                  </a:lnTo>
                  <a:lnTo>
                    <a:pt x="0" y="1414145"/>
                  </a:lnTo>
                  <a:lnTo>
                    <a:pt x="2793" y="1417065"/>
                  </a:lnTo>
                  <a:lnTo>
                    <a:pt x="908049" y="1417065"/>
                  </a:lnTo>
                  <a:lnTo>
                    <a:pt x="908049" y="1410715"/>
                  </a:lnTo>
                  <a:lnTo>
                    <a:pt x="12700" y="1410715"/>
                  </a:lnTo>
                  <a:lnTo>
                    <a:pt x="6350" y="1404365"/>
                  </a:lnTo>
                  <a:lnTo>
                    <a:pt x="12700" y="1404365"/>
                  </a:lnTo>
                  <a:lnTo>
                    <a:pt x="12700" y="2793"/>
                  </a:lnTo>
                  <a:lnTo>
                    <a:pt x="9906" y="0"/>
                  </a:lnTo>
                  <a:close/>
                </a:path>
                <a:path w="984250" h="1449070">
                  <a:moveTo>
                    <a:pt x="971549" y="1404365"/>
                  </a:moveTo>
                  <a:lnTo>
                    <a:pt x="924306" y="1404365"/>
                  </a:lnTo>
                  <a:lnTo>
                    <a:pt x="927099" y="1407159"/>
                  </a:lnTo>
                  <a:lnTo>
                    <a:pt x="927099" y="1414145"/>
                  </a:lnTo>
                  <a:lnTo>
                    <a:pt x="924306" y="1417065"/>
                  </a:lnTo>
                  <a:lnTo>
                    <a:pt x="971549" y="1417065"/>
                  </a:lnTo>
                  <a:lnTo>
                    <a:pt x="984249" y="1410715"/>
                  </a:lnTo>
                  <a:lnTo>
                    <a:pt x="971549" y="1404365"/>
                  </a:lnTo>
                  <a:close/>
                </a:path>
                <a:path w="984250" h="1449070">
                  <a:moveTo>
                    <a:pt x="12700" y="1404365"/>
                  </a:moveTo>
                  <a:lnTo>
                    <a:pt x="6350" y="1404365"/>
                  </a:lnTo>
                  <a:lnTo>
                    <a:pt x="12700" y="1410715"/>
                  </a:lnTo>
                  <a:lnTo>
                    <a:pt x="12700" y="1404365"/>
                  </a:lnTo>
                  <a:close/>
                </a:path>
                <a:path w="984250" h="1449070">
                  <a:moveTo>
                    <a:pt x="908049" y="1404365"/>
                  </a:moveTo>
                  <a:lnTo>
                    <a:pt x="12700" y="1404365"/>
                  </a:lnTo>
                  <a:lnTo>
                    <a:pt x="12700" y="1410715"/>
                  </a:lnTo>
                  <a:lnTo>
                    <a:pt x="908049" y="1410715"/>
                  </a:lnTo>
                  <a:lnTo>
                    <a:pt x="908049" y="1404365"/>
                  </a:lnTo>
                  <a:close/>
                </a:path>
              </a:pathLst>
            </a:custGeom>
            <a:solidFill>
              <a:srgbClr val="172C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47666" y="4427982"/>
              <a:ext cx="742315" cy="208915"/>
            </a:xfrm>
            <a:custGeom>
              <a:avLst/>
              <a:gdLst/>
              <a:ahLst/>
              <a:cxnLst/>
              <a:rect l="l" t="t" r="r" b="b"/>
              <a:pathLst>
                <a:path w="742314" h="208914">
                  <a:moveTo>
                    <a:pt x="637794" y="0"/>
                  </a:moveTo>
                  <a:lnTo>
                    <a:pt x="637794" y="52197"/>
                  </a:lnTo>
                  <a:lnTo>
                    <a:pt x="0" y="52197"/>
                  </a:lnTo>
                  <a:lnTo>
                    <a:pt x="0" y="156591"/>
                  </a:lnTo>
                  <a:lnTo>
                    <a:pt x="637794" y="156591"/>
                  </a:lnTo>
                  <a:lnTo>
                    <a:pt x="637794" y="208788"/>
                  </a:lnTo>
                  <a:lnTo>
                    <a:pt x="742188" y="104394"/>
                  </a:lnTo>
                  <a:lnTo>
                    <a:pt x="63779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47666" y="4427982"/>
              <a:ext cx="742315" cy="208915"/>
            </a:xfrm>
            <a:custGeom>
              <a:avLst/>
              <a:gdLst/>
              <a:ahLst/>
              <a:cxnLst/>
              <a:rect l="l" t="t" r="r" b="b"/>
              <a:pathLst>
                <a:path w="742314" h="208914">
                  <a:moveTo>
                    <a:pt x="0" y="52197"/>
                  </a:moveTo>
                  <a:lnTo>
                    <a:pt x="637794" y="52197"/>
                  </a:lnTo>
                  <a:lnTo>
                    <a:pt x="637794" y="0"/>
                  </a:lnTo>
                  <a:lnTo>
                    <a:pt x="742188" y="104394"/>
                  </a:lnTo>
                  <a:lnTo>
                    <a:pt x="637794" y="208788"/>
                  </a:lnTo>
                  <a:lnTo>
                    <a:pt x="637794" y="156591"/>
                  </a:lnTo>
                  <a:lnTo>
                    <a:pt x="0" y="156591"/>
                  </a:lnTo>
                  <a:lnTo>
                    <a:pt x="0" y="52197"/>
                  </a:lnTo>
                  <a:close/>
                </a:path>
              </a:pathLst>
            </a:custGeom>
            <a:ln w="22860">
              <a:solidFill>
                <a:srgbClr val="0F21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4689347" y="3294888"/>
            <a:ext cx="3415665" cy="1007744"/>
            <a:chOff x="4689347" y="3294888"/>
            <a:chExt cx="3415665" cy="1007744"/>
          </a:xfrm>
        </p:grpSpPr>
        <p:sp>
          <p:nvSpPr>
            <p:cNvPr id="32" name="object 32"/>
            <p:cNvSpPr/>
            <p:nvPr/>
          </p:nvSpPr>
          <p:spPr>
            <a:xfrm>
              <a:off x="6236842" y="3306318"/>
              <a:ext cx="1856739" cy="984885"/>
            </a:xfrm>
            <a:custGeom>
              <a:avLst/>
              <a:gdLst/>
              <a:ahLst/>
              <a:cxnLst/>
              <a:rect l="l" t="t" r="r" b="b"/>
              <a:pathLst>
                <a:path w="1856740" h="984885">
                  <a:moveTo>
                    <a:pt x="245999" y="0"/>
                  </a:moveTo>
                  <a:lnTo>
                    <a:pt x="0" y="0"/>
                  </a:lnTo>
                  <a:lnTo>
                    <a:pt x="58154" y="699"/>
                  </a:lnTo>
                  <a:lnTo>
                    <a:pt x="115852" y="2782"/>
                  </a:lnTo>
                  <a:lnTo>
                    <a:pt x="173050" y="6226"/>
                  </a:lnTo>
                  <a:lnTo>
                    <a:pt x="229703" y="11009"/>
                  </a:lnTo>
                  <a:lnTo>
                    <a:pt x="285766" y="17110"/>
                  </a:lnTo>
                  <a:lnTo>
                    <a:pt x="341194" y="24505"/>
                  </a:lnTo>
                  <a:lnTo>
                    <a:pt x="395944" y="33173"/>
                  </a:lnTo>
                  <a:lnTo>
                    <a:pt x="449969" y="43092"/>
                  </a:lnTo>
                  <a:lnTo>
                    <a:pt x="503225" y="54238"/>
                  </a:lnTo>
                  <a:lnTo>
                    <a:pt x="555668" y="66591"/>
                  </a:lnTo>
                  <a:lnTo>
                    <a:pt x="607253" y="80128"/>
                  </a:lnTo>
                  <a:lnTo>
                    <a:pt x="657935" y="94826"/>
                  </a:lnTo>
                  <a:lnTo>
                    <a:pt x="707669" y="110664"/>
                  </a:lnTo>
                  <a:lnTo>
                    <a:pt x="756411" y="127619"/>
                  </a:lnTo>
                  <a:lnTo>
                    <a:pt x="804116" y="145669"/>
                  </a:lnTo>
                  <a:lnTo>
                    <a:pt x="850739" y="164792"/>
                  </a:lnTo>
                  <a:lnTo>
                    <a:pt x="896236" y="184966"/>
                  </a:lnTo>
                  <a:lnTo>
                    <a:pt x="940561" y="206168"/>
                  </a:lnTo>
                  <a:lnTo>
                    <a:pt x="983671" y="228377"/>
                  </a:lnTo>
                  <a:lnTo>
                    <a:pt x="1025520" y="251569"/>
                  </a:lnTo>
                  <a:lnTo>
                    <a:pt x="1066064" y="275724"/>
                  </a:lnTo>
                  <a:lnTo>
                    <a:pt x="1105257" y="300818"/>
                  </a:lnTo>
                  <a:lnTo>
                    <a:pt x="1143056" y="326830"/>
                  </a:lnTo>
                  <a:lnTo>
                    <a:pt x="1179416" y="353737"/>
                  </a:lnTo>
                  <a:lnTo>
                    <a:pt x="1214291" y="381517"/>
                  </a:lnTo>
                  <a:lnTo>
                    <a:pt x="1247637" y="410148"/>
                  </a:lnTo>
                  <a:lnTo>
                    <a:pt x="1279409" y="439608"/>
                  </a:lnTo>
                  <a:lnTo>
                    <a:pt x="1309564" y="469874"/>
                  </a:lnTo>
                  <a:lnTo>
                    <a:pt x="1338055" y="500925"/>
                  </a:lnTo>
                  <a:lnTo>
                    <a:pt x="1364838" y="532738"/>
                  </a:lnTo>
                  <a:lnTo>
                    <a:pt x="1389869" y="565291"/>
                  </a:lnTo>
                  <a:lnTo>
                    <a:pt x="1413102" y="598561"/>
                  </a:lnTo>
                  <a:lnTo>
                    <a:pt x="1434494" y="632528"/>
                  </a:lnTo>
                  <a:lnTo>
                    <a:pt x="1453999" y="667167"/>
                  </a:lnTo>
                  <a:lnTo>
                    <a:pt x="1471572" y="702458"/>
                  </a:lnTo>
                  <a:lnTo>
                    <a:pt x="1487170" y="738378"/>
                  </a:lnTo>
                  <a:lnTo>
                    <a:pt x="1364107" y="738378"/>
                  </a:lnTo>
                  <a:lnTo>
                    <a:pt x="1659001" y="984504"/>
                  </a:lnTo>
                  <a:lnTo>
                    <a:pt x="1856359" y="738378"/>
                  </a:lnTo>
                  <a:lnTo>
                    <a:pt x="1733296" y="738378"/>
                  </a:lnTo>
                  <a:lnTo>
                    <a:pt x="1717698" y="702458"/>
                  </a:lnTo>
                  <a:lnTo>
                    <a:pt x="1700125" y="667167"/>
                  </a:lnTo>
                  <a:lnTo>
                    <a:pt x="1680620" y="632528"/>
                  </a:lnTo>
                  <a:lnTo>
                    <a:pt x="1659228" y="598561"/>
                  </a:lnTo>
                  <a:lnTo>
                    <a:pt x="1635994" y="565291"/>
                  </a:lnTo>
                  <a:lnTo>
                    <a:pt x="1610963" y="532738"/>
                  </a:lnTo>
                  <a:lnTo>
                    <a:pt x="1584180" y="500925"/>
                  </a:lnTo>
                  <a:lnTo>
                    <a:pt x="1555688" y="469874"/>
                  </a:lnTo>
                  <a:lnTo>
                    <a:pt x="1525533" y="439608"/>
                  </a:lnTo>
                  <a:lnTo>
                    <a:pt x="1493760" y="410148"/>
                  </a:lnTo>
                  <a:lnTo>
                    <a:pt x="1460413" y="381517"/>
                  </a:lnTo>
                  <a:lnTo>
                    <a:pt x="1425537" y="353737"/>
                  </a:lnTo>
                  <a:lnTo>
                    <a:pt x="1389176" y="326830"/>
                  </a:lnTo>
                  <a:lnTo>
                    <a:pt x="1351376" y="300818"/>
                  </a:lnTo>
                  <a:lnTo>
                    <a:pt x="1312181" y="275724"/>
                  </a:lnTo>
                  <a:lnTo>
                    <a:pt x="1271635" y="251569"/>
                  </a:lnTo>
                  <a:lnTo>
                    <a:pt x="1229784" y="228377"/>
                  </a:lnTo>
                  <a:lnTo>
                    <a:pt x="1186672" y="206168"/>
                  </a:lnTo>
                  <a:lnTo>
                    <a:pt x="1142343" y="184966"/>
                  </a:lnTo>
                  <a:lnTo>
                    <a:pt x="1096843" y="164792"/>
                  </a:lnTo>
                  <a:lnTo>
                    <a:pt x="1050217" y="145669"/>
                  </a:lnTo>
                  <a:lnTo>
                    <a:pt x="1002508" y="127619"/>
                  </a:lnTo>
                  <a:lnTo>
                    <a:pt x="953762" y="110664"/>
                  </a:lnTo>
                  <a:lnTo>
                    <a:pt x="904023" y="94826"/>
                  </a:lnTo>
                  <a:lnTo>
                    <a:pt x="853336" y="80128"/>
                  </a:lnTo>
                  <a:lnTo>
                    <a:pt x="801746" y="66591"/>
                  </a:lnTo>
                  <a:lnTo>
                    <a:pt x="749298" y="54238"/>
                  </a:lnTo>
                  <a:lnTo>
                    <a:pt x="696035" y="43092"/>
                  </a:lnTo>
                  <a:lnTo>
                    <a:pt x="642003" y="33173"/>
                  </a:lnTo>
                  <a:lnTo>
                    <a:pt x="587247" y="24505"/>
                  </a:lnTo>
                  <a:lnTo>
                    <a:pt x="531811" y="17110"/>
                  </a:lnTo>
                  <a:lnTo>
                    <a:pt x="475740" y="11009"/>
                  </a:lnTo>
                  <a:lnTo>
                    <a:pt x="419078" y="6226"/>
                  </a:lnTo>
                  <a:lnTo>
                    <a:pt x="361871" y="2782"/>
                  </a:lnTo>
                  <a:lnTo>
                    <a:pt x="304163" y="699"/>
                  </a:lnTo>
                  <a:lnTo>
                    <a:pt x="24599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00777" y="3306318"/>
              <a:ext cx="1659255" cy="984885"/>
            </a:xfrm>
            <a:custGeom>
              <a:avLst/>
              <a:gdLst/>
              <a:ahLst/>
              <a:cxnLst/>
              <a:rect l="l" t="t" r="r" b="b"/>
              <a:pathLst>
                <a:path w="1659254" h="984885">
                  <a:moveTo>
                    <a:pt x="1535938" y="0"/>
                  </a:moveTo>
                  <a:lnTo>
                    <a:pt x="1477026" y="710"/>
                  </a:lnTo>
                  <a:lnTo>
                    <a:pt x="1418674" y="2826"/>
                  </a:lnTo>
                  <a:lnTo>
                    <a:pt x="1360923" y="6322"/>
                  </a:lnTo>
                  <a:lnTo>
                    <a:pt x="1303813" y="11171"/>
                  </a:lnTo>
                  <a:lnTo>
                    <a:pt x="1247383" y="17349"/>
                  </a:lnTo>
                  <a:lnTo>
                    <a:pt x="1191672" y="24829"/>
                  </a:lnTo>
                  <a:lnTo>
                    <a:pt x="1136721" y="33588"/>
                  </a:lnTo>
                  <a:lnTo>
                    <a:pt x="1082569" y="43598"/>
                  </a:lnTo>
                  <a:lnTo>
                    <a:pt x="1029257" y="54834"/>
                  </a:lnTo>
                  <a:lnTo>
                    <a:pt x="976823" y="67271"/>
                  </a:lnTo>
                  <a:lnTo>
                    <a:pt x="925309" y="80884"/>
                  </a:lnTo>
                  <a:lnTo>
                    <a:pt x="874752" y="95647"/>
                  </a:lnTo>
                  <a:lnTo>
                    <a:pt x="825194" y="111534"/>
                  </a:lnTo>
                  <a:lnTo>
                    <a:pt x="776675" y="128520"/>
                  </a:lnTo>
                  <a:lnTo>
                    <a:pt x="729233" y="146580"/>
                  </a:lnTo>
                  <a:lnTo>
                    <a:pt x="682908" y="165687"/>
                  </a:lnTo>
                  <a:lnTo>
                    <a:pt x="637742" y="185817"/>
                  </a:lnTo>
                  <a:lnTo>
                    <a:pt x="593772" y="206943"/>
                  </a:lnTo>
                  <a:lnTo>
                    <a:pt x="551040" y="229041"/>
                  </a:lnTo>
                  <a:lnTo>
                    <a:pt x="509584" y="252085"/>
                  </a:lnTo>
                  <a:lnTo>
                    <a:pt x="469445" y="276050"/>
                  </a:lnTo>
                  <a:lnTo>
                    <a:pt x="430662" y="300909"/>
                  </a:lnTo>
                  <a:lnTo>
                    <a:pt x="393275" y="326637"/>
                  </a:lnTo>
                  <a:lnTo>
                    <a:pt x="357324" y="353210"/>
                  </a:lnTo>
                  <a:lnTo>
                    <a:pt x="322849" y="380601"/>
                  </a:lnTo>
                  <a:lnTo>
                    <a:pt x="289890" y="408784"/>
                  </a:lnTo>
                  <a:lnTo>
                    <a:pt x="258486" y="437735"/>
                  </a:lnTo>
                  <a:lnTo>
                    <a:pt x="228676" y="467428"/>
                  </a:lnTo>
                  <a:lnTo>
                    <a:pt x="200502" y="497838"/>
                  </a:lnTo>
                  <a:lnTo>
                    <a:pt x="174002" y="528938"/>
                  </a:lnTo>
                  <a:lnTo>
                    <a:pt x="149217" y="560703"/>
                  </a:lnTo>
                  <a:lnTo>
                    <a:pt x="126186" y="593108"/>
                  </a:lnTo>
                  <a:lnTo>
                    <a:pt x="104949" y="626128"/>
                  </a:lnTo>
                  <a:lnTo>
                    <a:pt x="85546" y="659737"/>
                  </a:lnTo>
                  <a:lnTo>
                    <a:pt x="68016" y="693909"/>
                  </a:lnTo>
                  <a:lnTo>
                    <a:pt x="38736" y="763840"/>
                  </a:lnTo>
                  <a:lnTo>
                    <a:pt x="17428" y="835719"/>
                  </a:lnTo>
                  <a:lnTo>
                    <a:pt x="4410" y="909342"/>
                  </a:lnTo>
                  <a:lnTo>
                    <a:pt x="0" y="984504"/>
                  </a:lnTo>
                  <a:lnTo>
                    <a:pt x="246125" y="984504"/>
                  </a:lnTo>
                  <a:lnTo>
                    <a:pt x="247217" y="947119"/>
                  </a:lnTo>
                  <a:lnTo>
                    <a:pt x="250465" y="910067"/>
                  </a:lnTo>
                  <a:lnTo>
                    <a:pt x="263284" y="837067"/>
                  </a:lnTo>
                  <a:lnTo>
                    <a:pt x="284280" y="765713"/>
                  </a:lnTo>
                  <a:lnTo>
                    <a:pt x="313154" y="696213"/>
                  </a:lnTo>
                  <a:lnTo>
                    <a:pt x="330451" y="662223"/>
                  </a:lnTo>
                  <a:lnTo>
                    <a:pt x="349605" y="628776"/>
                  </a:lnTo>
                  <a:lnTo>
                    <a:pt x="370577" y="595896"/>
                  </a:lnTo>
                  <a:lnTo>
                    <a:pt x="393331" y="563611"/>
                  </a:lnTo>
                  <a:lnTo>
                    <a:pt x="417829" y="531946"/>
                  </a:lnTo>
                  <a:lnTo>
                    <a:pt x="444033" y="500927"/>
                  </a:lnTo>
                  <a:lnTo>
                    <a:pt x="471905" y="470581"/>
                  </a:lnTo>
                  <a:lnTo>
                    <a:pt x="501409" y="440933"/>
                  </a:lnTo>
                  <a:lnTo>
                    <a:pt x="532506" y="412010"/>
                  </a:lnTo>
                  <a:lnTo>
                    <a:pt x="565159" y="383838"/>
                  </a:lnTo>
                  <a:lnTo>
                    <a:pt x="599330" y="356443"/>
                  </a:lnTo>
                  <a:lnTo>
                    <a:pt x="634982" y="329851"/>
                  </a:lnTo>
                  <a:lnTo>
                    <a:pt x="672076" y="304088"/>
                  </a:lnTo>
                  <a:lnTo>
                    <a:pt x="710577" y="279181"/>
                  </a:lnTo>
                  <a:lnTo>
                    <a:pt x="750445" y="255155"/>
                  </a:lnTo>
                  <a:lnTo>
                    <a:pt x="791643" y="232036"/>
                  </a:lnTo>
                  <a:lnTo>
                    <a:pt x="834135" y="209851"/>
                  </a:lnTo>
                  <a:lnTo>
                    <a:pt x="877881" y="188626"/>
                  </a:lnTo>
                  <a:lnTo>
                    <a:pt x="922845" y="168386"/>
                  </a:lnTo>
                  <a:lnTo>
                    <a:pt x="968989" y="149159"/>
                  </a:lnTo>
                  <a:lnTo>
                    <a:pt x="1016275" y="130969"/>
                  </a:lnTo>
                  <a:lnTo>
                    <a:pt x="1064665" y="113844"/>
                  </a:lnTo>
                  <a:lnTo>
                    <a:pt x="1114123" y="97810"/>
                  </a:lnTo>
                  <a:lnTo>
                    <a:pt x="1164611" y="82891"/>
                  </a:lnTo>
                  <a:lnTo>
                    <a:pt x="1216091" y="69115"/>
                  </a:lnTo>
                  <a:lnTo>
                    <a:pt x="1268525" y="56508"/>
                  </a:lnTo>
                  <a:lnTo>
                    <a:pt x="1321875" y="45096"/>
                  </a:lnTo>
                  <a:lnTo>
                    <a:pt x="1376105" y="34904"/>
                  </a:lnTo>
                  <a:lnTo>
                    <a:pt x="1431177" y="25960"/>
                  </a:lnTo>
                  <a:lnTo>
                    <a:pt x="1487052" y="18289"/>
                  </a:lnTo>
                  <a:lnTo>
                    <a:pt x="1543695" y="11917"/>
                  </a:lnTo>
                  <a:lnTo>
                    <a:pt x="1601065" y="6870"/>
                  </a:lnTo>
                  <a:lnTo>
                    <a:pt x="1659001" y="3175"/>
                  </a:lnTo>
                  <a:lnTo>
                    <a:pt x="1628306" y="1768"/>
                  </a:lnTo>
                  <a:lnTo>
                    <a:pt x="1597564" y="777"/>
                  </a:lnTo>
                  <a:lnTo>
                    <a:pt x="1566775" y="192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00777" y="3306318"/>
              <a:ext cx="3392804" cy="984885"/>
            </a:xfrm>
            <a:custGeom>
              <a:avLst/>
              <a:gdLst/>
              <a:ahLst/>
              <a:cxnLst/>
              <a:rect l="l" t="t" r="r" b="b"/>
              <a:pathLst>
                <a:path w="3392804" h="984885">
                  <a:moveTo>
                    <a:pt x="1659127" y="3175"/>
                  </a:moveTo>
                  <a:lnTo>
                    <a:pt x="1601065" y="6870"/>
                  </a:lnTo>
                  <a:lnTo>
                    <a:pt x="1543695" y="11917"/>
                  </a:lnTo>
                  <a:lnTo>
                    <a:pt x="1487052" y="18289"/>
                  </a:lnTo>
                  <a:lnTo>
                    <a:pt x="1431177" y="25960"/>
                  </a:lnTo>
                  <a:lnTo>
                    <a:pt x="1376105" y="34904"/>
                  </a:lnTo>
                  <a:lnTo>
                    <a:pt x="1321875" y="45096"/>
                  </a:lnTo>
                  <a:lnTo>
                    <a:pt x="1268525" y="56508"/>
                  </a:lnTo>
                  <a:lnTo>
                    <a:pt x="1216091" y="69115"/>
                  </a:lnTo>
                  <a:lnTo>
                    <a:pt x="1164611" y="82891"/>
                  </a:lnTo>
                  <a:lnTo>
                    <a:pt x="1114123" y="97810"/>
                  </a:lnTo>
                  <a:lnTo>
                    <a:pt x="1064665" y="113844"/>
                  </a:lnTo>
                  <a:lnTo>
                    <a:pt x="1016275" y="130969"/>
                  </a:lnTo>
                  <a:lnTo>
                    <a:pt x="968989" y="149159"/>
                  </a:lnTo>
                  <a:lnTo>
                    <a:pt x="922845" y="168386"/>
                  </a:lnTo>
                  <a:lnTo>
                    <a:pt x="877881" y="188626"/>
                  </a:lnTo>
                  <a:lnTo>
                    <a:pt x="834135" y="209851"/>
                  </a:lnTo>
                  <a:lnTo>
                    <a:pt x="791643" y="232036"/>
                  </a:lnTo>
                  <a:lnTo>
                    <a:pt x="750445" y="255155"/>
                  </a:lnTo>
                  <a:lnTo>
                    <a:pt x="710577" y="279181"/>
                  </a:lnTo>
                  <a:lnTo>
                    <a:pt x="672076" y="304088"/>
                  </a:lnTo>
                  <a:lnTo>
                    <a:pt x="634982" y="329851"/>
                  </a:lnTo>
                  <a:lnTo>
                    <a:pt x="599330" y="356443"/>
                  </a:lnTo>
                  <a:lnTo>
                    <a:pt x="565159" y="383838"/>
                  </a:lnTo>
                  <a:lnTo>
                    <a:pt x="532506" y="412010"/>
                  </a:lnTo>
                  <a:lnTo>
                    <a:pt x="501409" y="440933"/>
                  </a:lnTo>
                  <a:lnTo>
                    <a:pt x="471905" y="470581"/>
                  </a:lnTo>
                  <a:lnTo>
                    <a:pt x="444033" y="500927"/>
                  </a:lnTo>
                  <a:lnTo>
                    <a:pt x="417829" y="531946"/>
                  </a:lnTo>
                  <a:lnTo>
                    <a:pt x="393331" y="563611"/>
                  </a:lnTo>
                  <a:lnTo>
                    <a:pt x="370577" y="595896"/>
                  </a:lnTo>
                  <a:lnTo>
                    <a:pt x="349605" y="628776"/>
                  </a:lnTo>
                  <a:lnTo>
                    <a:pt x="330451" y="662223"/>
                  </a:lnTo>
                  <a:lnTo>
                    <a:pt x="313154" y="696213"/>
                  </a:lnTo>
                  <a:lnTo>
                    <a:pt x="284280" y="765713"/>
                  </a:lnTo>
                  <a:lnTo>
                    <a:pt x="263284" y="837067"/>
                  </a:lnTo>
                  <a:lnTo>
                    <a:pt x="250465" y="910067"/>
                  </a:lnTo>
                  <a:lnTo>
                    <a:pt x="246125" y="984504"/>
                  </a:lnTo>
                  <a:lnTo>
                    <a:pt x="0" y="984504"/>
                  </a:lnTo>
                  <a:lnTo>
                    <a:pt x="4410" y="909342"/>
                  </a:lnTo>
                  <a:lnTo>
                    <a:pt x="17428" y="835719"/>
                  </a:lnTo>
                  <a:lnTo>
                    <a:pt x="38736" y="763840"/>
                  </a:lnTo>
                  <a:lnTo>
                    <a:pt x="68016" y="693909"/>
                  </a:lnTo>
                  <a:lnTo>
                    <a:pt x="85546" y="659737"/>
                  </a:lnTo>
                  <a:lnTo>
                    <a:pt x="104949" y="626128"/>
                  </a:lnTo>
                  <a:lnTo>
                    <a:pt x="126186" y="593108"/>
                  </a:lnTo>
                  <a:lnTo>
                    <a:pt x="149217" y="560703"/>
                  </a:lnTo>
                  <a:lnTo>
                    <a:pt x="174002" y="528938"/>
                  </a:lnTo>
                  <a:lnTo>
                    <a:pt x="200502" y="497838"/>
                  </a:lnTo>
                  <a:lnTo>
                    <a:pt x="228676" y="467428"/>
                  </a:lnTo>
                  <a:lnTo>
                    <a:pt x="258486" y="437735"/>
                  </a:lnTo>
                  <a:lnTo>
                    <a:pt x="289890" y="408784"/>
                  </a:lnTo>
                  <a:lnTo>
                    <a:pt x="322849" y="380601"/>
                  </a:lnTo>
                  <a:lnTo>
                    <a:pt x="357324" y="353210"/>
                  </a:lnTo>
                  <a:lnTo>
                    <a:pt x="393275" y="326637"/>
                  </a:lnTo>
                  <a:lnTo>
                    <a:pt x="430662" y="300909"/>
                  </a:lnTo>
                  <a:lnTo>
                    <a:pt x="469445" y="276050"/>
                  </a:lnTo>
                  <a:lnTo>
                    <a:pt x="509584" y="252085"/>
                  </a:lnTo>
                  <a:lnTo>
                    <a:pt x="551040" y="229041"/>
                  </a:lnTo>
                  <a:lnTo>
                    <a:pt x="593772" y="206943"/>
                  </a:lnTo>
                  <a:lnTo>
                    <a:pt x="637742" y="185817"/>
                  </a:lnTo>
                  <a:lnTo>
                    <a:pt x="682908" y="165687"/>
                  </a:lnTo>
                  <a:lnTo>
                    <a:pt x="729233" y="146580"/>
                  </a:lnTo>
                  <a:lnTo>
                    <a:pt x="776675" y="128520"/>
                  </a:lnTo>
                  <a:lnTo>
                    <a:pt x="825194" y="111534"/>
                  </a:lnTo>
                  <a:lnTo>
                    <a:pt x="874752" y="95647"/>
                  </a:lnTo>
                  <a:lnTo>
                    <a:pt x="925309" y="80884"/>
                  </a:lnTo>
                  <a:lnTo>
                    <a:pt x="976823" y="67271"/>
                  </a:lnTo>
                  <a:lnTo>
                    <a:pt x="1029257" y="54834"/>
                  </a:lnTo>
                  <a:lnTo>
                    <a:pt x="1082569" y="43598"/>
                  </a:lnTo>
                  <a:lnTo>
                    <a:pt x="1136721" y="33588"/>
                  </a:lnTo>
                  <a:lnTo>
                    <a:pt x="1191672" y="24829"/>
                  </a:lnTo>
                  <a:lnTo>
                    <a:pt x="1247383" y="17349"/>
                  </a:lnTo>
                  <a:lnTo>
                    <a:pt x="1303813" y="11171"/>
                  </a:lnTo>
                  <a:lnTo>
                    <a:pt x="1360923" y="6322"/>
                  </a:lnTo>
                  <a:lnTo>
                    <a:pt x="1418674" y="2826"/>
                  </a:lnTo>
                  <a:lnTo>
                    <a:pt x="1477026" y="710"/>
                  </a:lnTo>
                  <a:lnTo>
                    <a:pt x="1535938" y="0"/>
                  </a:lnTo>
                  <a:lnTo>
                    <a:pt x="1782064" y="0"/>
                  </a:lnTo>
                  <a:lnTo>
                    <a:pt x="1840228" y="699"/>
                  </a:lnTo>
                  <a:lnTo>
                    <a:pt x="1897936" y="2782"/>
                  </a:lnTo>
                  <a:lnTo>
                    <a:pt x="1955143" y="6226"/>
                  </a:lnTo>
                  <a:lnTo>
                    <a:pt x="2011805" y="11009"/>
                  </a:lnTo>
                  <a:lnTo>
                    <a:pt x="2067876" y="17110"/>
                  </a:lnTo>
                  <a:lnTo>
                    <a:pt x="2123312" y="24505"/>
                  </a:lnTo>
                  <a:lnTo>
                    <a:pt x="2178068" y="33173"/>
                  </a:lnTo>
                  <a:lnTo>
                    <a:pt x="2232100" y="43092"/>
                  </a:lnTo>
                  <a:lnTo>
                    <a:pt x="2285363" y="54238"/>
                  </a:lnTo>
                  <a:lnTo>
                    <a:pt x="2337811" y="66591"/>
                  </a:lnTo>
                  <a:lnTo>
                    <a:pt x="2389401" y="80128"/>
                  </a:lnTo>
                  <a:lnTo>
                    <a:pt x="2440088" y="94826"/>
                  </a:lnTo>
                  <a:lnTo>
                    <a:pt x="2489827" y="110664"/>
                  </a:lnTo>
                  <a:lnTo>
                    <a:pt x="2538573" y="127619"/>
                  </a:lnTo>
                  <a:lnTo>
                    <a:pt x="2586282" y="145669"/>
                  </a:lnTo>
                  <a:lnTo>
                    <a:pt x="2632908" y="164792"/>
                  </a:lnTo>
                  <a:lnTo>
                    <a:pt x="2678408" y="184966"/>
                  </a:lnTo>
                  <a:lnTo>
                    <a:pt x="2722737" y="206168"/>
                  </a:lnTo>
                  <a:lnTo>
                    <a:pt x="2765849" y="228377"/>
                  </a:lnTo>
                  <a:lnTo>
                    <a:pt x="2807700" y="251569"/>
                  </a:lnTo>
                  <a:lnTo>
                    <a:pt x="2848246" y="275724"/>
                  </a:lnTo>
                  <a:lnTo>
                    <a:pt x="2887441" y="300818"/>
                  </a:lnTo>
                  <a:lnTo>
                    <a:pt x="2925241" y="326830"/>
                  </a:lnTo>
                  <a:lnTo>
                    <a:pt x="2961602" y="353737"/>
                  </a:lnTo>
                  <a:lnTo>
                    <a:pt x="2996478" y="381517"/>
                  </a:lnTo>
                  <a:lnTo>
                    <a:pt x="3029825" y="410148"/>
                  </a:lnTo>
                  <a:lnTo>
                    <a:pt x="3061598" y="439608"/>
                  </a:lnTo>
                  <a:lnTo>
                    <a:pt x="3091753" y="469874"/>
                  </a:lnTo>
                  <a:lnTo>
                    <a:pt x="3120245" y="500925"/>
                  </a:lnTo>
                  <a:lnTo>
                    <a:pt x="3147028" y="532738"/>
                  </a:lnTo>
                  <a:lnTo>
                    <a:pt x="3172059" y="565291"/>
                  </a:lnTo>
                  <a:lnTo>
                    <a:pt x="3195293" y="598561"/>
                  </a:lnTo>
                  <a:lnTo>
                    <a:pt x="3216685" y="632528"/>
                  </a:lnTo>
                  <a:lnTo>
                    <a:pt x="3236190" y="667167"/>
                  </a:lnTo>
                  <a:lnTo>
                    <a:pt x="3253763" y="702458"/>
                  </a:lnTo>
                  <a:lnTo>
                    <a:pt x="3269361" y="738378"/>
                  </a:lnTo>
                  <a:lnTo>
                    <a:pt x="3392424" y="738378"/>
                  </a:lnTo>
                  <a:lnTo>
                    <a:pt x="3195066" y="984504"/>
                  </a:lnTo>
                  <a:lnTo>
                    <a:pt x="2900172" y="738378"/>
                  </a:lnTo>
                  <a:lnTo>
                    <a:pt x="3023235" y="738378"/>
                  </a:lnTo>
                  <a:lnTo>
                    <a:pt x="3007637" y="702458"/>
                  </a:lnTo>
                  <a:lnTo>
                    <a:pt x="2990064" y="667167"/>
                  </a:lnTo>
                  <a:lnTo>
                    <a:pt x="2970559" y="632528"/>
                  </a:lnTo>
                  <a:lnTo>
                    <a:pt x="2949167" y="598561"/>
                  </a:lnTo>
                  <a:lnTo>
                    <a:pt x="2925934" y="565291"/>
                  </a:lnTo>
                  <a:lnTo>
                    <a:pt x="2900903" y="532738"/>
                  </a:lnTo>
                  <a:lnTo>
                    <a:pt x="2874120" y="500925"/>
                  </a:lnTo>
                  <a:lnTo>
                    <a:pt x="2845629" y="469874"/>
                  </a:lnTo>
                  <a:lnTo>
                    <a:pt x="2815474" y="439608"/>
                  </a:lnTo>
                  <a:lnTo>
                    <a:pt x="2783702" y="410148"/>
                  </a:lnTo>
                  <a:lnTo>
                    <a:pt x="2750356" y="381517"/>
                  </a:lnTo>
                  <a:lnTo>
                    <a:pt x="2715481" y="353737"/>
                  </a:lnTo>
                  <a:lnTo>
                    <a:pt x="2679121" y="326830"/>
                  </a:lnTo>
                  <a:lnTo>
                    <a:pt x="2641322" y="300818"/>
                  </a:lnTo>
                  <a:lnTo>
                    <a:pt x="2602129" y="275724"/>
                  </a:lnTo>
                  <a:lnTo>
                    <a:pt x="2561585" y="251569"/>
                  </a:lnTo>
                  <a:lnTo>
                    <a:pt x="2519736" y="228377"/>
                  </a:lnTo>
                  <a:lnTo>
                    <a:pt x="2476626" y="206168"/>
                  </a:lnTo>
                  <a:lnTo>
                    <a:pt x="2432301" y="184966"/>
                  </a:lnTo>
                  <a:lnTo>
                    <a:pt x="2386804" y="164792"/>
                  </a:lnTo>
                  <a:lnTo>
                    <a:pt x="2340181" y="145669"/>
                  </a:lnTo>
                  <a:lnTo>
                    <a:pt x="2292476" y="127619"/>
                  </a:lnTo>
                  <a:lnTo>
                    <a:pt x="2243734" y="110664"/>
                  </a:lnTo>
                  <a:lnTo>
                    <a:pt x="2194000" y="94826"/>
                  </a:lnTo>
                  <a:lnTo>
                    <a:pt x="2143318" y="80128"/>
                  </a:lnTo>
                  <a:lnTo>
                    <a:pt x="2091733" y="66591"/>
                  </a:lnTo>
                  <a:lnTo>
                    <a:pt x="2039290" y="54238"/>
                  </a:lnTo>
                  <a:lnTo>
                    <a:pt x="1986034" y="43092"/>
                  </a:lnTo>
                  <a:lnTo>
                    <a:pt x="1932009" y="33173"/>
                  </a:lnTo>
                  <a:lnTo>
                    <a:pt x="1877259" y="24505"/>
                  </a:lnTo>
                  <a:lnTo>
                    <a:pt x="1821831" y="17110"/>
                  </a:lnTo>
                  <a:lnTo>
                    <a:pt x="1765768" y="11009"/>
                  </a:lnTo>
                  <a:lnTo>
                    <a:pt x="1709115" y="6226"/>
                  </a:lnTo>
                  <a:lnTo>
                    <a:pt x="1651917" y="2782"/>
                  </a:lnTo>
                  <a:lnTo>
                    <a:pt x="1594219" y="699"/>
                  </a:lnTo>
                  <a:lnTo>
                    <a:pt x="1536064" y="0"/>
                  </a:lnTo>
                </a:path>
              </a:pathLst>
            </a:custGeom>
            <a:ln w="22860">
              <a:solidFill>
                <a:srgbClr val="0F21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552" y="5582411"/>
            <a:ext cx="1141682" cy="3550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MAIN</a:t>
            </a:r>
            <a:r>
              <a:rPr sz="2800" spc="-100" dirty="0"/>
              <a:t> </a:t>
            </a:r>
            <a:r>
              <a:rPr sz="2800" dirty="0"/>
              <a:t>KAFKA</a:t>
            </a:r>
            <a:r>
              <a:rPr sz="2800" spc="-105" dirty="0"/>
              <a:t> </a:t>
            </a:r>
            <a:r>
              <a:rPr sz="2800" dirty="0"/>
              <a:t>CONCEPTS:</a:t>
            </a:r>
            <a:r>
              <a:rPr sz="2800" spc="-75" dirty="0"/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PRODUCERS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61047" y="2862072"/>
            <a:ext cx="1015365" cy="356870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650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1047" y="3531108"/>
            <a:ext cx="1015365" cy="356870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655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77050" y="4213097"/>
            <a:ext cx="992505" cy="332740"/>
          </a:xfrm>
          <a:custGeom>
            <a:avLst/>
            <a:gdLst/>
            <a:ahLst/>
            <a:cxnLst/>
            <a:rect l="l" t="t" r="r" b="b"/>
            <a:pathLst>
              <a:path w="992504" h="332739">
                <a:moveTo>
                  <a:pt x="0" y="332231"/>
                </a:moveTo>
                <a:lnTo>
                  <a:pt x="992124" y="332231"/>
                </a:lnTo>
                <a:lnTo>
                  <a:pt x="992124" y="0"/>
                </a:lnTo>
                <a:lnTo>
                  <a:pt x="0" y="0"/>
                </a:lnTo>
                <a:lnTo>
                  <a:pt x="0" y="332231"/>
                </a:lnTo>
                <a:close/>
              </a:path>
            </a:pathLst>
          </a:custGeom>
          <a:ln w="22860">
            <a:solidFill>
              <a:srgbClr val="0F21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65619" y="4201667"/>
            <a:ext cx="1015365" cy="355600"/>
          </a:xfrm>
          <a:prstGeom prst="rect">
            <a:avLst/>
          </a:prstGeom>
          <a:solidFill>
            <a:srgbClr val="122547"/>
          </a:solidFill>
        </p:spPr>
        <p:txBody>
          <a:bodyPr vert="horz" wrap="square" lIns="0" tIns="8128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27185" y="2873501"/>
            <a:ext cx="1010919" cy="1790700"/>
          </a:xfrm>
          <a:custGeom>
            <a:avLst/>
            <a:gdLst/>
            <a:ahLst/>
            <a:cxnLst/>
            <a:rect l="l" t="t" r="r" b="b"/>
            <a:pathLst>
              <a:path w="1010920" h="1790700">
                <a:moveTo>
                  <a:pt x="0" y="168401"/>
                </a:moveTo>
                <a:lnTo>
                  <a:pt x="6018" y="123648"/>
                </a:lnTo>
                <a:lnTo>
                  <a:pt x="23001" y="83424"/>
                </a:lnTo>
                <a:lnTo>
                  <a:pt x="49339" y="49339"/>
                </a:lnTo>
                <a:lnTo>
                  <a:pt x="83424" y="23001"/>
                </a:lnTo>
                <a:lnTo>
                  <a:pt x="123648" y="6018"/>
                </a:lnTo>
                <a:lnTo>
                  <a:pt x="168402" y="0"/>
                </a:lnTo>
                <a:lnTo>
                  <a:pt x="842010" y="0"/>
                </a:lnTo>
                <a:lnTo>
                  <a:pt x="886763" y="6018"/>
                </a:lnTo>
                <a:lnTo>
                  <a:pt x="926987" y="23001"/>
                </a:lnTo>
                <a:lnTo>
                  <a:pt x="961072" y="49339"/>
                </a:lnTo>
                <a:lnTo>
                  <a:pt x="987410" y="83424"/>
                </a:lnTo>
                <a:lnTo>
                  <a:pt x="1004393" y="123648"/>
                </a:lnTo>
                <a:lnTo>
                  <a:pt x="1010412" y="168401"/>
                </a:lnTo>
                <a:lnTo>
                  <a:pt x="1010412" y="1622298"/>
                </a:lnTo>
                <a:lnTo>
                  <a:pt x="1004393" y="1667051"/>
                </a:lnTo>
                <a:lnTo>
                  <a:pt x="987410" y="1707275"/>
                </a:lnTo>
                <a:lnTo>
                  <a:pt x="961072" y="1741360"/>
                </a:lnTo>
                <a:lnTo>
                  <a:pt x="926987" y="1767698"/>
                </a:lnTo>
                <a:lnTo>
                  <a:pt x="886763" y="1784681"/>
                </a:lnTo>
                <a:lnTo>
                  <a:pt x="842010" y="1790700"/>
                </a:lnTo>
                <a:lnTo>
                  <a:pt x="168402" y="1790700"/>
                </a:lnTo>
                <a:lnTo>
                  <a:pt x="123648" y="1784681"/>
                </a:lnTo>
                <a:lnTo>
                  <a:pt x="83424" y="1767698"/>
                </a:lnTo>
                <a:lnTo>
                  <a:pt x="49339" y="1741360"/>
                </a:lnTo>
                <a:lnTo>
                  <a:pt x="23001" y="1707275"/>
                </a:lnTo>
                <a:lnTo>
                  <a:pt x="6018" y="1667051"/>
                </a:lnTo>
                <a:lnTo>
                  <a:pt x="0" y="1622298"/>
                </a:lnTo>
                <a:lnTo>
                  <a:pt x="0" y="168401"/>
                </a:lnTo>
                <a:close/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868536" y="3476370"/>
            <a:ext cx="727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30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Kafka </a:t>
            </a:r>
            <a:r>
              <a:rPr sz="1800" b="1" spc="-65" dirty="0">
                <a:latin typeface="Segoe UI"/>
                <a:cs typeface="Segoe UI"/>
              </a:rPr>
              <a:t>Cluster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93502" y="4301490"/>
            <a:ext cx="993775" cy="332740"/>
          </a:xfrm>
          <a:custGeom>
            <a:avLst/>
            <a:gdLst/>
            <a:ahLst/>
            <a:cxnLst/>
            <a:rect l="l" t="t" r="r" b="b"/>
            <a:pathLst>
              <a:path w="993775" h="332739">
                <a:moveTo>
                  <a:pt x="0" y="332231"/>
                </a:moveTo>
                <a:lnTo>
                  <a:pt x="993648" y="332231"/>
                </a:lnTo>
                <a:lnTo>
                  <a:pt x="993648" y="0"/>
                </a:lnTo>
                <a:lnTo>
                  <a:pt x="0" y="0"/>
                </a:lnTo>
                <a:lnTo>
                  <a:pt x="0" y="332231"/>
                </a:lnTo>
                <a:close/>
              </a:path>
            </a:pathLst>
          </a:custGeom>
          <a:ln w="22860">
            <a:solidFill>
              <a:srgbClr val="0F21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482071" y="4290059"/>
            <a:ext cx="1016635" cy="355600"/>
          </a:xfrm>
          <a:prstGeom prst="rect">
            <a:avLst/>
          </a:prstGeom>
          <a:solidFill>
            <a:srgbClr val="122547"/>
          </a:solidFill>
        </p:spPr>
        <p:txBody>
          <a:bodyPr vert="horz" wrap="square" lIns="0" tIns="8191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645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Consumers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89692" y="3590544"/>
            <a:ext cx="1016635" cy="356870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650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Consumers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89692" y="2862072"/>
            <a:ext cx="1015365" cy="356870"/>
          </a:xfrm>
          <a:prstGeom prst="rect">
            <a:avLst/>
          </a:prstGeom>
          <a:solidFill>
            <a:srgbClr val="122547"/>
          </a:solidFill>
          <a:ln w="3175">
            <a:solidFill>
              <a:srgbClr val="0F2144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650"/>
              </a:spcBef>
            </a:pPr>
            <a:r>
              <a:rPr sz="1200" spc="-10" dirty="0">
                <a:solidFill>
                  <a:srgbClr val="FFFFFF"/>
                </a:solidFill>
                <a:latin typeface="Segoe UI Symbol"/>
                <a:cs typeface="Segoe UI Symbol"/>
              </a:rPr>
              <a:t>Cosumers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56728" y="3033267"/>
            <a:ext cx="2644775" cy="1433830"/>
          </a:xfrm>
          <a:custGeom>
            <a:avLst/>
            <a:gdLst/>
            <a:ahLst/>
            <a:cxnLst/>
            <a:rect l="l" t="t" r="r" b="b"/>
            <a:pathLst>
              <a:path w="2644775" h="1433829">
                <a:moveTo>
                  <a:pt x="869823" y="735457"/>
                </a:moveTo>
                <a:lnTo>
                  <a:pt x="855306" y="701675"/>
                </a:lnTo>
                <a:lnTo>
                  <a:pt x="836295" y="657225"/>
                </a:lnTo>
                <a:lnTo>
                  <a:pt x="815759" y="681520"/>
                </a:lnTo>
                <a:lnTo>
                  <a:pt x="11176" y="2286"/>
                </a:lnTo>
                <a:lnTo>
                  <a:pt x="8509" y="0"/>
                </a:lnTo>
                <a:lnTo>
                  <a:pt x="4572" y="381"/>
                </a:lnTo>
                <a:lnTo>
                  <a:pt x="0" y="5715"/>
                </a:lnTo>
                <a:lnTo>
                  <a:pt x="381" y="9652"/>
                </a:lnTo>
                <a:lnTo>
                  <a:pt x="3048" y="11938"/>
                </a:lnTo>
                <a:lnTo>
                  <a:pt x="807554" y="691222"/>
                </a:lnTo>
                <a:lnTo>
                  <a:pt x="803249" y="696302"/>
                </a:lnTo>
                <a:lnTo>
                  <a:pt x="796417" y="692277"/>
                </a:lnTo>
                <a:lnTo>
                  <a:pt x="795502" y="705472"/>
                </a:lnTo>
                <a:lnTo>
                  <a:pt x="787019" y="715518"/>
                </a:lnTo>
                <a:lnTo>
                  <a:pt x="794689" y="717384"/>
                </a:lnTo>
                <a:lnTo>
                  <a:pt x="794245" y="723925"/>
                </a:lnTo>
                <a:lnTo>
                  <a:pt x="4064" y="669544"/>
                </a:lnTo>
                <a:lnTo>
                  <a:pt x="1016" y="672211"/>
                </a:lnTo>
                <a:lnTo>
                  <a:pt x="508" y="679196"/>
                </a:lnTo>
                <a:lnTo>
                  <a:pt x="3175" y="682244"/>
                </a:lnTo>
                <a:lnTo>
                  <a:pt x="793369" y="736625"/>
                </a:lnTo>
                <a:lnTo>
                  <a:pt x="810895" y="736625"/>
                </a:lnTo>
                <a:lnTo>
                  <a:pt x="863117" y="736625"/>
                </a:lnTo>
                <a:lnTo>
                  <a:pt x="855916" y="737743"/>
                </a:lnTo>
                <a:lnTo>
                  <a:pt x="809625" y="737743"/>
                </a:lnTo>
                <a:lnTo>
                  <a:pt x="793292" y="737743"/>
                </a:lnTo>
                <a:lnTo>
                  <a:pt x="792619" y="747585"/>
                </a:lnTo>
                <a:lnTo>
                  <a:pt x="785622" y="748665"/>
                </a:lnTo>
                <a:lnTo>
                  <a:pt x="791933" y="757555"/>
                </a:lnTo>
                <a:lnTo>
                  <a:pt x="791210" y="768223"/>
                </a:lnTo>
                <a:lnTo>
                  <a:pt x="797623" y="765556"/>
                </a:lnTo>
                <a:lnTo>
                  <a:pt x="804062" y="774585"/>
                </a:lnTo>
                <a:lnTo>
                  <a:pt x="8001" y="1340231"/>
                </a:lnTo>
                <a:lnTo>
                  <a:pt x="5207" y="1342263"/>
                </a:lnTo>
                <a:lnTo>
                  <a:pt x="4445" y="1346200"/>
                </a:lnTo>
                <a:lnTo>
                  <a:pt x="6477" y="1349121"/>
                </a:lnTo>
                <a:lnTo>
                  <a:pt x="8509" y="1351915"/>
                </a:lnTo>
                <a:lnTo>
                  <a:pt x="12446" y="1352550"/>
                </a:lnTo>
                <a:lnTo>
                  <a:pt x="15367" y="1350518"/>
                </a:lnTo>
                <a:lnTo>
                  <a:pt x="811403" y="784898"/>
                </a:lnTo>
                <a:lnTo>
                  <a:pt x="829818" y="810768"/>
                </a:lnTo>
                <a:lnTo>
                  <a:pt x="854075" y="765175"/>
                </a:lnTo>
                <a:lnTo>
                  <a:pt x="869823" y="735584"/>
                </a:lnTo>
                <a:lnTo>
                  <a:pt x="869340" y="735660"/>
                </a:lnTo>
                <a:lnTo>
                  <a:pt x="869619" y="735545"/>
                </a:lnTo>
                <a:lnTo>
                  <a:pt x="869823" y="735584"/>
                </a:lnTo>
                <a:lnTo>
                  <a:pt x="869823" y="735457"/>
                </a:lnTo>
                <a:close/>
              </a:path>
              <a:path w="2644775" h="1433829">
                <a:moveTo>
                  <a:pt x="2644521" y="735584"/>
                </a:moveTo>
                <a:lnTo>
                  <a:pt x="2631821" y="729234"/>
                </a:lnTo>
                <a:lnTo>
                  <a:pt x="2568321" y="697484"/>
                </a:lnTo>
                <a:lnTo>
                  <a:pt x="2568321" y="729234"/>
                </a:lnTo>
                <a:lnTo>
                  <a:pt x="1895868" y="729234"/>
                </a:lnTo>
                <a:lnTo>
                  <a:pt x="2593060" y="64262"/>
                </a:lnTo>
                <a:lnTo>
                  <a:pt x="2615057" y="87249"/>
                </a:lnTo>
                <a:lnTo>
                  <a:pt x="2630589" y="44069"/>
                </a:lnTo>
                <a:lnTo>
                  <a:pt x="2643886" y="7112"/>
                </a:lnTo>
                <a:lnTo>
                  <a:pt x="2562352" y="32131"/>
                </a:lnTo>
                <a:lnTo>
                  <a:pt x="2584310" y="55105"/>
                </a:lnTo>
                <a:lnTo>
                  <a:pt x="1878025" y="728726"/>
                </a:lnTo>
                <a:lnTo>
                  <a:pt x="1877822" y="728726"/>
                </a:lnTo>
                <a:lnTo>
                  <a:pt x="1877339" y="729234"/>
                </a:lnTo>
                <a:lnTo>
                  <a:pt x="1876552" y="729234"/>
                </a:lnTo>
                <a:lnTo>
                  <a:pt x="1873758" y="732028"/>
                </a:lnTo>
                <a:lnTo>
                  <a:pt x="1873758" y="732828"/>
                </a:lnTo>
                <a:lnTo>
                  <a:pt x="1873123" y="733425"/>
                </a:lnTo>
                <a:lnTo>
                  <a:pt x="1873123" y="733806"/>
                </a:lnTo>
                <a:lnTo>
                  <a:pt x="1873123" y="737362"/>
                </a:lnTo>
                <a:lnTo>
                  <a:pt x="1873237" y="737489"/>
                </a:lnTo>
                <a:lnTo>
                  <a:pt x="1873250" y="737870"/>
                </a:lnTo>
                <a:lnTo>
                  <a:pt x="1873758" y="738352"/>
                </a:lnTo>
                <a:lnTo>
                  <a:pt x="1873758" y="739140"/>
                </a:lnTo>
                <a:lnTo>
                  <a:pt x="1876552" y="741934"/>
                </a:lnTo>
                <a:lnTo>
                  <a:pt x="1877453" y="741934"/>
                </a:lnTo>
                <a:lnTo>
                  <a:pt x="1878063" y="742569"/>
                </a:lnTo>
                <a:lnTo>
                  <a:pt x="1878266" y="742569"/>
                </a:lnTo>
                <a:lnTo>
                  <a:pt x="2577020" y="1386878"/>
                </a:lnTo>
                <a:lnTo>
                  <a:pt x="2555494" y="1410208"/>
                </a:lnTo>
                <a:lnTo>
                  <a:pt x="2637409" y="1433830"/>
                </a:lnTo>
                <a:lnTo>
                  <a:pt x="2623705" y="1397762"/>
                </a:lnTo>
                <a:lnTo>
                  <a:pt x="2607183" y="1354201"/>
                </a:lnTo>
                <a:lnTo>
                  <a:pt x="2585682" y="1377505"/>
                </a:lnTo>
                <a:lnTo>
                  <a:pt x="1896402" y="741934"/>
                </a:lnTo>
                <a:lnTo>
                  <a:pt x="2568321" y="741934"/>
                </a:lnTo>
                <a:lnTo>
                  <a:pt x="2568321" y="773684"/>
                </a:lnTo>
                <a:lnTo>
                  <a:pt x="2631821" y="741934"/>
                </a:lnTo>
                <a:lnTo>
                  <a:pt x="2644521" y="735584"/>
                </a:lnTo>
                <a:close/>
              </a:path>
            </a:pathLst>
          </a:custGeom>
          <a:solidFill>
            <a:srgbClr val="172C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88695" y="3102102"/>
            <a:ext cx="52673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Processes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that</a:t>
            </a:r>
            <a:r>
              <a:rPr sz="1800" spc="-3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publish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messages</a:t>
            </a:r>
            <a:r>
              <a:rPr sz="1800" spc="-2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to</a:t>
            </a:r>
            <a:r>
              <a:rPr sz="1800" spc="-3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a</a:t>
            </a:r>
            <a:r>
              <a:rPr sz="1800" spc="-4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Kafka</a:t>
            </a:r>
            <a:r>
              <a:rPr sz="1800" spc="-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topic.</a:t>
            </a:r>
            <a:endParaRPr sz="1800">
              <a:latin typeface="Segoe UI Symbol"/>
              <a:cs typeface="Segoe UI Symbol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1430020" algn="l"/>
                <a:tab pos="2421890" algn="l"/>
                <a:tab pos="3233420" algn="l"/>
                <a:tab pos="4338320" algn="l"/>
                <a:tab pos="5045075" algn="l"/>
              </a:tabLst>
            </a:pP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Producer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	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decides</a:t>
            </a: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	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which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	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message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	</a:t>
            </a:r>
            <a:r>
              <a:rPr sz="1800" b="1" spc="-20" dirty="0">
                <a:solidFill>
                  <a:srgbClr val="006FC0"/>
                </a:solidFill>
                <a:latin typeface="Segoe UI"/>
                <a:cs typeface="Segoe UI"/>
              </a:rPr>
              <a:t>goes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	</a:t>
            </a:r>
            <a:r>
              <a:rPr sz="1800" b="1" spc="-95" dirty="0">
                <a:solidFill>
                  <a:srgbClr val="006FC0"/>
                </a:solidFill>
                <a:latin typeface="Segoe UI"/>
                <a:cs typeface="Segoe UI"/>
              </a:rPr>
              <a:t>to 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partitions</a:t>
            </a:r>
            <a:r>
              <a:rPr sz="1800" spc="-10" dirty="0">
                <a:solidFill>
                  <a:srgbClr val="333333"/>
                </a:solidFill>
                <a:latin typeface="Segoe UI Symbol"/>
                <a:cs typeface="Segoe UI Symbol"/>
              </a:rPr>
              <a:t>.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56172" y="3376421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solidFill>
                  <a:srgbClr val="006FC0"/>
                </a:solidFill>
                <a:latin typeface="Segoe UI"/>
                <a:cs typeface="Segoe UI"/>
              </a:rPr>
              <a:t>witch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695" y="3925061"/>
            <a:ext cx="60242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33333"/>
                </a:solidFill>
                <a:latin typeface="Segoe UI Symbol"/>
                <a:cs typeface="Segoe UI Symbol"/>
              </a:rPr>
              <a:t>Producers</a:t>
            </a:r>
            <a:r>
              <a:rPr sz="1800" spc="-7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spc="-90" dirty="0">
                <a:solidFill>
                  <a:srgbClr val="006FC0"/>
                </a:solidFill>
                <a:latin typeface="Segoe UI"/>
                <a:cs typeface="Segoe UI"/>
              </a:rPr>
              <a:t>write</a:t>
            </a:r>
            <a:r>
              <a:rPr sz="1800" b="1" spc="-3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to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a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single</a:t>
            </a:r>
            <a:r>
              <a:rPr sz="1800" b="1" spc="-6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leader.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29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comes</a:t>
            </a:r>
            <a:r>
              <a:rPr sz="1800" spc="30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with</a:t>
            </a:r>
            <a:r>
              <a:rPr sz="1800" spc="29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290" dirty="0">
                <a:latin typeface="Segoe UI Symbol"/>
                <a:cs typeface="Segoe UI Symbol"/>
              </a:rPr>
              <a:t> </a:t>
            </a:r>
            <a:r>
              <a:rPr sz="1800" b="1" spc="-30" dirty="0">
                <a:solidFill>
                  <a:srgbClr val="006FC0"/>
                </a:solidFill>
                <a:latin typeface="Segoe UI"/>
                <a:cs typeface="Segoe UI"/>
              </a:rPr>
              <a:t>command</a:t>
            </a:r>
            <a:r>
              <a:rPr sz="1800" b="1" spc="30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line</a:t>
            </a:r>
            <a:r>
              <a:rPr sz="1800" b="1" spc="29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30" dirty="0">
                <a:solidFill>
                  <a:srgbClr val="006FC0"/>
                </a:solidFill>
                <a:latin typeface="Segoe UI"/>
                <a:cs typeface="Segoe UI"/>
              </a:rPr>
              <a:t>producer</a:t>
            </a:r>
            <a:r>
              <a:rPr sz="1800" b="1" spc="30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client</a:t>
            </a:r>
            <a:r>
              <a:rPr sz="1800" spc="290" dirty="0">
                <a:latin typeface="Segoe UI Symbol"/>
                <a:cs typeface="Segoe UI Symbol"/>
              </a:rPr>
              <a:t> </a:t>
            </a:r>
            <a:r>
              <a:rPr sz="1800" spc="-25" dirty="0">
                <a:latin typeface="Segoe UI Symbol"/>
                <a:cs typeface="Segoe UI Symbol"/>
              </a:rPr>
              <a:t>or</a:t>
            </a:r>
            <a:endParaRPr sz="1800">
              <a:latin typeface="Segoe UI Symbol"/>
              <a:cs typeface="Segoe UI Symbol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Segoe UI Symbol"/>
                <a:cs typeface="Segoe UI Symbol"/>
              </a:rPr>
              <a:t>you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can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write</a:t>
            </a:r>
            <a:r>
              <a:rPr sz="1800" spc="-1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your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own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using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Segoe UI"/>
                <a:cs typeface="Segoe UI"/>
              </a:rPr>
              <a:t>API.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MAIN</a:t>
            </a:r>
            <a:r>
              <a:rPr sz="2800" spc="-100" dirty="0"/>
              <a:t> </a:t>
            </a:r>
            <a:r>
              <a:rPr sz="2800" dirty="0"/>
              <a:t>KAFKA</a:t>
            </a:r>
            <a:r>
              <a:rPr sz="2800" spc="-105" dirty="0"/>
              <a:t> </a:t>
            </a:r>
            <a:r>
              <a:rPr sz="2800" dirty="0"/>
              <a:t>CONCEPTS:</a:t>
            </a:r>
            <a:r>
              <a:rPr sz="2800" spc="-75" dirty="0"/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CONSUMERS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61543" y="2305939"/>
            <a:ext cx="1076134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Kafka</a:t>
            </a:r>
            <a:r>
              <a:rPr spc="-50" dirty="0"/>
              <a:t> </a:t>
            </a:r>
            <a:r>
              <a:rPr dirty="0"/>
              <a:t>consumers</a:t>
            </a:r>
            <a:r>
              <a:rPr spc="-45" dirty="0"/>
              <a:t> </a:t>
            </a:r>
            <a:r>
              <a:rPr b="1" spc="-55" dirty="0">
                <a:solidFill>
                  <a:srgbClr val="006FC0"/>
                </a:solidFill>
                <a:latin typeface="Segoe UI"/>
                <a:cs typeface="Segoe UI"/>
              </a:rPr>
              <a:t>read</a:t>
            </a:r>
            <a:r>
              <a:rPr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1" spc="-100" dirty="0">
                <a:solidFill>
                  <a:srgbClr val="006FC0"/>
                </a:solidFill>
                <a:latin typeface="Segoe UI"/>
                <a:cs typeface="Segoe UI"/>
              </a:rPr>
              <a:t>from</a:t>
            </a:r>
            <a:r>
              <a:rPr b="1" spc="-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Segoe UI"/>
                <a:cs typeface="Segoe UI"/>
              </a:rPr>
              <a:t>topics</a:t>
            </a:r>
            <a:r>
              <a:rPr spc="-10" dirty="0"/>
              <a:t>.</a:t>
            </a: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/>
              <a:t>Kafka</a:t>
            </a:r>
            <a:r>
              <a:rPr spc="-50" dirty="0"/>
              <a:t> </a:t>
            </a:r>
            <a:r>
              <a:rPr dirty="0"/>
              <a:t>comes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b="1" spc="-65" dirty="0">
                <a:solidFill>
                  <a:srgbClr val="006FC0"/>
                </a:solidFill>
                <a:latin typeface="Segoe UI"/>
                <a:cs typeface="Segoe UI"/>
              </a:rPr>
              <a:t>command</a:t>
            </a:r>
            <a:r>
              <a:rPr b="1" spc="-4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1" spc="-55" dirty="0">
                <a:solidFill>
                  <a:srgbClr val="006FC0"/>
                </a:solidFill>
                <a:latin typeface="Segoe UI"/>
                <a:cs typeface="Segoe UI"/>
              </a:rPr>
              <a:t>line</a:t>
            </a:r>
            <a:r>
              <a:rPr b="1" spc="-4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1" spc="-55" dirty="0">
                <a:solidFill>
                  <a:srgbClr val="006FC0"/>
                </a:solidFill>
                <a:latin typeface="Segoe UI"/>
                <a:cs typeface="Segoe UI"/>
              </a:rPr>
              <a:t>consumer</a:t>
            </a:r>
            <a:r>
              <a:rPr b="1" spc="-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dirty="0"/>
              <a:t>client</a:t>
            </a:r>
            <a:r>
              <a:rPr spc="-10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dirty="0"/>
              <a:t>you</a:t>
            </a:r>
            <a:r>
              <a:rPr spc="-45" dirty="0"/>
              <a:t> </a:t>
            </a:r>
            <a:r>
              <a:rPr dirty="0"/>
              <a:t>have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option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b="1" spc="-90" dirty="0">
                <a:solidFill>
                  <a:srgbClr val="006FC0"/>
                </a:solidFill>
                <a:latin typeface="Segoe UI"/>
                <a:cs typeface="Segoe UI"/>
              </a:rPr>
              <a:t>write</a:t>
            </a:r>
            <a:r>
              <a:rPr b="1" spc="-3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1" spc="-65" dirty="0">
                <a:solidFill>
                  <a:srgbClr val="006FC0"/>
                </a:solidFill>
                <a:latin typeface="Segoe UI"/>
                <a:cs typeface="Segoe UI"/>
              </a:rPr>
              <a:t>your</a:t>
            </a:r>
            <a:r>
              <a:rPr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1" spc="-85" dirty="0">
                <a:solidFill>
                  <a:srgbClr val="006FC0"/>
                </a:solidFill>
                <a:latin typeface="Segoe UI"/>
                <a:cs typeface="Segoe UI"/>
              </a:rPr>
              <a:t>own</a:t>
            </a:r>
            <a:r>
              <a:rPr b="1" spc="-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1" spc="-50" dirty="0">
                <a:solidFill>
                  <a:srgbClr val="006FC0"/>
                </a:solidFill>
                <a:latin typeface="Segoe UI"/>
                <a:cs typeface="Segoe UI"/>
              </a:rPr>
              <a:t>using</a:t>
            </a:r>
            <a:r>
              <a:rPr b="1" spc="-3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Segoe UI"/>
                <a:cs typeface="Segoe UI"/>
              </a:rPr>
              <a:t>APIs</a:t>
            </a:r>
            <a:r>
              <a:rPr spc="-10" dirty="0"/>
              <a:t>.</a:t>
            </a: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/>
              <a:t>Consumers</a:t>
            </a:r>
            <a:r>
              <a:rPr spc="-65" dirty="0"/>
              <a:t> </a:t>
            </a:r>
            <a:r>
              <a:rPr dirty="0"/>
              <a:t>belong</a:t>
            </a:r>
            <a:r>
              <a:rPr spc="-45" dirty="0"/>
              <a:t> </a:t>
            </a:r>
            <a:r>
              <a:rPr b="1" spc="-45" dirty="0">
                <a:solidFill>
                  <a:srgbClr val="FF0000"/>
                </a:solidFill>
                <a:latin typeface="Segoe UI"/>
                <a:cs typeface="Segoe UI"/>
              </a:rPr>
              <a:t>to</a:t>
            </a:r>
            <a:r>
              <a:rPr b="1" spc="-5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b="1" spc="-55" dirty="0">
                <a:solidFill>
                  <a:srgbClr val="FF0000"/>
                </a:solidFill>
                <a:latin typeface="Segoe UI"/>
                <a:cs typeface="Segoe UI"/>
              </a:rPr>
              <a:t>consumer</a:t>
            </a:r>
            <a:r>
              <a:rPr b="1" spc="-7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FF0000"/>
                </a:solidFill>
                <a:latin typeface="Segoe UI"/>
                <a:cs typeface="Segoe UI"/>
              </a:rPr>
              <a:t>groups</a:t>
            </a:r>
            <a:r>
              <a:rPr spc="-10" dirty="0"/>
              <a:t>.</a:t>
            </a:r>
          </a:p>
          <a:p>
            <a:pPr marL="457200" marR="351790" lvl="1" indent="-108585">
              <a:lnSpc>
                <a:spcPct val="100000"/>
              </a:lnSpc>
              <a:buFont typeface="Wingdings"/>
              <a:buChar char=""/>
              <a:tabLst>
                <a:tab pos="457200" algn="l"/>
                <a:tab pos="650875" algn="l"/>
              </a:tabLst>
            </a:pPr>
            <a:r>
              <a:rPr sz="1800" dirty="0">
                <a:latin typeface="Segoe UI Symbol"/>
                <a:cs typeface="Segoe UI Symbol"/>
              </a:rPr>
              <a:t>	Each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message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published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topic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is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delivered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one</a:t>
            </a:r>
            <a:r>
              <a:rPr sz="1800" spc="-6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consumer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instance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within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each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subscribing </a:t>
            </a:r>
            <a:r>
              <a:rPr sz="1800" dirty="0">
                <a:latin typeface="Segoe UI Symbol"/>
                <a:cs typeface="Segoe UI Symbol"/>
              </a:rPr>
              <a:t>consumer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group.</a:t>
            </a:r>
            <a:endParaRPr sz="1800" dirty="0">
              <a:latin typeface="Segoe UI Symbol"/>
              <a:cs typeface="Segoe UI Symbol"/>
            </a:endParaRPr>
          </a:p>
          <a:p>
            <a:pPr marL="651510" lvl="1" indent="-302260">
              <a:lnSpc>
                <a:spcPct val="100000"/>
              </a:lnSpc>
              <a:buFont typeface="Wingdings"/>
              <a:buChar char=""/>
              <a:tabLst>
                <a:tab pos="651510" algn="l"/>
              </a:tabLst>
            </a:pPr>
            <a:r>
              <a:rPr sz="1800" dirty="0">
                <a:latin typeface="Segoe UI Symbol"/>
                <a:cs typeface="Segoe UI Symbol"/>
              </a:rPr>
              <a:t>Each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partition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topic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will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be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consumed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by</a:t>
            </a:r>
            <a:r>
              <a:rPr sz="1800" spc="-5" dirty="0">
                <a:latin typeface="Segoe UI Symbol"/>
                <a:cs typeface="Segoe UI Symbol"/>
              </a:rPr>
              <a:t> </a:t>
            </a:r>
            <a:r>
              <a:rPr sz="1800" b="1" u="sng" spc="-80" dirty="0">
                <a:solidFill>
                  <a:srgbClr val="00B050"/>
                </a:solidFill>
                <a:uFill>
                  <a:solidFill>
                    <a:srgbClr val="006FC0"/>
                  </a:solidFill>
                </a:uFill>
                <a:latin typeface="Segoe UI"/>
                <a:cs typeface="Segoe UI"/>
              </a:rPr>
              <a:t>exactly</a:t>
            </a:r>
            <a:r>
              <a:rPr sz="1800" b="1" spc="-45" dirty="0">
                <a:solidFill>
                  <a:srgbClr val="00B050"/>
                </a:solidFill>
                <a:latin typeface="Segoe UI"/>
                <a:cs typeface="Segoe UI"/>
              </a:rPr>
              <a:t> </a:t>
            </a:r>
            <a:r>
              <a:rPr sz="1800" b="1" spc="-35" dirty="0">
                <a:solidFill>
                  <a:srgbClr val="00B050"/>
                </a:solidFill>
                <a:latin typeface="Segoe UI"/>
                <a:cs typeface="Segoe UI"/>
              </a:rPr>
              <a:t>one</a:t>
            </a:r>
            <a:r>
              <a:rPr sz="1800" b="1" spc="-40" dirty="0">
                <a:solidFill>
                  <a:srgbClr val="00B050"/>
                </a:solidFill>
                <a:latin typeface="Segoe UI"/>
                <a:cs typeface="Segoe UI"/>
              </a:rPr>
              <a:t> </a:t>
            </a:r>
            <a:r>
              <a:rPr sz="1800" b="1" spc="-55" dirty="0">
                <a:solidFill>
                  <a:srgbClr val="00B050"/>
                </a:solidFill>
                <a:latin typeface="Segoe UI"/>
                <a:cs typeface="Segoe UI"/>
              </a:rPr>
              <a:t>Consumer</a:t>
            </a:r>
            <a:r>
              <a:rPr sz="1800" b="1" spc="-45" dirty="0">
                <a:solidFill>
                  <a:srgbClr val="00B05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Consumer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Group</a:t>
            </a:r>
            <a:endParaRPr lang="fr-FR" sz="1800" spc="-10" dirty="0">
              <a:latin typeface="Segoe UI Symbol"/>
              <a:cs typeface="Segoe UI Symbol"/>
            </a:endParaRPr>
          </a:p>
          <a:p>
            <a:pPr marL="651510" lvl="1" indent="-302260">
              <a:lnSpc>
                <a:spcPct val="100000"/>
              </a:lnSpc>
              <a:buFont typeface="Wingdings"/>
              <a:buChar char=""/>
              <a:tabLst>
                <a:tab pos="651510" algn="l"/>
              </a:tabLst>
            </a:pPr>
            <a:r>
              <a:rPr lang="en-US" sz="1800" b="1" dirty="0">
                <a:solidFill>
                  <a:srgbClr val="00B050"/>
                </a:solidFill>
                <a:latin typeface="Segoe UI Symbol"/>
                <a:cs typeface="Segoe UI Symbol"/>
              </a:rPr>
              <a:t>Horizontal scalability:</a:t>
            </a:r>
            <a:r>
              <a:rPr lang="en-US" sz="1800" dirty="0">
                <a:latin typeface="Segoe UI Symbol"/>
                <a:cs typeface="Segoe UI Symbol"/>
              </a:rPr>
              <a:t> Add more consumers to speed up processing.</a:t>
            </a:r>
          </a:p>
          <a:p>
            <a:pPr marL="651510" lvl="1" indent="-302260">
              <a:lnSpc>
                <a:spcPct val="100000"/>
              </a:lnSpc>
              <a:buFont typeface="Wingdings"/>
              <a:buChar char=""/>
              <a:tabLst>
                <a:tab pos="651510" algn="l"/>
              </a:tabLst>
            </a:pPr>
            <a:r>
              <a:rPr lang="en-US" sz="1800" b="1" dirty="0">
                <a:solidFill>
                  <a:srgbClr val="00B050"/>
                </a:solidFill>
                <a:latin typeface="Segoe UI Symbol"/>
                <a:cs typeface="Segoe UI Symbol"/>
              </a:rPr>
              <a:t>Fault tolerance:</a:t>
            </a:r>
            <a:r>
              <a:rPr lang="en-US" sz="1800" dirty="0">
                <a:latin typeface="Segoe UI Symbol"/>
                <a:cs typeface="Segoe UI Symbol"/>
              </a:rPr>
              <a:t> If a consumer fails, Kafka reassigns its partitions to the remaining ones.</a:t>
            </a:r>
            <a:endParaRPr sz="1800" dirty="0">
              <a:latin typeface="Segoe UI Symbol"/>
              <a:cs typeface="Segoe UI Symbo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4969164"/>
            <a:ext cx="3581400" cy="15173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87627" y="6517030"/>
            <a:ext cx="2946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Without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Consumer</a:t>
            </a:r>
            <a:r>
              <a:rPr sz="1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Groups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7990" y="4941455"/>
            <a:ext cx="3349738" cy="15489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777990" y="6470396"/>
            <a:ext cx="2946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Consumer</a:t>
            </a:r>
            <a:r>
              <a:rPr sz="1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Groups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MAIN</a:t>
            </a:r>
            <a:r>
              <a:rPr sz="2800" spc="-100" dirty="0"/>
              <a:t> </a:t>
            </a:r>
            <a:r>
              <a:rPr sz="2800" dirty="0"/>
              <a:t>KAFKA</a:t>
            </a:r>
            <a:r>
              <a:rPr sz="2800" spc="-105" dirty="0"/>
              <a:t> </a:t>
            </a:r>
            <a:r>
              <a:rPr sz="2800" dirty="0"/>
              <a:t>CONCEPTS:</a:t>
            </a:r>
            <a:r>
              <a:rPr sz="2800" spc="-75" dirty="0"/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ZOOKEEPER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0041" y="4859481"/>
            <a:ext cx="2588822" cy="13921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7542" y="2201671"/>
            <a:ext cx="11007090" cy="2105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71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25" dirty="0">
                <a:latin typeface="Segoe UI Symbol"/>
                <a:cs typeface="Segoe UI Symbol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requires</a:t>
            </a:r>
            <a:r>
              <a:rPr sz="1800" b="1" spc="3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30" dirty="0">
                <a:solidFill>
                  <a:srgbClr val="FF0000"/>
                </a:solidFill>
                <a:latin typeface="Segoe UI"/>
                <a:cs typeface="Segoe UI"/>
              </a:rPr>
              <a:t>Apache</a:t>
            </a:r>
            <a:r>
              <a:rPr sz="1800" b="1" spc="2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Zookeeper</a:t>
            </a:r>
            <a:r>
              <a:rPr sz="1800" spc="-50" dirty="0">
                <a:latin typeface="Segoe UI Symbol"/>
                <a:cs typeface="Segoe UI Symbol"/>
              </a:rPr>
              <a:t>.</a:t>
            </a:r>
            <a:r>
              <a:rPr sz="1800" spc="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This</a:t>
            </a:r>
            <a:r>
              <a:rPr sz="1800" spc="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means</a:t>
            </a:r>
            <a:r>
              <a:rPr sz="1800" spc="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that</a:t>
            </a:r>
            <a:r>
              <a:rPr sz="1800" spc="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you</a:t>
            </a:r>
            <a:r>
              <a:rPr sz="1800" spc="20" dirty="0">
                <a:latin typeface="Segoe UI Symbol"/>
                <a:cs typeface="Segoe UI Symbol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first</a:t>
            </a:r>
            <a:r>
              <a:rPr sz="1800" b="1" spc="4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need</a:t>
            </a:r>
            <a:r>
              <a:rPr sz="1800" b="1" spc="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a</a:t>
            </a:r>
            <a:r>
              <a:rPr sz="1800" b="1" spc="2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ZooKeeper</a:t>
            </a:r>
            <a:r>
              <a:rPr sz="1800" b="1" spc="2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30" dirty="0">
                <a:solidFill>
                  <a:srgbClr val="006FC0"/>
                </a:solidFill>
                <a:latin typeface="Segoe UI"/>
                <a:cs typeface="Segoe UI"/>
              </a:rPr>
              <a:t>server</a:t>
            </a:r>
            <a:r>
              <a:rPr sz="1800" b="1" spc="2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35" dirty="0">
                <a:solidFill>
                  <a:srgbClr val="006FC0"/>
                </a:solidFill>
                <a:latin typeface="Segoe UI"/>
                <a:cs typeface="Segoe UI"/>
              </a:rPr>
              <a:t>started</a:t>
            </a:r>
            <a:r>
              <a:rPr sz="1800" b="1" spc="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</a:t>
            </a:r>
            <a:r>
              <a:rPr sz="1800" spc="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order</a:t>
            </a:r>
            <a:r>
              <a:rPr sz="1800" spc="30" dirty="0">
                <a:latin typeface="Segoe UI Symbol"/>
                <a:cs typeface="Segoe UI Symbol"/>
              </a:rPr>
              <a:t> </a:t>
            </a:r>
            <a:r>
              <a:rPr sz="1800" spc="-25" dirty="0">
                <a:latin typeface="Segoe UI Symbol"/>
                <a:cs typeface="Segoe UI Symbol"/>
              </a:rPr>
              <a:t>to </a:t>
            </a:r>
            <a:r>
              <a:rPr sz="1800" dirty="0">
                <a:latin typeface="Segoe UI Symbol"/>
                <a:cs typeface="Segoe UI Symbol"/>
              </a:rPr>
              <a:t>run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Kafka.</a:t>
            </a:r>
            <a:endParaRPr sz="1800" dirty="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 Symbol"/>
                <a:cs typeface="Segoe UI Symbol"/>
              </a:rPr>
              <a:t>There’s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script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that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comes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with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that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starts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simple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single-</a:t>
            </a:r>
            <a:r>
              <a:rPr sz="1800" dirty="0">
                <a:latin typeface="Segoe UI Symbol"/>
                <a:cs typeface="Segoe UI Symbol"/>
              </a:rPr>
              <a:t>node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ZooKeeper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instance.</a:t>
            </a:r>
            <a:endParaRPr sz="1800" dirty="0">
              <a:latin typeface="Segoe UI Symbol"/>
              <a:cs typeface="Segoe UI Symbol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  <a:tab pos="361315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uses</a:t>
            </a:r>
            <a:r>
              <a:rPr sz="1800" spc="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ZooKeeper</a:t>
            </a:r>
            <a:r>
              <a:rPr sz="1800" spc="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for</a:t>
            </a:r>
            <a:r>
              <a:rPr sz="1800" spc="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variety</a:t>
            </a:r>
            <a:r>
              <a:rPr sz="1800" spc="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things</a:t>
            </a:r>
            <a:r>
              <a:rPr lang="fr-FR" dirty="0">
                <a:latin typeface="Segoe UI Symbol"/>
                <a:cs typeface="Segoe UI Symbol"/>
              </a:rPr>
              <a:t>:</a:t>
            </a:r>
          </a:p>
          <a:p>
            <a:pPr marL="542925" marR="5080" lvl="8" indent="149225">
              <a:buFont typeface="Wingdings" panose="05000000000000000000" pitchFamily="2" charset="2"/>
              <a:buChar char="§"/>
              <a:tabLst>
                <a:tab pos="360363" algn="l"/>
                <a:tab pos="1257300" algn="l"/>
              </a:tabLst>
            </a:pPr>
            <a:r>
              <a:rPr lang="en-US" sz="1600" dirty="0">
                <a:latin typeface="Segoe UI Symbol"/>
                <a:cs typeface="Segoe UI Symbol"/>
              </a:rPr>
              <a:t>Manage metadata and coordination between the different Kafka brokers</a:t>
            </a:r>
          </a:p>
          <a:p>
            <a:pPr marL="542925" marR="5080" lvl="8" indent="149225">
              <a:buFont typeface="Wingdings" panose="05000000000000000000" pitchFamily="2" charset="2"/>
              <a:buChar char="§"/>
              <a:tabLst>
                <a:tab pos="360363" algn="l"/>
                <a:tab pos="1257300" algn="l"/>
              </a:tabLst>
            </a:pPr>
            <a:r>
              <a:rPr lang="en-US" sz="1600" dirty="0">
                <a:latin typeface="Segoe UI Symbol"/>
                <a:cs typeface="Segoe UI Symbol"/>
              </a:rPr>
              <a:t>Elect a controller broker (the main broker responsible for making certain decisions)</a:t>
            </a:r>
          </a:p>
          <a:p>
            <a:pPr marL="542925" marR="5080" lvl="8" indent="149225">
              <a:buFont typeface="Wingdings" panose="05000000000000000000" pitchFamily="2" charset="2"/>
              <a:buChar char="§"/>
              <a:tabLst>
                <a:tab pos="360363" algn="l"/>
                <a:tab pos="1257300" algn="l"/>
              </a:tabLst>
            </a:pPr>
            <a:r>
              <a:rPr lang="en-US" sz="1600" dirty="0">
                <a:latin typeface="Segoe UI Symbol"/>
                <a:cs typeface="Segoe UI Symbol"/>
              </a:rPr>
              <a:t>Monitor node availability</a:t>
            </a:r>
          </a:p>
          <a:p>
            <a:pPr marL="542925" marR="5080" lvl="8" indent="149225">
              <a:buFont typeface="Wingdings" panose="05000000000000000000" pitchFamily="2" charset="2"/>
              <a:buChar char="§"/>
              <a:tabLst>
                <a:tab pos="360363" algn="l"/>
                <a:tab pos="1257300" algn="l"/>
              </a:tabLst>
            </a:pPr>
            <a:r>
              <a:rPr lang="en-US" sz="1600" dirty="0">
                <a:latin typeface="Segoe UI Symbol"/>
                <a:cs typeface="Segoe UI Symbol"/>
              </a:rPr>
              <a:t>Store the configuration of topics and partitions</a:t>
            </a:r>
            <a:endParaRPr lang="fr-FR" sz="1600" dirty="0">
              <a:latin typeface="Segoe UI Symbol"/>
              <a:cs typeface="Segoe UI Symbol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87A0AC7-AD8F-4B4B-C26B-0BA745A64F14}"/>
              </a:ext>
            </a:extLst>
          </p:cNvPr>
          <p:cNvSpPr txBox="1"/>
          <p:nvPr/>
        </p:nvSpPr>
        <p:spPr>
          <a:xfrm>
            <a:off x="707542" y="4397816"/>
            <a:ext cx="10951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Starting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Kafka 2.8,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KRaft</a:t>
            </a:r>
            <a:r>
              <a:rPr lang="fr-FR" dirty="0"/>
              <a:t> mode (Kafka Raft </a:t>
            </a:r>
            <a:r>
              <a:rPr lang="fr-FR" dirty="0" err="1"/>
              <a:t>Metadata</a:t>
            </a:r>
            <a:r>
              <a:rPr lang="fr-FR" dirty="0"/>
              <a:t> mode)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allows</a:t>
            </a:r>
            <a:r>
              <a:rPr lang="fr-FR" dirty="0"/>
              <a:t> Kafka to run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Zookeeper</a:t>
            </a:r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(</a:t>
            </a:r>
            <a:r>
              <a:rPr lang="fr-FR" b="1" dirty="0" err="1">
                <a:solidFill>
                  <a:srgbClr val="00B050"/>
                </a:solidFill>
              </a:rPr>
              <a:t>Experimental</a:t>
            </a:r>
            <a:r>
              <a:rPr lang="fr-FR" b="1" dirty="0">
                <a:solidFill>
                  <a:srgbClr val="00B050"/>
                </a:solidFill>
              </a:rPr>
              <a:t> introduction)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6EBA168-4AAD-19F2-1083-E1798F69CAF8}"/>
              </a:ext>
            </a:extLst>
          </p:cNvPr>
          <p:cNvSpPr txBox="1"/>
          <p:nvPr/>
        </p:nvSpPr>
        <p:spPr>
          <a:xfrm>
            <a:off x="707542" y="5257800"/>
            <a:ext cx="8284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Kafka 4.0.0: </a:t>
            </a:r>
            <a:r>
              <a:rPr lang="en-US" b="1" dirty="0">
                <a:solidFill>
                  <a:srgbClr val="00B050"/>
                </a:solidFill>
              </a:rPr>
              <a:t>Complete removal of </a:t>
            </a:r>
            <a:r>
              <a:rPr lang="en-US" b="1" dirty="0" err="1">
                <a:solidFill>
                  <a:srgbClr val="00B050"/>
                </a:solidFill>
              </a:rPr>
              <a:t>ZooKeeper</a:t>
            </a:r>
            <a:r>
              <a:rPr lang="en-US" dirty="0"/>
              <a:t>. </a:t>
            </a:r>
            <a:r>
              <a:rPr lang="en-US" dirty="0" err="1"/>
              <a:t>KRaft</a:t>
            </a:r>
            <a:r>
              <a:rPr lang="en-US" dirty="0"/>
              <a:t> becomes the sole mode of operation.</a:t>
            </a:r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KAFKA</a:t>
            </a:r>
            <a:r>
              <a:rPr sz="2800" spc="-105" dirty="0"/>
              <a:t> </a:t>
            </a:r>
            <a:r>
              <a:rPr sz="2800" dirty="0"/>
              <a:t>CLUSTER</a:t>
            </a:r>
            <a:r>
              <a:rPr sz="2800" spc="-100" dirty="0"/>
              <a:t> </a:t>
            </a:r>
            <a:r>
              <a:rPr sz="2800" spc="-10" dirty="0"/>
              <a:t>CONFIGURATION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65064" y="2159507"/>
            <a:ext cx="4657344" cy="13639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65064" y="3656076"/>
            <a:ext cx="4657344" cy="13670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65064" y="5155691"/>
            <a:ext cx="4657344" cy="13792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28394" y="2684145"/>
            <a:ext cx="2648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latin typeface="Segoe UI"/>
                <a:cs typeface="Segoe UI"/>
              </a:rPr>
              <a:t>Single</a:t>
            </a:r>
            <a:r>
              <a:rPr sz="1800" b="1" spc="-20" dirty="0">
                <a:latin typeface="Segoe UI"/>
                <a:cs typeface="Segoe UI"/>
              </a:rPr>
              <a:t> </a:t>
            </a:r>
            <a:r>
              <a:rPr sz="1800" b="1" spc="-60" dirty="0">
                <a:latin typeface="Segoe UI"/>
                <a:cs typeface="Segoe UI"/>
              </a:rPr>
              <a:t>node,</a:t>
            </a:r>
            <a:r>
              <a:rPr sz="1800" b="1" spc="-35" dirty="0">
                <a:latin typeface="Segoe UI"/>
                <a:cs typeface="Segoe UI"/>
              </a:rPr>
              <a:t> </a:t>
            </a:r>
            <a:r>
              <a:rPr sz="1800" b="1" spc="-55" dirty="0">
                <a:latin typeface="Segoe UI"/>
                <a:cs typeface="Segoe UI"/>
              </a:rPr>
              <a:t>single</a:t>
            </a:r>
            <a:r>
              <a:rPr sz="1800" b="1" spc="-25" dirty="0">
                <a:latin typeface="Segoe UI"/>
                <a:cs typeface="Segoe UI"/>
              </a:rPr>
              <a:t> </a:t>
            </a:r>
            <a:r>
              <a:rPr sz="1800" b="1" spc="-60" dirty="0">
                <a:latin typeface="Segoe UI"/>
                <a:cs typeface="Segoe UI"/>
              </a:rPr>
              <a:t>broker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8394" y="4182871"/>
            <a:ext cx="297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latin typeface="Segoe UI"/>
                <a:cs typeface="Segoe UI"/>
              </a:rPr>
              <a:t>Single</a:t>
            </a:r>
            <a:r>
              <a:rPr sz="1800" b="1" spc="-25" dirty="0">
                <a:latin typeface="Segoe UI"/>
                <a:cs typeface="Segoe UI"/>
              </a:rPr>
              <a:t> </a:t>
            </a:r>
            <a:r>
              <a:rPr sz="1800" b="1" spc="-60" dirty="0">
                <a:latin typeface="Segoe UI"/>
                <a:cs typeface="Segoe UI"/>
              </a:rPr>
              <a:t>node,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spc="-70" dirty="0">
                <a:latin typeface="Segoe UI"/>
                <a:cs typeface="Segoe UI"/>
              </a:rPr>
              <a:t>multiple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spc="-55" dirty="0">
                <a:latin typeface="Segoe UI"/>
                <a:cs typeface="Segoe UI"/>
              </a:rPr>
              <a:t>brokers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28394" y="5689193"/>
            <a:ext cx="329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Segoe UI"/>
                <a:cs typeface="Segoe UI"/>
              </a:rPr>
              <a:t>Multiple</a:t>
            </a:r>
            <a:r>
              <a:rPr sz="1800" b="1" spc="-10" dirty="0">
                <a:latin typeface="Segoe UI"/>
                <a:cs typeface="Segoe UI"/>
              </a:rPr>
              <a:t> </a:t>
            </a:r>
            <a:r>
              <a:rPr sz="1800" b="1" spc="-50" dirty="0">
                <a:latin typeface="Segoe UI"/>
                <a:cs typeface="Segoe UI"/>
              </a:rPr>
              <a:t>nodes,</a:t>
            </a:r>
            <a:r>
              <a:rPr sz="1800" b="1" spc="-25" dirty="0">
                <a:latin typeface="Segoe UI"/>
                <a:cs typeface="Segoe UI"/>
              </a:rPr>
              <a:t> </a:t>
            </a:r>
            <a:r>
              <a:rPr sz="1800" b="1" spc="-80" dirty="0">
                <a:latin typeface="Segoe UI"/>
                <a:cs typeface="Segoe UI"/>
              </a:rPr>
              <a:t>multiple</a:t>
            </a:r>
            <a:r>
              <a:rPr sz="1800" b="1" spc="-25" dirty="0">
                <a:latin typeface="Segoe UI"/>
                <a:cs typeface="Segoe UI"/>
              </a:rPr>
              <a:t> </a:t>
            </a:r>
            <a:r>
              <a:rPr sz="1800" b="1" spc="-45" dirty="0">
                <a:latin typeface="Segoe UI"/>
                <a:cs typeface="Segoe UI"/>
              </a:rPr>
              <a:t>brokers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KAFKA</a:t>
            </a:r>
            <a:r>
              <a:rPr sz="2800" spc="-35" dirty="0"/>
              <a:t> </a:t>
            </a:r>
            <a:r>
              <a:rPr sz="2800" dirty="0"/>
              <a:t>:</a:t>
            </a:r>
            <a:r>
              <a:rPr sz="2800" spc="-40" dirty="0"/>
              <a:t> </a:t>
            </a:r>
            <a:r>
              <a:rPr sz="2800" b="1" spc="-90" dirty="0">
                <a:solidFill>
                  <a:srgbClr val="FFFF00"/>
                </a:solidFill>
                <a:latin typeface="Segoe UI"/>
                <a:cs typeface="Segoe UI"/>
              </a:rPr>
              <a:t>QUICK</a:t>
            </a:r>
            <a:r>
              <a:rPr sz="2800" b="1" spc="-65" dirty="0">
                <a:solidFill>
                  <a:srgbClr val="FFFF00"/>
                </a:solidFill>
                <a:latin typeface="Segoe UI"/>
                <a:cs typeface="Segoe U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START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4346" y="2255901"/>
            <a:ext cx="5153660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STEP</a:t>
            </a:r>
            <a:r>
              <a:rPr sz="1800" b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1: GET</a:t>
            </a:r>
            <a:r>
              <a:rPr sz="1800" b="1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Arial"/>
                <a:cs typeface="Arial"/>
              </a:rPr>
              <a:t>KAFKA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800">
              <a:latin typeface="Arial"/>
              <a:cs typeface="Arial"/>
            </a:endParaRPr>
          </a:p>
          <a:p>
            <a:pPr marL="238760">
              <a:lnSpc>
                <a:spcPct val="100000"/>
              </a:lnSpc>
              <a:spcBef>
                <a:spcPts val="5"/>
              </a:spcBef>
            </a:pPr>
            <a:r>
              <a:rPr sz="1800" u="sng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Arial MT"/>
                <a:cs typeface="Arial MT"/>
                <a:hlinkClick r:id="rId3"/>
              </a:rPr>
              <a:t>Download</a:t>
            </a:r>
            <a:r>
              <a:rPr sz="1800" spc="10" dirty="0">
                <a:solidFill>
                  <a:srgbClr val="828282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latest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Kafka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release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extract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it: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6696" y="3605784"/>
            <a:ext cx="10198735" cy="368935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Segoe UI Symbol"/>
                <a:cs typeface="Segoe UI Symbol"/>
              </a:rPr>
              <a:t>wget</a:t>
            </a:r>
            <a:r>
              <a:rPr sz="1800" spc="425" dirty="0">
                <a:latin typeface="Segoe UI Symbol"/>
                <a:cs typeface="Segoe UI Symbol"/>
              </a:rPr>
              <a:t> </a:t>
            </a:r>
            <a:r>
              <a:rPr sz="1800" spc="-20" dirty="0">
                <a:latin typeface="Segoe UI Symbol"/>
                <a:cs typeface="Segoe UI Symbol"/>
              </a:rPr>
              <a:t>https://dlcdn.apache.org/kafka/3.1.0/kafka_2.12-</a:t>
            </a:r>
            <a:r>
              <a:rPr sz="1800" spc="-10" dirty="0">
                <a:latin typeface="Segoe UI Symbol"/>
                <a:cs typeface="Segoe UI Symbol"/>
              </a:rPr>
              <a:t>3.1.0.tgz</a:t>
            </a:r>
            <a:endParaRPr sz="1800" dirty="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6696" y="4302252"/>
            <a:ext cx="2952115" cy="368935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Segoe UI Symbol"/>
                <a:cs typeface="Segoe UI Symbol"/>
              </a:rPr>
              <a:t>tar </a:t>
            </a:r>
            <a:r>
              <a:rPr sz="1800" spc="-10" dirty="0">
                <a:latin typeface="Segoe UI Symbol"/>
                <a:cs typeface="Segoe UI Symbol"/>
              </a:rPr>
              <a:t>-</a:t>
            </a:r>
            <a:r>
              <a:rPr sz="1800" dirty="0">
                <a:latin typeface="Segoe UI Symbol"/>
                <a:cs typeface="Segoe UI Symbol"/>
              </a:rPr>
              <a:t>xzf</a:t>
            </a:r>
            <a:r>
              <a:rPr sz="1800" spc="-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kafka_2.12-3.1.0.tgz</a:t>
            </a:r>
            <a:endParaRPr sz="18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KAFKA</a:t>
            </a:r>
            <a:r>
              <a:rPr sz="2800" spc="-35" dirty="0"/>
              <a:t> </a:t>
            </a:r>
            <a:r>
              <a:rPr sz="2800" dirty="0"/>
              <a:t>:</a:t>
            </a:r>
            <a:r>
              <a:rPr sz="2800" spc="-40" dirty="0"/>
              <a:t> </a:t>
            </a:r>
            <a:r>
              <a:rPr sz="2800" b="1" spc="-90" dirty="0">
                <a:solidFill>
                  <a:srgbClr val="FFFF00"/>
                </a:solidFill>
                <a:latin typeface="Segoe UI"/>
                <a:cs typeface="Segoe UI"/>
              </a:rPr>
              <a:t>QUICK</a:t>
            </a:r>
            <a:r>
              <a:rPr sz="2800" b="1" spc="-65" dirty="0">
                <a:solidFill>
                  <a:srgbClr val="FFFF00"/>
                </a:solidFill>
                <a:latin typeface="Segoe UI"/>
                <a:cs typeface="Segoe U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START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4346" y="2255901"/>
            <a:ext cx="10157054" cy="1061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STEP</a:t>
            </a:r>
            <a:r>
              <a:rPr sz="1800" b="1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2:</a:t>
            </a:r>
            <a:r>
              <a:rPr sz="1800" b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Arial"/>
                <a:cs typeface="Arial"/>
              </a:rPr>
              <a:t>START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800" b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KAFKA</a:t>
            </a:r>
            <a:r>
              <a:rPr sz="1800" b="1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ENVIRONMENT</a:t>
            </a:r>
            <a:endParaRPr sz="1800" dirty="0">
              <a:latin typeface="Arial"/>
              <a:cs typeface="Arial"/>
            </a:endParaRPr>
          </a:p>
          <a:p>
            <a:pPr marL="698500" indent="-286385">
              <a:lnSpc>
                <a:spcPct val="100000"/>
              </a:lnSpc>
              <a:spcBef>
                <a:spcPts val="1740"/>
              </a:spcBef>
              <a:buChar char="•"/>
              <a:tabLst>
                <a:tab pos="698500" algn="l"/>
              </a:tabLst>
            </a:pPr>
            <a:r>
              <a:rPr sz="1800" dirty="0">
                <a:latin typeface="Arial MT"/>
                <a:cs typeface="Arial MT"/>
              </a:rPr>
              <a:t>Run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following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commands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order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start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services </a:t>
            </a:r>
            <a:r>
              <a:rPr sz="1800" b="1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1800" b="1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800" b="1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 MT"/>
                <a:cs typeface="Arial MT"/>
              </a:rPr>
              <a:t>correct</a:t>
            </a:r>
            <a:r>
              <a:rPr sz="1800" b="1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 MT"/>
                <a:cs typeface="Arial MT"/>
              </a:rPr>
              <a:t>order</a:t>
            </a:r>
            <a:endParaRPr sz="1800" b="1" dirty="0">
              <a:latin typeface="Arial MT"/>
              <a:cs typeface="Arial MT"/>
            </a:endParaRPr>
          </a:p>
          <a:p>
            <a:pPr marL="698500" indent="-286385">
              <a:lnSpc>
                <a:spcPct val="100000"/>
              </a:lnSpc>
              <a:buFont typeface="Arial MT"/>
              <a:buChar char="•"/>
              <a:tabLst>
                <a:tab pos="698500" algn="l"/>
              </a:tabLst>
            </a:pPr>
            <a:r>
              <a:rPr sz="1800" spc="-20" dirty="0">
                <a:latin typeface="Segoe UI Symbol"/>
                <a:cs typeface="Segoe UI Symbol"/>
              </a:rPr>
              <a:t>Your</a:t>
            </a:r>
            <a:r>
              <a:rPr sz="1800" spc="-9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local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environment</a:t>
            </a:r>
            <a:r>
              <a:rPr sz="1800" spc="-7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must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have</a:t>
            </a:r>
            <a:r>
              <a:rPr sz="1800" spc="-65" dirty="0">
                <a:latin typeface="Segoe UI Symbol"/>
                <a:cs typeface="Segoe UI Symbol"/>
              </a:rPr>
              <a:t> </a:t>
            </a:r>
            <a:r>
              <a:rPr sz="1800" b="1" spc="-110" dirty="0">
                <a:solidFill>
                  <a:srgbClr val="FF0000"/>
                </a:solidFill>
                <a:latin typeface="Segoe UI"/>
                <a:cs typeface="Segoe UI"/>
              </a:rPr>
              <a:t>Java</a:t>
            </a:r>
            <a:r>
              <a:rPr sz="1800" b="1" spc="-3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8+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installed</a:t>
            </a:r>
            <a:endParaRPr sz="1800" dirty="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607" y="4007284"/>
            <a:ext cx="5169789" cy="217366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1200" dirty="0">
                <a:latin typeface="Consolas"/>
                <a:cs typeface="Consolas"/>
              </a:rPr>
              <a:t>$</a:t>
            </a:r>
            <a:r>
              <a:rPr sz="1200" spc="1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bin/zookeeper-server-</a:t>
            </a:r>
            <a:r>
              <a:rPr sz="1200" dirty="0">
                <a:latin typeface="Consolas"/>
                <a:cs typeface="Consolas"/>
              </a:rPr>
              <a:t>start.sh</a:t>
            </a:r>
            <a:r>
              <a:rPr sz="1200" spc="7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config/zookeeper.properties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1166" y="4821870"/>
            <a:ext cx="425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AF50"/>
                </a:solidFill>
                <a:latin typeface="Segoe UI"/>
                <a:cs typeface="Segoe UI"/>
              </a:rPr>
              <a:t>2.</a:t>
            </a:r>
            <a:r>
              <a:rPr sz="1800" b="1" spc="-6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25" dirty="0">
                <a:solidFill>
                  <a:srgbClr val="00AF50"/>
                </a:solidFill>
                <a:latin typeface="Segoe UI"/>
                <a:cs typeface="Segoe UI"/>
              </a:rPr>
              <a:t>Open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60" dirty="0">
                <a:solidFill>
                  <a:srgbClr val="00AF50"/>
                </a:solidFill>
                <a:latin typeface="Segoe UI"/>
                <a:cs typeface="Segoe UI"/>
              </a:rPr>
              <a:t>another</a:t>
            </a:r>
            <a:r>
              <a:rPr sz="1800" b="1" spc="-5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85" dirty="0">
                <a:solidFill>
                  <a:srgbClr val="00AF50"/>
                </a:solidFill>
                <a:latin typeface="Segoe UI"/>
                <a:cs typeface="Segoe UI"/>
              </a:rPr>
              <a:t>terminal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50" dirty="0">
                <a:solidFill>
                  <a:srgbClr val="00AF50"/>
                </a:solidFill>
                <a:latin typeface="Segoe UI"/>
                <a:cs typeface="Segoe UI"/>
              </a:rPr>
              <a:t>session</a:t>
            </a:r>
            <a:r>
              <a:rPr sz="1800" b="1" spc="-5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and</a:t>
            </a:r>
            <a:r>
              <a:rPr sz="1800" b="1" spc="-5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20" dirty="0">
                <a:solidFill>
                  <a:srgbClr val="00AF50"/>
                </a:solidFill>
                <a:latin typeface="Segoe UI"/>
                <a:cs typeface="Segoe UI"/>
              </a:rPr>
              <a:t>run:</a:t>
            </a:r>
            <a:endParaRPr sz="1800" dirty="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57" y="5293063"/>
            <a:ext cx="4506443" cy="217366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32384" rIns="0" bIns="0" rtlCol="0">
            <a:spAutoFit/>
          </a:bodyPr>
          <a:lstStyle>
            <a:defPPr>
              <a:defRPr kern="0"/>
            </a:defPPr>
            <a:lvl1pPr marL="91440">
              <a:lnSpc>
                <a:spcPct val="100000"/>
              </a:lnSpc>
              <a:spcBef>
                <a:spcPts val="254"/>
              </a:spcBef>
              <a:defRPr sz="1400">
                <a:latin typeface="Consolas"/>
                <a:cs typeface="Consolas"/>
              </a:defRPr>
            </a:lvl1pPr>
          </a:lstStyle>
          <a:p>
            <a:r>
              <a:rPr sz="1200" dirty="0"/>
              <a:t>$ bin/kafka-server-start.sh config/server.properties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736A650-6C08-C6E6-5F82-DCD31727C452}"/>
              </a:ext>
            </a:extLst>
          </p:cNvPr>
          <p:cNvSpPr txBox="1"/>
          <p:nvPr/>
        </p:nvSpPr>
        <p:spPr>
          <a:xfrm>
            <a:off x="914400" y="36951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">
              <a:lnSpc>
                <a:spcPct val="100000"/>
              </a:lnSpc>
            </a:pPr>
            <a:r>
              <a:rPr lang="fr-FR" sz="1800" b="1" spc="-55" dirty="0">
                <a:solidFill>
                  <a:srgbClr val="00AF50"/>
                </a:solidFill>
                <a:latin typeface="Segoe UI"/>
                <a:cs typeface="Segoe UI"/>
              </a:rPr>
              <a:t>1.</a:t>
            </a:r>
            <a:r>
              <a:rPr lang="fr-FR" sz="1800" b="1" spc="-5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lang="fr-FR" sz="1800" b="1" spc="-70" dirty="0">
                <a:solidFill>
                  <a:srgbClr val="00AF50"/>
                </a:solidFill>
                <a:latin typeface="Segoe UI"/>
                <a:cs typeface="Segoe UI"/>
              </a:rPr>
              <a:t>Start</a:t>
            </a:r>
            <a:r>
              <a:rPr lang="fr-FR" sz="1800" b="1" spc="-5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lang="fr-FR" sz="1800" b="1" spc="-10" dirty="0" err="1">
                <a:solidFill>
                  <a:srgbClr val="00AF50"/>
                </a:solidFill>
                <a:latin typeface="Segoe UI"/>
                <a:cs typeface="Segoe UI"/>
              </a:rPr>
              <a:t>Zookeeper</a:t>
            </a:r>
            <a:endParaRPr lang="fr-FR" sz="1800" dirty="0">
              <a:latin typeface="Segoe UI"/>
              <a:cs typeface="Segoe UI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3EEBF24-A021-B382-D40F-882AC64888FB}"/>
              </a:ext>
            </a:extLst>
          </p:cNvPr>
          <p:cNvSpPr txBox="1"/>
          <p:nvPr/>
        </p:nvSpPr>
        <p:spPr>
          <a:xfrm>
            <a:off x="65557" y="4297852"/>
            <a:ext cx="60960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>
              <a:spcBef>
                <a:spcPts val="254"/>
              </a:spcBef>
            </a:pPr>
            <a:r>
              <a:rPr lang="en-US" sz="1200" dirty="0">
                <a:latin typeface="Consolas"/>
              </a:rPr>
              <a:t>start bin\windows\zookeeper-server-start.bat config\</a:t>
            </a:r>
            <a:r>
              <a:rPr lang="en-US" sz="1200" dirty="0" err="1">
                <a:latin typeface="Consolas"/>
              </a:rPr>
              <a:t>zookeeper.properties</a:t>
            </a:r>
            <a:endParaRPr lang="fr-FR" sz="1200" dirty="0">
              <a:latin typeface="Consola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D4306D0-AAB3-C65B-FDED-BEDEE7BD077C}"/>
              </a:ext>
            </a:extLst>
          </p:cNvPr>
          <p:cNvSpPr txBox="1"/>
          <p:nvPr/>
        </p:nvSpPr>
        <p:spPr>
          <a:xfrm>
            <a:off x="84607" y="5816600"/>
            <a:ext cx="5782793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1200" dirty="0">
                <a:latin typeface="Consolas"/>
              </a:rPr>
              <a:t>start bin\</a:t>
            </a:r>
            <a:r>
              <a:rPr lang="fr-FR" sz="1200" dirty="0" err="1">
                <a:latin typeface="Consolas"/>
              </a:rPr>
              <a:t>windows</a:t>
            </a:r>
            <a:r>
              <a:rPr lang="fr-FR" sz="1200" dirty="0">
                <a:latin typeface="Consolas"/>
              </a:rPr>
              <a:t>\kafka-server-start.bat config/</a:t>
            </a:r>
            <a:r>
              <a:rPr lang="fr-FR" sz="1200" dirty="0" err="1">
                <a:latin typeface="Consolas"/>
              </a:rPr>
              <a:t>server.properties</a:t>
            </a:r>
            <a:endParaRPr lang="fr-FR" sz="1200" dirty="0">
              <a:latin typeface="Consolas"/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E4E6A0D6-4158-3EEB-9EBB-D2671D86D1E4}"/>
              </a:ext>
            </a:extLst>
          </p:cNvPr>
          <p:cNvCxnSpPr/>
          <p:nvPr/>
        </p:nvCxnSpPr>
        <p:spPr>
          <a:xfrm>
            <a:off x="6324600" y="3635690"/>
            <a:ext cx="0" cy="2971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9B149363-DC9C-70C7-BACD-6AA75837F21E}"/>
              </a:ext>
            </a:extLst>
          </p:cNvPr>
          <p:cNvSpPr txBox="1"/>
          <p:nvPr/>
        </p:nvSpPr>
        <p:spPr>
          <a:xfrm>
            <a:off x="982116" y="6397043"/>
            <a:ext cx="1151483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Windows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1DD91DF-DFD9-8DB2-31F0-F8102B374681}"/>
              </a:ext>
            </a:extLst>
          </p:cNvPr>
          <p:cNvSpPr txBox="1"/>
          <p:nvPr/>
        </p:nvSpPr>
        <p:spPr>
          <a:xfrm>
            <a:off x="2734716" y="6397043"/>
            <a:ext cx="1151483" cy="276999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32384" rIns="0" bIns="0" rtlCol="0">
            <a:spAutoFit/>
          </a:bodyPr>
          <a:lstStyle>
            <a:defPPr>
              <a:defRPr kern="0"/>
            </a:defPPr>
            <a:lvl1pPr marL="91440">
              <a:lnSpc>
                <a:spcPct val="100000"/>
              </a:lnSpc>
              <a:spcBef>
                <a:spcPts val="254"/>
              </a:spcBef>
              <a:defRPr sz="1200">
                <a:latin typeface="Consolas"/>
                <a:cs typeface="Consolas"/>
              </a:defRPr>
            </a:lvl1pPr>
          </a:lstStyle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118A627-240C-C85A-6B1A-E0844C218D89}"/>
              </a:ext>
            </a:extLst>
          </p:cNvPr>
          <p:cNvSpPr txBox="1"/>
          <p:nvPr/>
        </p:nvSpPr>
        <p:spPr>
          <a:xfrm>
            <a:off x="8200448" y="3325843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>
                <a:solidFill>
                  <a:srgbClr val="00B050"/>
                </a:solidFill>
              </a:rPr>
              <a:t>Without zookeeper</a:t>
            </a:r>
            <a:endParaRPr lang="fr-FR" b="1" dirty="0">
              <a:solidFill>
                <a:srgbClr val="00B05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71FAA1E-3621-1AD8-3E60-4F2FAFA03274}"/>
              </a:ext>
            </a:extLst>
          </p:cNvPr>
          <p:cNvSpPr txBox="1"/>
          <p:nvPr/>
        </p:nvSpPr>
        <p:spPr>
          <a:xfrm>
            <a:off x="6487644" y="372047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NOTE: </a:t>
            </a:r>
            <a:r>
              <a:rPr lang="en-US" sz="1400" dirty="0">
                <a:solidFill>
                  <a:schemeClr val="tx1"/>
                </a:solidFill>
              </a:rPr>
              <a:t>Your local environment must have Java 17+ installed</a:t>
            </a:r>
            <a:r>
              <a:rPr lang="en-US" sz="1400" b="1" dirty="0">
                <a:solidFill>
                  <a:srgbClr val="FF0000"/>
                </a:solidFill>
              </a:rPr>
              <a:t>.</a:t>
            </a:r>
            <a:endParaRPr lang="fr-FR" sz="1400" b="1" dirty="0">
              <a:solidFill>
                <a:srgbClr val="FF0000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275D853-EA3F-1922-B0F8-FB9AEE396315}"/>
              </a:ext>
            </a:extLst>
          </p:cNvPr>
          <p:cNvSpPr txBox="1"/>
          <p:nvPr/>
        </p:nvSpPr>
        <p:spPr>
          <a:xfrm>
            <a:off x="6383300" y="4467248"/>
            <a:ext cx="580184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/>
              </a:rPr>
              <a:t>FOR /F "</a:t>
            </a:r>
            <a:r>
              <a:rPr lang="en-US" sz="1200" dirty="0" err="1">
                <a:latin typeface="Consolas"/>
              </a:rPr>
              <a:t>delims</a:t>
            </a:r>
            <a:r>
              <a:rPr lang="en-US" sz="1200" dirty="0">
                <a:latin typeface="Consolas"/>
              </a:rPr>
              <a:t>=" %</a:t>
            </a:r>
            <a:r>
              <a:rPr lang="en-US" sz="1200" dirty="0" err="1">
                <a:latin typeface="Consolas"/>
              </a:rPr>
              <a:t>i</a:t>
            </a:r>
            <a:r>
              <a:rPr lang="en-US" sz="1200" dirty="0">
                <a:latin typeface="Consolas"/>
              </a:rPr>
              <a:t> IN ('bin\windows\kafka-storage.bat random-</a:t>
            </a:r>
            <a:r>
              <a:rPr lang="en-US" sz="1200" dirty="0" err="1">
                <a:latin typeface="Consolas"/>
              </a:rPr>
              <a:t>uuid</a:t>
            </a:r>
            <a:r>
              <a:rPr lang="en-US" sz="1200" dirty="0">
                <a:latin typeface="Consolas"/>
              </a:rPr>
              <a:t>') DO SET KAFKA_CLUSTER_ID=%</a:t>
            </a:r>
            <a:r>
              <a:rPr lang="en-US" sz="1200" dirty="0" err="1">
                <a:latin typeface="Consolas"/>
              </a:rPr>
              <a:t>i</a:t>
            </a:r>
            <a:endParaRPr lang="fr-FR" sz="1200" dirty="0">
              <a:latin typeface="Consolas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1BE5631-5264-F677-78DE-B8E6B5956F0C}"/>
              </a:ext>
            </a:extLst>
          </p:cNvPr>
          <p:cNvSpPr txBox="1"/>
          <p:nvPr/>
        </p:nvSpPr>
        <p:spPr>
          <a:xfrm>
            <a:off x="6373775" y="4039984"/>
            <a:ext cx="4903823" cy="217366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32384" rIns="0" bIns="0" rtlCol="0">
            <a:spAutoFit/>
          </a:bodyPr>
          <a:lstStyle>
            <a:defPPr>
              <a:defRPr kern="0"/>
            </a:defPPr>
            <a:lvl1pPr marL="91440">
              <a:lnSpc>
                <a:spcPct val="100000"/>
              </a:lnSpc>
              <a:spcBef>
                <a:spcPts val="254"/>
              </a:spcBef>
              <a:defRPr sz="1200">
                <a:latin typeface="Consolas"/>
                <a:cs typeface="Consolas"/>
              </a:defRPr>
            </a:lvl1pPr>
          </a:lstStyle>
          <a:p>
            <a:r>
              <a:rPr lang="fr-FR" dirty="0"/>
              <a:t>KAFKA_CLUSTER_ID="$(bin/kafka-storage.sh </a:t>
            </a:r>
            <a:r>
              <a:rPr lang="fr-FR" dirty="0" err="1"/>
              <a:t>random-uuid</a:t>
            </a:r>
            <a:r>
              <a:rPr lang="fr-FR" dirty="0"/>
              <a:t>)"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KAFKA</a:t>
            </a:r>
            <a:r>
              <a:rPr sz="2800" spc="-35" dirty="0"/>
              <a:t> </a:t>
            </a:r>
            <a:r>
              <a:rPr sz="2800" dirty="0"/>
              <a:t>:</a:t>
            </a:r>
            <a:r>
              <a:rPr sz="2800" spc="-40" dirty="0"/>
              <a:t> </a:t>
            </a:r>
            <a:r>
              <a:rPr sz="2800" b="1" spc="-90" dirty="0">
                <a:solidFill>
                  <a:srgbClr val="FFFF00"/>
                </a:solidFill>
                <a:latin typeface="Segoe UI"/>
                <a:cs typeface="Segoe UI"/>
              </a:rPr>
              <a:t>QUICK</a:t>
            </a:r>
            <a:r>
              <a:rPr sz="2800" b="1" spc="-65" dirty="0">
                <a:solidFill>
                  <a:srgbClr val="FFFF00"/>
                </a:solidFill>
                <a:latin typeface="Segoe UI"/>
                <a:cs typeface="Segoe U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START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4346" y="2255901"/>
            <a:ext cx="8420100" cy="106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STEP</a:t>
            </a:r>
            <a:r>
              <a:rPr sz="1800" b="1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3: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CREATE</a:t>
            </a:r>
            <a:r>
              <a:rPr sz="1800" b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1800" b="1" spc="-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TOPIC</a:t>
            </a:r>
            <a:r>
              <a:rPr sz="1800" b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STORE</a:t>
            </a:r>
            <a:r>
              <a:rPr sz="1800" b="1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YOUR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EVENTS</a:t>
            </a:r>
            <a:endParaRPr sz="1800">
              <a:latin typeface="Arial"/>
              <a:cs typeface="Arial"/>
            </a:endParaRPr>
          </a:p>
          <a:p>
            <a:pPr marL="698500" indent="-286385">
              <a:lnSpc>
                <a:spcPct val="100000"/>
              </a:lnSpc>
              <a:spcBef>
                <a:spcPts val="1740"/>
              </a:spcBef>
              <a:buChar char="•"/>
              <a:tabLst>
                <a:tab pos="698500" algn="l"/>
              </a:tabLst>
            </a:pPr>
            <a:r>
              <a:rPr sz="1800" dirty="0">
                <a:latin typeface="Arial MT"/>
                <a:cs typeface="Arial MT"/>
              </a:rPr>
              <a:t>Run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following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commands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order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start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services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18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correct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order</a:t>
            </a:r>
            <a:endParaRPr sz="1800">
              <a:latin typeface="Arial MT"/>
              <a:cs typeface="Arial MT"/>
            </a:endParaRPr>
          </a:p>
          <a:p>
            <a:pPr marL="698500" indent="-286385">
              <a:lnSpc>
                <a:spcPct val="100000"/>
              </a:lnSpc>
              <a:buFont typeface="Arial MT"/>
              <a:buChar char="•"/>
              <a:tabLst>
                <a:tab pos="698500" algn="l"/>
              </a:tabLst>
            </a:pPr>
            <a:r>
              <a:rPr sz="1800" spc="-20" dirty="0">
                <a:latin typeface="Segoe UI Symbol"/>
                <a:cs typeface="Segoe UI Symbol"/>
              </a:rPr>
              <a:t>Your</a:t>
            </a:r>
            <a:r>
              <a:rPr sz="1800" spc="-9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local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environment</a:t>
            </a:r>
            <a:r>
              <a:rPr sz="1800" spc="-7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must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have</a:t>
            </a:r>
            <a:r>
              <a:rPr sz="1800" spc="-65" dirty="0">
                <a:latin typeface="Segoe UI Symbol"/>
                <a:cs typeface="Segoe UI Symbol"/>
              </a:rPr>
              <a:t> </a:t>
            </a:r>
            <a:r>
              <a:rPr sz="1800" b="1" spc="-110" dirty="0">
                <a:solidFill>
                  <a:srgbClr val="FF0000"/>
                </a:solidFill>
                <a:latin typeface="Segoe UI"/>
                <a:cs typeface="Segoe UI"/>
              </a:rPr>
              <a:t>Java</a:t>
            </a:r>
            <a:r>
              <a:rPr sz="1800" b="1" spc="-3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8+</a:t>
            </a:r>
            <a:r>
              <a:rPr sz="1800" b="1" spc="-5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installed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0287" y="3706367"/>
            <a:ext cx="10200640" cy="217366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32384" rIns="0" bIns="0" rtlCol="0">
            <a:spAutoFit/>
          </a:bodyPr>
          <a:lstStyle/>
          <a:p>
            <a:pPr marL="91440" marR="699135">
              <a:lnSpc>
                <a:spcPct val="100000"/>
              </a:lnSpc>
              <a:spcBef>
                <a:spcPts val="254"/>
              </a:spcBef>
            </a:pPr>
            <a:r>
              <a:rPr sz="1200" spc="-10" dirty="0">
                <a:latin typeface="Consolas"/>
              </a:rPr>
              <a:t>$ bin/kafka-topics.sh --create --topic quickstart-events --bootstrap-server localhost:9092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1712" y="5330763"/>
            <a:ext cx="10200640" cy="218007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3301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9"/>
              </a:spcBef>
            </a:pPr>
            <a:r>
              <a:rPr lang="fr-FR" sz="1200" spc="-10" dirty="0">
                <a:latin typeface="Consolas"/>
              </a:rPr>
              <a:t>$ bin/kafka-topics.sh --</a:t>
            </a:r>
            <a:r>
              <a:rPr lang="fr-FR" sz="1200" spc="-10" dirty="0" err="1">
                <a:latin typeface="Consolas"/>
              </a:rPr>
              <a:t>describe</a:t>
            </a:r>
            <a:r>
              <a:rPr lang="fr-FR" sz="1200" spc="-10" dirty="0">
                <a:latin typeface="Consolas"/>
              </a:rPr>
              <a:t> --topic </a:t>
            </a:r>
            <a:r>
              <a:rPr lang="fr-FR" sz="1200" spc="-10" dirty="0" err="1">
                <a:latin typeface="Consolas"/>
              </a:rPr>
              <a:t>quickstart-events</a:t>
            </a:r>
            <a:r>
              <a:rPr lang="fr-FR" sz="1200" spc="-10" dirty="0">
                <a:latin typeface="Consolas"/>
              </a:rPr>
              <a:t> --</a:t>
            </a:r>
            <a:r>
              <a:rPr lang="fr-FR" sz="1200" spc="-10" dirty="0" err="1">
                <a:latin typeface="Consolas"/>
              </a:rPr>
              <a:t>bootstrap</a:t>
            </a:r>
            <a:r>
              <a:rPr lang="fr-FR" sz="1200" spc="-10" dirty="0">
                <a:latin typeface="Consolas"/>
              </a:rPr>
              <a:t>-server localhost:9092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9027" y="4797297"/>
            <a:ext cx="7040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You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also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details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partition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topic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E6F0F55-71B5-2BD2-4678-F2D630765505}"/>
              </a:ext>
            </a:extLst>
          </p:cNvPr>
          <p:cNvSpPr txBox="1"/>
          <p:nvPr/>
        </p:nvSpPr>
        <p:spPr>
          <a:xfrm>
            <a:off x="751712" y="4138860"/>
            <a:ext cx="1029512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fr-FR" dirty="0"/>
              <a:t> </a:t>
            </a:r>
            <a:r>
              <a:rPr lang="fr-FR" sz="1200" spc="-10" dirty="0">
                <a:latin typeface="Consolas"/>
              </a:rPr>
              <a:t>bin\</a:t>
            </a:r>
            <a:r>
              <a:rPr lang="fr-FR" sz="1200" spc="-10" dirty="0" err="1">
                <a:latin typeface="Consolas"/>
              </a:rPr>
              <a:t>windows</a:t>
            </a:r>
            <a:r>
              <a:rPr lang="fr-FR" sz="1200" spc="-10" dirty="0">
                <a:latin typeface="Consolas"/>
              </a:rPr>
              <a:t>\kafka-topics.bat --</a:t>
            </a:r>
            <a:r>
              <a:rPr lang="fr-FR" sz="1200" spc="-10" dirty="0" err="1">
                <a:latin typeface="Consolas"/>
              </a:rPr>
              <a:t>create</a:t>
            </a:r>
            <a:r>
              <a:rPr lang="fr-FR" sz="1200" spc="-10" dirty="0">
                <a:latin typeface="Consolas"/>
              </a:rPr>
              <a:t> --topic </a:t>
            </a:r>
            <a:r>
              <a:rPr lang="fr-FR" sz="1200" spc="-10" dirty="0" err="1">
                <a:latin typeface="Consolas"/>
              </a:rPr>
              <a:t>quickstart-events</a:t>
            </a:r>
            <a:r>
              <a:rPr lang="fr-FR" sz="1200" spc="-10" dirty="0">
                <a:latin typeface="Consolas"/>
              </a:rPr>
              <a:t> --</a:t>
            </a:r>
            <a:r>
              <a:rPr lang="fr-FR" sz="1200" spc="-10" dirty="0" err="1">
                <a:latin typeface="Consolas"/>
              </a:rPr>
              <a:t>bootstrap</a:t>
            </a:r>
            <a:r>
              <a:rPr lang="fr-FR" sz="1200" spc="-10" dirty="0">
                <a:latin typeface="Consolas"/>
              </a:rPr>
              <a:t>-server localhost:9092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5BD861A-884A-6F21-834D-E03F4FC8EE25}"/>
              </a:ext>
            </a:extLst>
          </p:cNvPr>
          <p:cNvSpPr txBox="1"/>
          <p:nvPr/>
        </p:nvSpPr>
        <p:spPr>
          <a:xfrm>
            <a:off x="751712" y="5781088"/>
            <a:ext cx="9353551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1200" spc="-10" dirty="0">
                <a:latin typeface="Consolas"/>
              </a:rPr>
              <a:t>bin\</a:t>
            </a:r>
            <a:r>
              <a:rPr lang="fr-FR" sz="1200" spc="-10" dirty="0" err="1">
                <a:latin typeface="Consolas"/>
              </a:rPr>
              <a:t>windows</a:t>
            </a:r>
            <a:r>
              <a:rPr lang="fr-FR" sz="1200" spc="-10" dirty="0">
                <a:latin typeface="Consolas"/>
              </a:rPr>
              <a:t>\kafka-topics.bat --</a:t>
            </a:r>
            <a:r>
              <a:rPr lang="fr-FR" sz="1200" spc="-10" dirty="0" err="1">
                <a:latin typeface="Consolas"/>
              </a:rPr>
              <a:t>describe</a:t>
            </a:r>
            <a:r>
              <a:rPr lang="fr-FR" sz="1200" spc="-10" dirty="0">
                <a:latin typeface="Consolas"/>
              </a:rPr>
              <a:t> --topic </a:t>
            </a:r>
            <a:r>
              <a:rPr lang="fr-FR" sz="1200" spc="-10" dirty="0" err="1">
                <a:latin typeface="Consolas"/>
              </a:rPr>
              <a:t>quickstart-events</a:t>
            </a:r>
            <a:r>
              <a:rPr lang="fr-FR" sz="1200" spc="-10" dirty="0">
                <a:latin typeface="Consolas"/>
              </a:rPr>
              <a:t> --</a:t>
            </a:r>
            <a:r>
              <a:rPr lang="fr-FR" sz="1200" spc="-10" dirty="0" err="1">
                <a:latin typeface="Consolas"/>
              </a:rPr>
              <a:t>bootstrap</a:t>
            </a:r>
            <a:r>
              <a:rPr lang="fr-FR" sz="1200" spc="-10" dirty="0">
                <a:latin typeface="Consolas"/>
              </a:rPr>
              <a:t>-server localhost:9092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KAFKA</a:t>
            </a:r>
            <a:r>
              <a:rPr sz="2800" spc="-35" dirty="0"/>
              <a:t> </a:t>
            </a:r>
            <a:r>
              <a:rPr sz="2800" dirty="0"/>
              <a:t>:</a:t>
            </a:r>
            <a:r>
              <a:rPr sz="2800" spc="-40" dirty="0"/>
              <a:t> </a:t>
            </a:r>
            <a:r>
              <a:rPr sz="2800" b="1" spc="-90" dirty="0">
                <a:solidFill>
                  <a:srgbClr val="FFFF00"/>
                </a:solidFill>
                <a:latin typeface="Segoe UI"/>
                <a:cs typeface="Segoe UI"/>
              </a:rPr>
              <a:t>QUICK</a:t>
            </a:r>
            <a:r>
              <a:rPr sz="2800" b="1" spc="-65" dirty="0">
                <a:solidFill>
                  <a:srgbClr val="FFFF00"/>
                </a:solidFill>
                <a:latin typeface="Segoe UI"/>
                <a:cs typeface="Segoe U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START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4346" y="2255901"/>
            <a:ext cx="7375525" cy="94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STEP</a:t>
            </a:r>
            <a:r>
              <a:rPr sz="1800" b="1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4:</a:t>
            </a:r>
            <a:r>
              <a:rPr sz="18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WRITE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SOME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EVENTS</a:t>
            </a:r>
            <a:r>
              <a:rPr sz="18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INTO</a:t>
            </a:r>
            <a:r>
              <a:rPr sz="18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8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TOPIC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800" dirty="0">
              <a:latin typeface="Arial"/>
              <a:cs typeface="Arial"/>
            </a:endParaRPr>
          </a:p>
          <a:p>
            <a:pPr marL="455930" indent="-286385">
              <a:lnSpc>
                <a:spcPct val="100000"/>
              </a:lnSpc>
              <a:buChar char="•"/>
              <a:tabLst>
                <a:tab pos="455930" algn="l"/>
              </a:tabLst>
            </a:pPr>
            <a:r>
              <a:rPr sz="1800" dirty="0">
                <a:latin typeface="Arial MT"/>
                <a:cs typeface="Arial MT"/>
              </a:rPr>
              <a:t>Run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console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client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few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 </a:t>
            </a:r>
            <a:r>
              <a:rPr sz="1800" spc="-10" dirty="0">
                <a:latin typeface="Arial MT"/>
                <a:cs typeface="Arial MT"/>
              </a:rPr>
              <a:t>topic.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0287" y="3706367"/>
            <a:ext cx="10200640" cy="646430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32384" rIns="0" bIns="0" rtlCol="0">
            <a:spAutoFit/>
          </a:bodyPr>
          <a:lstStyle/>
          <a:p>
            <a:pPr marL="91440" marR="57404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latin typeface="Consolas"/>
                <a:cs typeface="Consolas"/>
              </a:rPr>
              <a:t>$</a:t>
            </a:r>
            <a:r>
              <a:rPr sz="1800" spc="1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bin/kafka-console-</a:t>
            </a:r>
            <a:r>
              <a:rPr sz="1800" dirty="0">
                <a:latin typeface="Consolas"/>
                <a:cs typeface="Consolas"/>
              </a:rPr>
              <a:t>producer.sh</a:t>
            </a:r>
            <a:r>
              <a:rPr sz="1800" spc="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--</a:t>
            </a:r>
            <a:r>
              <a:rPr sz="1800" dirty="0">
                <a:latin typeface="Consolas"/>
                <a:cs typeface="Consolas"/>
              </a:rPr>
              <a:t>topic</a:t>
            </a:r>
            <a:r>
              <a:rPr sz="1800" spc="3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quickstart-</a:t>
            </a:r>
            <a:r>
              <a:rPr sz="1800" dirty="0">
                <a:latin typeface="Consolas"/>
                <a:cs typeface="Consolas"/>
              </a:rPr>
              <a:t>events</a:t>
            </a:r>
            <a:r>
              <a:rPr sz="1800" spc="3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-</a:t>
            </a:r>
            <a:r>
              <a:rPr sz="1800" dirty="0">
                <a:latin typeface="Consolas"/>
                <a:cs typeface="Consolas"/>
              </a:rPr>
              <a:t>-</a:t>
            </a:r>
            <a:r>
              <a:rPr sz="1800" spc="-10" dirty="0">
                <a:latin typeface="Consolas"/>
                <a:cs typeface="Consolas"/>
              </a:rPr>
              <a:t>bootstrap-server localhost:9092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1318" y="5211317"/>
            <a:ext cx="5935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35" dirty="0">
                <a:latin typeface="Segoe UI Symbol"/>
                <a:cs typeface="Segoe UI Symbol"/>
              </a:rPr>
              <a:t>You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can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stop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producer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client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with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b="1" spc="-55" dirty="0">
                <a:solidFill>
                  <a:srgbClr val="FF0000"/>
                </a:solidFill>
                <a:latin typeface="Segoe UI"/>
                <a:cs typeface="Segoe UI"/>
              </a:rPr>
              <a:t>Ctrl-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C</a:t>
            </a:r>
            <a:r>
              <a:rPr sz="1800" b="1" spc="-7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at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any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time.</a:t>
            </a:r>
            <a:endParaRPr sz="18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08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KAFKA</a:t>
            </a:r>
            <a:r>
              <a:rPr sz="2800" spc="-35" dirty="0"/>
              <a:t> </a:t>
            </a:r>
            <a:r>
              <a:rPr sz="2800" dirty="0"/>
              <a:t>:</a:t>
            </a:r>
            <a:r>
              <a:rPr sz="2800" spc="-40" dirty="0"/>
              <a:t> </a:t>
            </a:r>
            <a:r>
              <a:rPr sz="2800" b="1" spc="-90" dirty="0">
                <a:solidFill>
                  <a:srgbClr val="FFFF00"/>
                </a:solidFill>
                <a:latin typeface="Segoe UI"/>
                <a:cs typeface="Segoe UI"/>
              </a:rPr>
              <a:t>QUICK</a:t>
            </a:r>
            <a:r>
              <a:rPr sz="2800" b="1" spc="-65" dirty="0">
                <a:solidFill>
                  <a:srgbClr val="FFFF00"/>
                </a:solidFill>
                <a:latin typeface="Segoe UI"/>
                <a:cs typeface="Segoe U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Segoe UI"/>
                <a:cs typeface="Segoe UI"/>
              </a:rPr>
              <a:t>START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4346" y="2255901"/>
            <a:ext cx="10053955" cy="1221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STEP</a:t>
            </a:r>
            <a:r>
              <a:rPr sz="1800" b="1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5: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READ</a:t>
            </a:r>
            <a:r>
              <a:rPr sz="1800" b="1" spc="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EVENTS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800">
              <a:latin typeface="Arial"/>
              <a:cs typeface="Arial"/>
            </a:endParaRPr>
          </a:p>
          <a:p>
            <a:pPr marL="455930" marR="5080" indent="-287020">
              <a:lnSpc>
                <a:spcPct val="100000"/>
              </a:lnSpc>
              <a:buChar char="•"/>
              <a:tabLst>
                <a:tab pos="455930" algn="l"/>
              </a:tabLst>
            </a:pPr>
            <a:r>
              <a:rPr sz="1800" dirty="0">
                <a:latin typeface="Arial MT"/>
                <a:cs typeface="Arial MT"/>
              </a:rPr>
              <a:t>Open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another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terminal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session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console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consumer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client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just </a:t>
            </a:r>
            <a:r>
              <a:rPr sz="1800" spc="-10" dirty="0">
                <a:latin typeface="Arial MT"/>
                <a:cs typeface="Arial MT"/>
              </a:rPr>
              <a:t>created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0287" y="3706367"/>
            <a:ext cx="10200640" cy="646430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32384" rIns="0" bIns="0" rtlCol="0">
            <a:spAutoFit/>
          </a:bodyPr>
          <a:lstStyle/>
          <a:p>
            <a:pPr marL="91440" marR="45085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latin typeface="Consolas"/>
                <a:cs typeface="Consolas"/>
              </a:rPr>
              <a:t>$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bin/kafka-console-</a:t>
            </a:r>
            <a:r>
              <a:rPr sz="1800" dirty="0">
                <a:latin typeface="Consolas"/>
                <a:cs typeface="Consolas"/>
              </a:rPr>
              <a:t>consumer.sh</a:t>
            </a:r>
            <a:r>
              <a:rPr sz="1800" spc="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--</a:t>
            </a:r>
            <a:r>
              <a:rPr sz="1800" dirty="0">
                <a:latin typeface="Consolas"/>
                <a:cs typeface="Consolas"/>
              </a:rPr>
              <a:t>topic</a:t>
            </a:r>
            <a:r>
              <a:rPr sz="1800" spc="1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quickstart-</a:t>
            </a:r>
            <a:r>
              <a:rPr sz="1800" dirty="0">
                <a:latin typeface="Consolas"/>
                <a:cs typeface="Consolas"/>
              </a:rPr>
              <a:t>events</a:t>
            </a:r>
            <a:r>
              <a:rPr sz="1800" spc="1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-</a:t>
            </a:r>
            <a:r>
              <a:rPr sz="1800" dirty="0">
                <a:latin typeface="Consolas"/>
                <a:cs typeface="Consolas"/>
              </a:rPr>
              <a:t>-</a:t>
            </a:r>
            <a:r>
              <a:rPr sz="1800" spc="-10" dirty="0">
                <a:latin typeface="Consolas"/>
                <a:cs typeface="Consolas"/>
              </a:rPr>
              <a:t>from-</a:t>
            </a:r>
            <a:r>
              <a:rPr sz="1800" dirty="0">
                <a:latin typeface="Consolas"/>
                <a:cs typeface="Consolas"/>
              </a:rPr>
              <a:t>beginning</a:t>
            </a:r>
            <a:r>
              <a:rPr sz="1800" spc="1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-</a:t>
            </a:r>
            <a:r>
              <a:rPr sz="1800" spc="-50" dirty="0">
                <a:latin typeface="Consolas"/>
                <a:cs typeface="Consolas"/>
              </a:rPr>
              <a:t>- </a:t>
            </a:r>
            <a:r>
              <a:rPr sz="1800" spc="-10" dirty="0">
                <a:latin typeface="Consolas"/>
                <a:cs typeface="Consolas"/>
              </a:rPr>
              <a:t>bootstrap-</a:t>
            </a:r>
            <a:r>
              <a:rPr sz="1800" dirty="0">
                <a:latin typeface="Consolas"/>
                <a:cs typeface="Consolas"/>
              </a:rPr>
              <a:t>server</a:t>
            </a:r>
            <a:r>
              <a:rPr sz="1800" spc="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localhost:9092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1318" y="5211317"/>
            <a:ext cx="6011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35" dirty="0">
                <a:latin typeface="Segoe UI Symbol"/>
                <a:cs typeface="Segoe UI Symbol"/>
              </a:rPr>
              <a:t>You </a:t>
            </a:r>
            <a:r>
              <a:rPr sz="1800" dirty="0">
                <a:latin typeface="Segoe UI Symbol"/>
                <a:cs typeface="Segoe UI Symbol"/>
              </a:rPr>
              <a:t>can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stop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consumer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client</a:t>
            </a:r>
            <a:r>
              <a:rPr sz="1800" spc="-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with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b="1" spc="-60" dirty="0">
                <a:solidFill>
                  <a:srgbClr val="FF0000"/>
                </a:solidFill>
                <a:latin typeface="Segoe UI"/>
                <a:cs typeface="Segoe UI"/>
              </a:rPr>
              <a:t>Ctrl-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C</a:t>
            </a:r>
            <a:r>
              <a:rPr sz="1800" b="1" spc="-5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at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any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time.</a:t>
            </a:r>
            <a:endParaRPr sz="18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3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5"/>
              </a:spcBef>
            </a:pPr>
            <a:r>
              <a:rPr dirty="0"/>
              <a:t>KAFKA</a:t>
            </a:r>
            <a:r>
              <a:rPr spc="-90" dirty="0"/>
              <a:t> </a:t>
            </a:r>
            <a:r>
              <a:rPr dirty="0"/>
              <a:t>:</a:t>
            </a:r>
            <a:r>
              <a:rPr spc="-35" dirty="0"/>
              <a:t> </a:t>
            </a:r>
            <a:r>
              <a:rPr b="1" spc="-110" dirty="0">
                <a:solidFill>
                  <a:srgbClr val="FFFF00"/>
                </a:solidFill>
                <a:latin typeface="Segoe UI"/>
                <a:cs typeface="Segoe UI"/>
              </a:rPr>
              <a:t>RUNNING</a:t>
            </a:r>
            <a:r>
              <a:rPr b="1" spc="-65" dirty="0">
                <a:solidFill>
                  <a:srgbClr val="FFFF00"/>
                </a:solidFill>
                <a:latin typeface="Segoe UI"/>
                <a:cs typeface="Segoe UI"/>
              </a:rPr>
              <a:t> </a:t>
            </a:r>
            <a:r>
              <a:rPr b="1" spc="-145" dirty="0">
                <a:solidFill>
                  <a:srgbClr val="FFFF00"/>
                </a:solidFill>
                <a:latin typeface="Segoe UI"/>
                <a:cs typeface="Segoe UI"/>
              </a:rPr>
              <a:t>MULTIPLE</a:t>
            </a:r>
            <a:r>
              <a:rPr b="1" spc="-45" dirty="0">
                <a:solidFill>
                  <a:srgbClr val="FFFF00"/>
                </a:solidFill>
                <a:latin typeface="Segoe UI"/>
                <a:cs typeface="Segoe UI"/>
              </a:rPr>
              <a:t> </a:t>
            </a:r>
            <a:r>
              <a:rPr b="1" spc="-130" dirty="0">
                <a:solidFill>
                  <a:srgbClr val="FFFF00"/>
                </a:solidFill>
                <a:latin typeface="Segoe UI"/>
                <a:cs typeface="Segoe UI"/>
              </a:rPr>
              <a:t>BROKERS</a:t>
            </a:r>
            <a:r>
              <a:rPr b="1" spc="-50" dirty="0">
                <a:solidFill>
                  <a:srgbClr val="FFFF00"/>
                </a:solidFill>
                <a:latin typeface="Segoe UI"/>
                <a:cs typeface="Segoe UI"/>
              </a:rPr>
              <a:t> </a:t>
            </a:r>
            <a:r>
              <a:rPr b="1" dirty="0">
                <a:solidFill>
                  <a:srgbClr val="FFFF00"/>
                </a:solidFill>
                <a:latin typeface="Segoe UI"/>
                <a:cs typeface="Segoe UI"/>
              </a:rPr>
              <a:t>ON</a:t>
            </a:r>
            <a:r>
              <a:rPr b="1" spc="-60" dirty="0">
                <a:solidFill>
                  <a:srgbClr val="FFFF00"/>
                </a:solidFill>
                <a:latin typeface="Segoe UI"/>
                <a:cs typeface="Segoe UI"/>
              </a:rPr>
              <a:t> </a:t>
            </a:r>
            <a:r>
              <a:rPr b="1" dirty="0">
                <a:solidFill>
                  <a:srgbClr val="FFFF00"/>
                </a:solidFill>
                <a:latin typeface="Segoe UI"/>
                <a:cs typeface="Segoe UI"/>
              </a:rPr>
              <a:t>A</a:t>
            </a:r>
            <a:r>
              <a:rPr b="1" spc="-45" dirty="0">
                <a:solidFill>
                  <a:srgbClr val="FFFF00"/>
                </a:solidFill>
                <a:latin typeface="Segoe UI"/>
                <a:cs typeface="Segoe UI"/>
              </a:rPr>
              <a:t> </a:t>
            </a:r>
            <a:r>
              <a:rPr b="1" spc="-90" dirty="0">
                <a:solidFill>
                  <a:srgbClr val="FFFF00"/>
                </a:solidFill>
                <a:latin typeface="Segoe UI"/>
                <a:cs typeface="Segoe UI"/>
              </a:rPr>
              <a:t>SINGLE</a:t>
            </a:r>
            <a:r>
              <a:rPr b="1" spc="-80" dirty="0">
                <a:solidFill>
                  <a:srgbClr val="FFFF0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FFFF00"/>
                </a:solidFill>
                <a:latin typeface="Segoe UI"/>
                <a:cs typeface="Segoe UI"/>
              </a:rPr>
              <a:t>MACHINE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5259" y="2062734"/>
            <a:ext cx="10968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run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multiple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brokers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single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machine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A315F"/>
                </a:solidFill>
                <a:latin typeface="Arial"/>
                <a:cs typeface="Arial"/>
              </a:rPr>
              <a:t>it's</a:t>
            </a:r>
            <a:r>
              <a:rPr sz="1800" b="1" spc="-35" dirty="0">
                <a:solidFill>
                  <a:srgbClr val="1A315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A315F"/>
                </a:solidFill>
                <a:latin typeface="Arial"/>
                <a:cs typeface="Arial"/>
              </a:rPr>
              <a:t>own</a:t>
            </a:r>
            <a:r>
              <a:rPr sz="1800" b="1" spc="-60" dirty="0">
                <a:solidFill>
                  <a:srgbClr val="1A315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A315F"/>
                </a:solidFill>
                <a:latin typeface="Arial"/>
                <a:cs typeface="Arial"/>
              </a:rPr>
              <a:t>configuration</a:t>
            </a:r>
            <a:r>
              <a:rPr sz="1800" b="1" spc="-40" dirty="0">
                <a:solidFill>
                  <a:srgbClr val="1A315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A315F"/>
                </a:solidFill>
                <a:latin typeface="Arial"/>
                <a:cs typeface="Arial"/>
              </a:rPr>
              <a:t>file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you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simply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copy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default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3960" y="3127248"/>
            <a:ext cx="3720465" cy="1292860"/>
          </a:xfrm>
          <a:prstGeom prst="rect">
            <a:avLst/>
          </a:prstGeom>
          <a:ln w="9144">
            <a:solidFill>
              <a:srgbClr val="1A315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2400" b="1" spc="-100" dirty="0">
                <a:latin typeface="Segoe UI"/>
                <a:cs typeface="Segoe UI"/>
              </a:rPr>
              <a:t>config/server-</a:t>
            </a:r>
            <a:r>
              <a:rPr sz="2400" b="1" spc="-10" dirty="0">
                <a:latin typeface="Segoe UI"/>
                <a:cs typeface="Segoe UI"/>
              </a:rPr>
              <a:t>1.properties</a:t>
            </a:r>
            <a:endParaRPr sz="2400">
              <a:latin typeface="Segoe UI"/>
              <a:cs typeface="Segoe UI"/>
            </a:endParaRPr>
          </a:p>
          <a:p>
            <a:pPr marL="91440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latin typeface="Segoe UI Symbol"/>
                <a:cs typeface="Segoe UI Symbol"/>
              </a:rPr>
              <a:t>broker.id=1</a:t>
            </a:r>
            <a:endParaRPr sz="1800">
              <a:latin typeface="Segoe UI Symbol"/>
              <a:cs typeface="Segoe UI Symbol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Segoe UI Symbol"/>
                <a:cs typeface="Segoe UI Symbol"/>
              </a:rPr>
              <a:t>port=9093</a:t>
            </a:r>
            <a:endParaRPr sz="1800">
              <a:latin typeface="Segoe UI Symbol"/>
              <a:cs typeface="Segoe UI Symbol"/>
            </a:endParaRPr>
          </a:p>
          <a:p>
            <a:pPr marL="91440">
              <a:lnSpc>
                <a:spcPct val="100000"/>
              </a:lnSpc>
            </a:pPr>
            <a:r>
              <a:rPr sz="1800" spc="-10" dirty="0">
                <a:latin typeface="Segoe UI Symbol"/>
                <a:cs typeface="Segoe UI Symbol"/>
              </a:rPr>
              <a:t>log.dirs=/temp/kafka-logs-</a:t>
            </a:r>
            <a:r>
              <a:rPr sz="1800" spc="-50" dirty="0">
                <a:latin typeface="Segoe UI Symbol"/>
                <a:cs typeface="Segoe UI Symbol"/>
              </a:rPr>
              <a:t>1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69279" y="3180588"/>
            <a:ext cx="3720465" cy="1292860"/>
          </a:xfrm>
          <a:prstGeom prst="rect">
            <a:avLst/>
          </a:prstGeom>
          <a:ln w="9144">
            <a:solidFill>
              <a:srgbClr val="1A315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2400" b="1" spc="-100" dirty="0">
                <a:latin typeface="Segoe UI"/>
                <a:cs typeface="Segoe UI"/>
              </a:rPr>
              <a:t>config/server-</a:t>
            </a:r>
            <a:r>
              <a:rPr sz="2400" b="1" spc="-10" dirty="0">
                <a:latin typeface="Segoe UI"/>
                <a:cs typeface="Segoe UI"/>
              </a:rPr>
              <a:t>2.properties</a:t>
            </a:r>
            <a:endParaRPr sz="2400">
              <a:latin typeface="Segoe UI"/>
              <a:cs typeface="Segoe UI"/>
            </a:endParaRPr>
          </a:p>
          <a:p>
            <a:pPr marL="92075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latin typeface="Segoe UI Symbol"/>
                <a:cs typeface="Segoe UI Symbol"/>
              </a:rPr>
              <a:t>broker.id=2</a:t>
            </a:r>
            <a:endParaRPr sz="1800">
              <a:latin typeface="Segoe UI Symbol"/>
              <a:cs typeface="Segoe UI Symbol"/>
            </a:endParaRPr>
          </a:p>
          <a:p>
            <a:pPr marL="92075">
              <a:lnSpc>
                <a:spcPct val="100000"/>
              </a:lnSpc>
            </a:pPr>
            <a:r>
              <a:rPr sz="1800" spc="-10" dirty="0">
                <a:latin typeface="Segoe UI Symbol"/>
                <a:cs typeface="Segoe UI Symbol"/>
              </a:rPr>
              <a:t>port=9094</a:t>
            </a:r>
            <a:endParaRPr sz="1800">
              <a:latin typeface="Segoe UI Symbol"/>
              <a:cs typeface="Segoe UI Symbol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Segoe UI Symbol"/>
                <a:cs typeface="Segoe UI Symbol"/>
              </a:rPr>
              <a:t>log.dirs=/temp/kafka-logs-</a:t>
            </a:r>
            <a:r>
              <a:rPr sz="1800" spc="-50" dirty="0">
                <a:latin typeface="Segoe UI Symbol"/>
                <a:cs typeface="Segoe UI Symbol"/>
              </a:rPr>
              <a:t>2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327" y="5053584"/>
            <a:ext cx="10200640" cy="368935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latin typeface="Consolas"/>
                <a:cs typeface="Consolas"/>
              </a:rPr>
              <a:t>$</a:t>
            </a:r>
            <a:r>
              <a:rPr sz="1800" spc="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bin/kafka-server-</a:t>
            </a:r>
            <a:r>
              <a:rPr sz="1800" dirty="0">
                <a:latin typeface="Consolas"/>
                <a:cs typeface="Consolas"/>
              </a:rPr>
              <a:t>start.sh</a:t>
            </a:r>
            <a:r>
              <a:rPr sz="1800" spc="8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config/server-1.properties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9327" y="5686044"/>
            <a:ext cx="10200640" cy="368935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3301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9"/>
              </a:spcBef>
            </a:pPr>
            <a:r>
              <a:rPr sz="1800" dirty="0">
                <a:latin typeface="Consolas"/>
                <a:cs typeface="Consolas"/>
              </a:rPr>
              <a:t>$</a:t>
            </a:r>
            <a:r>
              <a:rPr sz="1800" spc="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bin/kafka-server-</a:t>
            </a:r>
            <a:r>
              <a:rPr sz="1800" dirty="0">
                <a:latin typeface="Consolas"/>
                <a:cs typeface="Consolas"/>
              </a:rPr>
              <a:t>start.sh</a:t>
            </a:r>
            <a:r>
              <a:rPr sz="1800" spc="8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config/server-2.properties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5F22B3-8C77-AD09-83D7-0406CBA9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990600"/>
            <a:ext cx="11311127" cy="830997"/>
          </a:xfrm>
        </p:spPr>
        <p:txBody>
          <a:bodyPr/>
          <a:lstStyle/>
          <a:p>
            <a:r>
              <a:rPr lang="en-US" sz="2800" dirty="0"/>
              <a:t>Kafka APIs</a:t>
            </a:r>
            <a:br>
              <a:rPr lang="en-US" sz="2800" dirty="0"/>
            </a:b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90C1319-CB6A-1AA9-DA56-9411D648D398}"/>
              </a:ext>
            </a:extLst>
          </p:cNvPr>
          <p:cNvSpPr txBox="1"/>
          <p:nvPr/>
        </p:nvSpPr>
        <p:spPr>
          <a:xfrm>
            <a:off x="304800" y="2514600"/>
            <a:ext cx="11430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 addition to command line tooling for management and administration tasks, Kafka has </a:t>
            </a:r>
            <a:r>
              <a:rPr lang="en-US" sz="1600" b="1" dirty="0">
                <a:solidFill>
                  <a:srgbClr val="0070C0"/>
                </a:solidFill>
              </a:rPr>
              <a:t>five core APIs for Java and Scala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B050"/>
                </a:solidFill>
              </a:rPr>
              <a:t>The Admin API </a:t>
            </a:r>
            <a:r>
              <a:rPr lang="en-US" sz="1600" dirty="0"/>
              <a:t>to manage and inspect topics, brokers, and other Kafka objects.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B050"/>
                </a:solidFill>
              </a:rPr>
              <a:t>The Producer API </a:t>
            </a:r>
            <a:r>
              <a:rPr lang="en-US" sz="1600" dirty="0"/>
              <a:t>to publish (write) a stream of events to one or more Kafka topics.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B050"/>
                </a:solidFill>
              </a:rPr>
              <a:t>The Consumer API </a:t>
            </a:r>
            <a:r>
              <a:rPr lang="en-US" sz="1600" dirty="0"/>
              <a:t>to subscribe to (read) one or more topics and to process the stream of events produced to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B050"/>
                </a:solidFill>
              </a:rPr>
              <a:t>The Kafka Streams API</a:t>
            </a:r>
            <a:r>
              <a:rPr lang="en-US" sz="1600" dirty="0"/>
              <a:t> to implement stream processing applications and microservices.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B050"/>
                </a:solidFill>
              </a:rPr>
              <a:t>The Kafka Connect API </a:t>
            </a:r>
            <a:r>
              <a:rPr lang="en-US" sz="1600" dirty="0"/>
              <a:t>to build and run reusable data import/export connectors that consume (read) or produce (write) streams of events from and to external systems and applications so they can integrate with Kafka. 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000131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3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5"/>
              </a:spcBef>
            </a:pPr>
            <a:r>
              <a:rPr dirty="0"/>
              <a:t>KAFKA</a:t>
            </a:r>
            <a:r>
              <a:rPr spc="-40" dirty="0"/>
              <a:t> </a:t>
            </a:r>
            <a:r>
              <a:rPr dirty="0"/>
              <a:t>PRODUCER</a:t>
            </a:r>
            <a:r>
              <a:rPr spc="-45" dirty="0"/>
              <a:t> </a:t>
            </a:r>
            <a:r>
              <a:rPr spc="-80" dirty="0"/>
              <a:t>JAVA </a:t>
            </a:r>
            <a:r>
              <a:rPr spc="-25" dirty="0"/>
              <a:t>API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1373" y="2058415"/>
            <a:ext cx="11471910" cy="436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728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solidFill>
                  <a:srgbClr val="00AF50"/>
                </a:solidFill>
                <a:latin typeface="Segoe UI"/>
                <a:cs typeface="Segoe UI"/>
              </a:rPr>
              <a:t>Producer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70" dirty="0">
                <a:solidFill>
                  <a:srgbClr val="00AF50"/>
                </a:solidFill>
                <a:latin typeface="Segoe UI"/>
                <a:cs typeface="Segoe UI"/>
              </a:rPr>
              <a:t>Configuration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settings</a:t>
            </a: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215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bootstrap.servers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list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host/port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pairs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use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for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establishing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initial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connection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Kafka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cluster.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host1:port1,host2:port2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75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Client.id</a:t>
            </a:r>
            <a:endParaRPr sz="1800">
              <a:latin typeface="Segoe UI"/>
              <a:cs typeface="Segoe UI"/>
            </a:endParaRPr>
          </a:p>
          <a:p>
            <a:pPr marL="12700" marR="53340">
              <a:lnSpc>
                <a:spcPct val="100000"/>
              </a:lnSpc>
            </a:pPr>
            <a:r>
              <a:rPr sz="1800" dirty="0">
                <a:latin typeface="Segoe UI Symbol"/>
                <a:cs typeface="Segoe UI Symbol"/>
              </a:rPr>
              <a:t>An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Segoe UI"/>
                <a:cs typeface="Segoe UI"/>
              </a:rPr>
              <a:t>id</a:t>
            </a:r>
            <a:r>
              <a:rPr sz="1800" b="1" spc="-2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70" dirty="0">
                <a:solidFill>
                  <a:srgbClr val="006FC0"/>
                </a:solidFill>
                <a:latin typeface="Segoe UI"/>
                <a:cs typeface="Segoe UI"/>
              </a:rPr>
              <a:t>string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pass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server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when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making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requests.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6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purpose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this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is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be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able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to </a:t>
            </a:r>
            <a:r>
              <a:rPr sz="1800" b="1" spc="-70" dirty="0">
                <a:solidFill>
                  <a:srgbClr val="006FC0"/>
                </a:solidFill>
                <a:latin typeface="Segoe UI"/>
                <a:cs typeface="Segoe UI"/>
              </a:rPr>
              <a:t>track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the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source</a:t>
            </a:r>
            <a:r>
              <a:rPr sz="1800" b="1" spc="-7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25" dirty="0">
                <a:solidFill>
                  <a:srgbClr val="006FC0"/>
                </a:solidFill>
                <a:latin typeface="Segoe UI"/>
                <a:cs typeface="Segoe UI"/>
              </a:rPr>
              <a:t>of 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requests</a:t>
            </a:r>
            <a:r>
              <a:rPr sz="1800" b="1" spc="-6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beyond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just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ip/port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by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allowing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logical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application</a:t>
            </a:r>
            <a:r>
              <a:rPr sz="1800" spc="-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name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be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included</a:t>
            </a:r>
            <a:r>
              <a:rPr sz="1800" spc="-1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spc="-20" dirty="0">
                <a:latin typeface="Segoe UI Symbol"/>
                <a:cs typeface="Segoe UI Symbol"/>
              </a:rPr>
              <a:t>server-</a:t>
            </a:r>
            <a:r>
              <a:rPr sz="1800" dirty="0">
                <a:latin typeface="Segoe UI Symbol"/>
                <a:cs typeface="Segoe UI Symbol"/>
              </a:rPr>
              <a:t>side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request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logging.</a:t>
            </a:r>
            <a:endParaRPr sz="180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spcBef>
                <a:spcPts val="145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20" dirty="0">
                <a:solidFill>
                  <a:srgbClr val="FF0000"/>
                </a:solidFill>
                <a:latin typeface="Segoe UI"/>
                <a:cs typeface="Segoe UI"/>
              </a:rPr>
              <a:t>acks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number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acknowledgments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producer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requires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leader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have</a:t>
            </a:r>
            <a:r>
              <a:rPr sz="1800" spc="-6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received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before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considering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request</a:t>
            </a:r>
            <a:endParaRPr sz="1800">
              <a:latin typeface="Segoe UI Symbol"/>
              <a:cs typeface="Segoe UI Symbol"/>
            </a:endParaRPr>
          </a:p>
          <a:p>
            <a:pPr marL="12700">
              <a:lnSpc>
                <a:spcPts val="2155"/>
              </a:lnSpc>
            </a:pPr>
            <a:r>
              <a:rPr sz="1800" spc="-10" dirty="0">
                <a:latin typeface="Segoe UI Symbol"/>
                <a:cs typeface="Segoe UI Symbol"/>
              </a:rPr>
              <a:t>complete.</a:t>
            </a:r>
            <a:endParaRPr sz="1800">
              <a:latin typeface="Segoe UI Symbol"/>
              <a:cs typeface="Segoe UI Symbol"/>
            </a:endParaRPr>
          </a:p>
          <a:p>
            <a:pPr marL="355600" indent="-342900">
              <a:lnSpc>
                <a:spcPts val="2395"/>
              </a:lnSpc>
              <a:buFont typeface="Wingdings"/>
              <a:buChar char=""/>
              <a:tabLst>
                <a:tab pos="355600" algn="l"/>
              </a:tabLst>
            </a:pP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acks=0</a:t>
            </a:r>
            <a:r>
              <a:rPr sz="2000" b="1" spc="-1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If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set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zero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then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producer</a:t>
            </a:r>
            <a:r>
              <a:rPr sz="1800" spc="-10" dirty="0">
                <a:latin typeface="Segoe UI Symbol"/>
                <a:cs typeface="Segoe UI Symbol"/>
              </a:rPr>
              <a:t> </a:t>
            </a:r>
            <a:r>
              <a:rPr sz="1800" b="1" spc="-85" dirty="0">
                <a:latin typeface="Segoe UI"/>
                <a:cs typeface="Segoe UI"/>
              </a:rPr>
              <a:t>will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spc="-60" dirty="0">
                <a:latin typeface="Segoe UI"/>
                <a:cs typeface="Segoe UI"/>
              </a:rPr>
              <a:t>not</a:t>
            </a:r>
            <a:r>
              <a:rPr sz="1800" b="1" spc="-35" dirty="0">
                <a:latin typeface="Segoe UI"/>
                <a:cs typeface="Segoe UI"/>
              </a:rPr>
              <a:t> </a:t>
            </a:r>
            <a:r>
              <a:rPr sz="1800" b="1" spc="-80" dirty="0">
                <a:latin typeface="Segoe UI"/>
                <a:cs typeface="Segoe UI"/>
              </a:rPr>
              <a:t>wait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b="1" spc="-90" dirty="0">
                <a:latin typeface="Segoe UI"/>
                <a:cs typeface="Segoe UI"/>
              </a:rPr>
              <a:t>for</a:t>
            </a:r>
            <a:r>
              <a:rPr sz="1800" b="1" spc="-35" dirty="0">
                <a:latin typeface="Segoe UI"/>
                <a:cs typeface="Segoe UI"/>
              </a:rPr>
              <a:t> </a:t>
            </a:r>
            <a:r>
              <a:rPr sz="1800" b="1" spc="-50" dirty="0">
                <a:latin typeface="Segoe UI"/>
                <a:cs typeface="Segoe UI"/>
              </a:rPr>
              <a:t>any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b="1" spc="-70" dirty="0">
                <a:latin typeface="Segoe UI"/>
                <a:cs typeface="Segoe UI"/>
              </a:rPr>
              <a:t>acknowledgment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b="1" spc="-100" dirty="0">
                <a:latin typeface="Segoe UI"/>
                <a:cs typeface="Segoe UI"/>
              </a:rPr>
              <a:t>from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b="1" spc="-45" dirty="0">
                <a:latin typeface="Segoe UI"/>
                <a:cs typeface="Segoe UI"/>
              </a:rPr>
              <a:t>the </a:t>
            </a:r>
            <a:r>
              <a:rPr sz="1800" b="1" spc="-50" dirty="0">
                <a:latin typeface="Segoe UI"/>
                <a:cs typeface="Segoe UI"/>
              </a:rPr>
              <a:t>server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at</a:t>
            </a:r>
            <a:r>
              <a:rPr sz="1800" spc="-20" dirty="0">
                <a:latin typeface="Segoe UI Symbol"/>
                <a:cs typeface="Segoe UI Symbol"/>
              </a:rPr>
              <a:t> all.</a:t>
            </a:r>
            <a:endParaRPr sz="1800">
              <a:latin typeface="Segoe UI Symbol"/>
              <a:cs typeface="Segoe UI Symbol"/>
            </a:endParaRPr>
          </a:p>
          <a:p>
            <a:pPr marL="355600" marR="356235" indent="-343535">
              <a:lnSpc>
                <a:spcPct val="10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acks=1</a:t>
            </a:r>
            <a:r>
              <a:rPr sz="2000" b="1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This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will</a:t>
            </a:r>
            <a:r>
              <a:rPr sz="1800" spc="-1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mean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leader</a:t>
            </a:r>
            <a:r>
              <a:rPr sz="1800" spc="-1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will</a:t>
            </a:r>
            <a:r>
              <a:rPr sz="1800" spc="-1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write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record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its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local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log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but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b="1" spc="-80" dirty="0">
                <a:latin typeface="Segoe UI"/>
                <a:cs typeface="Segoe UI"/>
              </a:rPr>
              <a:t>will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b="1" spc="-55" dirty="0">
                <a:latin typeface="Segoe UI"/>
                <a:cs typeface="Segoe UI"/>
              </a:rPr>
              <a:t>respond</a:t>
            </a:r>
            <a:r>
              <a:rPr sz="1800" b="1" spc="-50" dirty="0">
                <a:latin typeface="Segoe UI"/>
                <a:cs typeface="Segoe UI"/>
              </a:rPr>
              <a:t> </a:t>
            </a:r>
            <a:r>
              <a:rPr sz="1800" b="1" spc="-85" dirty="0">
                <a:latin typeface="Segoe UI"/>
                <a:cs typeface="Segoe UI"/>
              </a:rPr>
              <a:t>without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spc="-80" dirty="0">
                <a:latin typeface="Segoe UI"/>
                <a:cs typeface="Segoe UI"/>
              </a:rPr>
              <a:t>awaiting</a:t>
            </a:r>
            <a:r>
              <a:rPr sz="1800" b="1" spc="-45" dirty="0">
                <a:latin typeface="Segoe UI"/>
                <a:cs typeface="Segoe UI"/>
              </a:rPr>
              <a:t> </a:t>
            </a:r>
            <a:r>
              <a:rPr sz="1800" b="1" spc="-20" dirty="0">
                <a:latin typeface="Segoe UI"/>
                <a:cs typeface="Segoe UI"/>
              </a:rPr>
              <a:t>full </a:t>
            </a:r>
            <a:r>
              <a:rPr sz="1800" b="1" spc="-70" dirty="0">
                <a:latin typeface="Segoe UI"/>
                <a:cs typeface="Segoe UI"/>
              </a:rPr>
              <a:t>acknowledgement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b="1" spc="-105" dirty="0">
                <a:latin typeface="Segoe UI"/>
                <a:cs typeface="Segoe UI"/>
              </a:rPr>
              <a:t>from</a:t>
            </a:r>
            <a:r>
              <a:rPr sz="1800" b="1" spc="-20" dirty="0">
                <a:latin typeface="Segoe UI"/>
                <a:cs typeface="Segoe UI"/>
              </a:rPr>
              <a:t> </a:t>
            </a:r>
            <a:r>
              <a:rPr sz="1800" b="1" spc="-60" dirty="0">
                <a:latin typeface="Segoe UI"/>
                <a:cs typeface="Segoe UI"/>
              </a:rPr>
              <a:t>all</a:t>
            </a:r>
            <a:r>
              <a:rPr sz="1800" b="1" spc="-15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followers</a:t>
            </a:r>
            <a:r>
              <a:rPr sz="1800" spc="-10" dirty="0">
                <a:latin typeface="Segoe UI Symbol"/>
                <a:cs typeface="Segoe UI Symbol"/>
              </a:rPr>
              <a:t>.</a:t>
            </a:r>
            <a:endParaRPr sz="1800">
              <a:latin typeface="Segoe UI Symbol"/>
              <a:cs typeface="Segoe UI Symbo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000" b="1" dirty="0">
                <a:solidFill>
                  <a:srgbClr val="006FC0"/>
                </a:solidFill>
                <a:latin typeface="Arial"/>
                <a:cs typeface="Arial"/>
              </a:rPr>
              <a:t>acks=all</a:t>
            </a:r>
            <a:r>
              <a:rPr sz="2000" b="1" spc="-1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This</a:t>
            </a:r>
            <a:r>
              <a:rPr sz="1800" spc="-6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means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leader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b="1" spc="-85" dirty="0">
                <a:latin typeface="Segoe UI"/>
                <a:cs typeface="Segoe UI"/>
              </a:rPr>
              <a:t>will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spc="-80" dirty="0">
                <a:latin typeface="Segoe UI"/>
                <a:cs typeface="Segoe UI"/>
              </a:rPr>
              <a:t>wait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b="1" spc="-90" dirty="0">
                <a:latin typeface="Segoe UI"/>
                <a:cs typeface="Segoe UI"/>
              </a:rPr>
              <a:t>for</a:t>
            </a:r>
            <a:r>
              <a:rPr sz="1800" b="1" spc="-35" dirty="0">
                <a:latin typeface="Segoe UI"/>
                <a:cs typeface="Segoe UI"/>
              </a:rPr>
              <a:t> </a:t>
            </a:r>
            <a:r>
              <a:rPr sz="1800" b="1" spc="-45" dirty="0">
                <a:latin typeface="Segoe UI"/>
                <a:cs typeface="Segoe UI"/>
              </a:rPr>
              <a:t>the </a:t>
            </a:r>
            <a:r>
              <a:rPr sz="1800" b="1" spc="-80" dirty="0">
                <a:latin typeface="Segoe UI"/>
                <a:cs typeface="Segoe UI"/>
              </a:rPr>
              <a:t>full</a:t>
            </a:r>
            <a:r>
              <a:rPr sz="1800" b="1" spc="-45" dirty="0">
                <a:latin typeface="Segoe UI"/>
                <a:cs typeface="Segoe UI"/>
              </a:rPr>
              <a:t> </a:t>
            </a:r>
            <a:r>
              <a:rPr sz="1800" b="1" spc="-35" dirty="0">
                <a:latin typeface="Segoe UI"/>
                <a:cs typeface="Segoe UI"/>
              </a:rPr>
              <a:t>set</a:t>
            </a:r>
            <a:r>
              <a:rPr sz="1800" b="1" spc="-50" dirty="0">
                <a:latin typeface="Segoe UI"/>
                <a:cs typeface="Segoe UI"/>
              </a:rPr>
              <a:t> </a:t>
            </a:r>
            <a:r>
              <a:rPr sz="1800" b="1" spc="-100" dirty="0">
                <a:latin typeface="Segoe UI"/>
                <a:cs typeface="Segoe UI"/>
              </a:rPr>
              <a:t>of</a:t>
            </a:r>
            <a:r>
              <a:rPr sz="1800" b="1" spc="-25" dirty="0">
                <a:latin typeface="Segoe UI"/>
                <a:cs typeface="Segoe UI"/>
              </a:rPr>
              <a:t> </a:t>
            </a:r>
            <a:r>
              <a:rPr sz="1800" b="1" spc="-45" dirty="0">
                <a:latin typeface="Segoe UI"/>
                <a:cs typeface="Segoe UI"/>
              </a:rPr>
              <a:t>in-</a:t>
            </a:r>
            <a:r>
              <a:rPr sz="1800" b="1" spc="-50" dirty="0">
                <a:latin typeface="Segoe UI"/>
                <a:cs typeface="Segoe UI"/>
              </a:rPr>
              <a:t>sync </a:t>
            </a:r>
            <a:r>
              <a:rPr sz="1800" b="1" spc="-55" dirty="0">
                <a:latin typeface="Segoe UI"/>
                <a:cs typeface="Segoe UI"/>
              </a:rPr>
              <a:t>replicas </a:t>
            </a:r>
            <a:r>
              <a:rPr sz="1800" b="1" spc="-35" dirty="0">
                <a:latin typeface="Segoe UI"/>
                <a:cs typeface="Segoe UI"/>
              </a:rPr>
              <a:t>to </a:t>
            </a:r>
            <a:r>
              <a:rPr sz="1800" b="1" spc="-65" dirty="0">
                <a:latin typeface="Segoe UI"/>
                <a:cs typeface="Segoe UI"/>
              </a:rPr>
              <a:t>acknowledge</a:t>
            </a:r>
            <a:r>
              <a:rPr sz="1800" b="1" spc="-50" dirty="0">
                <a:latin typeface="Segoe UI"/>
                <a:cs typeface="Segoe UI"/>
              </a:rPr>
              <a:t> </a:t>
            </a:r>
            <a:r>
              <a:rPr sz="1800" b="1" spc="-45" dirty="0">
                <a:latin typeface="Segoe UI"/>
                <a:cs typeface="Segoe UI"/>
              </a:rPr>
              <a:t>the </a:t>
            </a:r>
            <a:r>
              <a:rPr sz="1800" b="1" spc="-10" dirty="0">
                <a:latin typeface="Segoe UI"/>
                <a:cs typeface="Segoe UI"/>
              </a:rPr>
              <a:t>record</a:t>
            </a:r>
            <a:r>
              <a:rPr sz="1800" spc="-10" dirty="0">
                <a:latin typeface="Segoe UI Symbol"/>
                <a:cs typeface="Segoe UI Symbol"/>
              </a:rPr>
              <a:t>.</a:t>
            </a:r>
            <a:endParaRPr sz="18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3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5"/>
              </a:spcBef>
            </a:pPr>
            <a:r>
              <a:rPr dirty="0"/>
              <a:t>KAFKA</a:t>
            </a:r>
            <a:r>
              <a:rPr spc="-40" dirty="0"/>
              <a:t> </a:t>
            </a:r>
            <a:r>
              <a:rPr dirty="0"/>
              <a:t>PRODUCER</a:t>
            </a:r>
            <a:r>
              <a:rPr spc="-45" dirty="0"/>
              <a:t> </a:t>
            </a:r>
            <a:r>
              <a:rPr spc="-80" dirty="0"/>
              <a:t>JAVA </a:t>
            </a:r>
            <a:r>
              <a:rPr spc="-25" dirty="0"/>
              <a:t>API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4492" y="2058415"/>
            <a:ext cx="11455400" cy="4742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411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solidFill>
                  <a:srgbClr val="00AF50"/>
                </a:solidFill>
                <a:latin typeface="Segoe UI"/>
                <a:cs typeface="Segoe UI"/>
              </a:rPr>
              <a:t>Producer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70" dirty="0">
                <a:solidFill>
                  <a:srgbClr val="00AF50"/>
                </a:solidFill>
                <a:latin typeface="Segoe UI"/>
                <a:cs typeface="Segoe UI"/>
              </a:rPr>
              <a:t>Configuration</a:t>
            </a:r>
            <a:r>
              <a:rPr sz="1800" b="1" spc="-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settings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800">
              <a:latin typeface="Segoe UI"/>
              <a:cs typeface="Segoe UI"/>
            </a:endParaRPr>
          </a:p>
          <a:p>
            <a:pPr marL="299085" indent="-286385">
              <a:lnSpc>
                <a:spcPts val="2155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95" dirty="0">
                <a:solidFill>
                  <a:srgbClr val="FF0000"/>
                </a:solidFill>
                <a:latin typeface="Segoe UI"/>
                <a:cs typeface="Segoe UI"/>
              </a:rPr>
              <a:t>key.serializer,</a:t>
            </a:r>
            <a:r>
              <a:rPr sz="1800" b="1" spc="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value.serializer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ts val="2395"/>
              </a:lnSpc>
            </a:pPr>
            <a:r>
              <a:rPr sz="1800" dirty="0">
                <a:latin typeface="Arial MT"/>
                <a:cs typeface="Arial MT"/>
              </a:rPr>
              <a:t>Serializer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key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 implements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2000" spc="-10" dirty="0">
                <a:latin typeface="Arial MT"/>
                <a:cs typeface="Arial MT"/>
              </a:rPr>
              <a:t>org.apache.kafka.common.serialization.Serializer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interface.</a:t>
            </a:r>
            <a:endParaRPr sz="180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spcBef>
                <a:spcPts val="117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retries</a:t>
            </a:r>
            <a:endParaRPr sz="1800">
              <a:latin typeface="Segoe UI"/>
              <a:cs typeface="Segoe UI"/>
            </a:endParaRPr>
          </a:p>
          <a:p>
            <a:pPr marL="12700" marR="14732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Setting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greater</a:t>
            </a:r>
            <a:r>
              <a:rPr sz="18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than</a:t>
            </a:r>
            <a:r>
              <a:rPr sz="18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zero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cause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client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resend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any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record</a:t>
            </a:r>
            <a:r>
              <a:rPr sz="18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whose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fails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potentially </a:t>
            </a:r>
            <a:r>
              <a:rPr sz="1800" dirty="0">
                <a:latin typeface="Arial MT"/>
                <a:cs typeface="Arial MT"/>
              </a:rPr>
              <a:t>transient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error.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batch.size</a:t>
            </a:r>
            <a:endParaRPr sz="18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8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producer</a:t>
            </a:r>
            <a:r>
              <a:rPr sz="1800" spc="-15" dirty="0">
                <a:latin typeface="Segoe UI Symbol"/>
                <a:cs typeface="Segoe UI Symbol"/>
              </a:rPr>
              <a:t> </a:t>
            </a:r>
            <a:r>
              <a:rPr sz="1800" b="1" spc="-95" dirty="0">
                <a:solidFill>
                  <a:srgbClr val="006FC0"/>
                </a:solidFill>
                <a:latin typeface="Segoe UI"/>
                <a:cs typeface="Segoe UI"/>
              </a:rPr>
              <a:t>will</a:t>
            </a:r>
            <a:r>
              <a:rPr sz="1800" b="1" spc="-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75" dirty="0">
                <a:solidFill>
                  <a:srgbClr val="006FC0"/>
                </a:solidFill>
                <a:latin typeface="Segoe UI"/>
                <a:cs typeface="Segoe UI"/>
              </a:rPr>
              <a:t>attempt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to </a:t>
            </a:r>
            <a:r>
              <a:rPr sz="1800" b="1" spc="-65" dirty="0">
                <a:solidFill>
                  <a:srgbClr val="006FC0"/>
                </a:solidFill>
                <a:latin typeface="Segoe UI"/>
                <a:cs typeface="Segoe UI"/>
              </a:rPr>
              <a:t>batch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65" dirty="0">
                <a:solidFill>
                  <a:srgbClr val="006FC0"/>
                </a:solidFill>
                <a:latin typeface="Segoe UI"/>
                <a:cs typeface="Segoe UI"/>
              </a:rPr>
              <a:t>records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65" dirty="0">
                <a:solidFill>
                  <a:srgbClr val="006FC0"/>
                </a:solidFill>
                <a:latin typeface="Segoe UI"/>
                <a:cs typeface="Segoe UI"/>
              </a:rPr>
              <a:t>together</a:t>
            </a:r>
            <a:r>
              <a:rPr sz="1800" b="1" spc="-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into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fewer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requests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whenever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multiple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records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are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being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spc="-20" dirty="0">
                <a:latin typeface="Segoe UI Symbol"/>
                <a:cs typeface="Segoe UI Symbol"/>
              </a:rPr>
              <a:t>sent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same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partition.</a:t>
            </a:r>
            <a:endParaRPr sz="180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20" dirty="0">
                <a:solidFill>
                  <a:srgbClr val="FF0000"/>
                </a:solidFill>
                <a:latin typeface="Segoe UI"/>
                <a:cs typeface="Segoe UI"/>
              </a:rPr>
              <a:t>buffer.memory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b="1" spc="-65" dirty="0">
                <a:solidFill>
                  <a:srgbClr val="006FC0"/>
                </a:solidFill>
                <a:latin typeface="Segoe UI"/>
                <a:cs typeface="Segoe UI"/>
              </a:rPr>
              <a:t>The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70" dirty="0">
                <a:solidFill>
                  <a:srgbClr val="006FC0"/>
                </a:solidFill>
                <a:latin typeface="Segoe UI"/>
                <a:cs typeface="Segoe UI"/>
              </a:rPr>
              <a:t>total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 bytes</a:t>
            </a:r>
            <a:r>
              <a:rPr sz="1800" b="1" spc="-7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110" dirty="0">
                <a:solidFill>
                  <a:srgbClr val="006FC0"/>
                </a:solidFill>
                <a:latin typeface="Segoe UI"/>
                <a:cs typeface="Segoe UI"/>
              </a:rPr>
              <a:t>of</a:t>
            </a:r>
            <a:r>
              <a:rPr sz="1800" b="1" spc="-2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75" dirty="0">
                <a:solidFill>
                  <a:srgbClr val="006FC0"/>
                </a:solidFill>
                <a:latin typeface="Segoe UI"/>
                <a:cs typeface="Segoe UI"/>
              </a:rPr>
              <a:t>memory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the</a:t>
            </a:r>
            <a:r>
              <a:rPr sz="1800" b="1" spc="-7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producer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Segoe UI"/>
                <a:cs typeface="Segoe UI"/>
              </a:rPr>
              <a:t>can</a:t>
            </a:r>
            <a:r>
              <a:rPr sz="1800" b="1" spc="-3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Segoe UI"/>
                <a:cs typeface="Segoe UI"/>
              </a:rPr>
              <a:t>use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 to </a:t>
            </a:r>
            <a:r>
              <a:rPr sz="1800" b="1" spc="-90" dirty="0">
                <a:solidFill>
                  <a:srgbClr val="006FC0"/>
                </a:solidFill>
                <a:latin typeface="Segoe UI"/>
                <a:cs typeface="Segoe UI"/>
              </a:rPr>
              <a:t>buffer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records</a:t>
            </a:r>
            <a:r>
              <a:rPr sz="1800" b="1" spc="1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waiting</a:t>
            </a:r>
            <a:r>
              <a:rPr sz="1800" spc="-2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be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sent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server.</a:t>
            </a:r>
            <a:endParaRPr sz="180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compression.type</a:t>
            </a:r>
            <a:endParaRPr sz="1800">
              <a:latin typeface="Segoe UI"/>
              <a:cs typeface="Segoe UI"/>
            </a:endParaRPr>
          </a:p>
          <a:p>
            <a:pPr marL="12700" marR="565150">
              <a:lnSpc>
                <a:spcPct val="100000"/>
              </a:lnSpc>
            </a:pP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9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compression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type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for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all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data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generated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by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producer.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b="1" spc="-65" dirty="0">
                <a:solidFill>
                  <a:srgbClr val="006FC0"/>
                </a:solidFill>
                <a:latin typeface="Segoe UI"/>
                <a:cs typeface="Segoe UI"/>
              </a:rPr>
              <a:t>The</a:t>
            </a:r>
            <a:r>
              <a:rPr sz="1800" b="1" spc="-6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75" dirty="0">
                <a:solidFill>
                  <a:srgbClr val="006FC0"/>
                </a:solidFill>
                <a:latin typeface="Segoe UI"/>
                <a:cs typeface="Segoe UI"/>
              </a:rPr>
              <a:t>default</a:t>
            </a:r>
            <a:r>
              <a:rPr sz="1800" b="1" spc="-5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Segoe UI"/>
                <a:cs typeface="Segoe UI"/>
              </a:rPr>
              <a:t>is</a:t>
            </a:r>
            <a:r>
              <a:rPr sz="1800" b="1" spc="-5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40" dirty="0">
                <a:solidFill>
                  <a:srgbClr val="006FC0"/>
                </a:solidFill>
                <a:latin typeface="Segoe UI"/>
                <a:cs typeface="Segoe UI"/>
              </a:rPr>
              <a:t>none</a:t>
            </a:r>
            <a:r>
              <a:rPr sz="1800" b="1" spc="-4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(i.e.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no</a:t>
            </a:r>
            <a:r>
              <a:rPr sz="1800" spc="-6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compression).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Valid </a:t>
            </a:r>
            <a:r>
              <a:rPr sz="1800" dirty="0">
                <a:latin typeface="Segoe UI Symbol"/>
                <a:cs typeface="Segoe UI Symbol"/>
              </a:rPr>
              <a:t>values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are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none,</a:t>
            </a:r>
            <a:r>
              <a:rPr sz="1800" spc="-6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gzip,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snappy,</a:t>
            </a:r>
            <a:r>
              <a:rPr sz="1800" spc="-6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lz4,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or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zstd.</a:t>
            </a:r>
            <a:endParaRPr sz="18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3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5"/>
              </a:spcBef>
            </a:pPr>
            <a:r>
              <a:rPr dirty="0"/>
              <a:t>KAFKA</a:t>
            </a:r>
            <a:r>
              <a:rPr spc="-40" dirty="0"/>
              <a:t> </a:t>
            </a:r>
            <a:r>
              <a:rPr dirty="0"/>
              <a:t>PRODUCER</a:t>
            </a:r>
            <a:r>
              <a:rPr spc="-45" dirty="0"/>
              <a:t> </a:t>
            </a:r>
            <a:r>
              <a:rPr spc="-80" dirty="0"/>
              <a:t>JAVA </a:t>
            </a:r>
            <a:r>
              <a:rPr spc="-25" dirty="0"/>
              <a:t>API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6486" y="2058415"/>
            <a:ext cx="2886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00AF50"/>
                </a:solidFill>
                <a:latin typeface="Segoe UI"/>
                <a:cs typeface="Segoe UI"/>
              </a:rPr>
              <a:t>Configuration</a:t>
            </a:r>
            <a:r>
              <a:rPr sz="1800" b="1" spc="-5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25" dirty="0">
                <a:solidFill>
                  <a:srgbClr val="00AF50"/>
                </a:solidFill>
                <a:latin typeface="Segoe UI"/>
                <a:cs typeface="Segoe UI"/>
              </a:rPr>
              <a:t>code</a:t>
            </a:r>
            <a:r>
              <a:rPr sz="1800" b="1" spc="-6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55" dirty="0">
                <a:solidFill>
                  <a:srgbClr val="00AF50"/>
                </a:solidFill>
                <a:latin typeface="Segoe UI"/>
                <a:cs typeface="Segoe UI"/>
              </a:rPr>
              <a:t>exemple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644" y="3022092"/>
            <a:ext cx="10006965" cy="2246630"/>
          </a:xfrm>
          <a:prstGeom prst="rect">
            <a:avLst/>
          </a:prstGeom>
          <a:ln w="9144">
            <a:solidFill>
              <a:srgbClr val="1A315F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61925" marR="4475480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latin typeface="Segoe UI Symbol"/>
                <a:cs typeface="Segoe UI Symbol"/>
              </a:rPr>
              <a:t>Properties</a:t>
            </a:r>
            <a:r>
              <a:rPr sz="2000" spc="-35" dirty="0">
                <a:latin typeface="Segoe UI Symbol"/>
                <a:cs typeface="Segoe UI Symbol"/>
              </a:rPr>
              <a:t> </a:t>
            </a:r>
            <a:r>
              <a:rPr sz="2000" dirty="0">
                <a:latin typeface="Segoe UI Symbol"/>
                <a:cs typeface="Segoe UI Symbol"/>
              </a:rPr>
              <a:t>props</a:t>
            </a:r>
            <a:r>
              <a:rPr sz="2000" spc="-30" dirty="0">
                <a:latin typeface="Segoe UI Symbol"/>
                <a:cs typeface="Segoe UI Symbol"/>
              </a:rPr>
              <a:t> </a:t>
            </a:r>
            <a:r>
              <a:rPr sz="2000" dirty="0">
                <a:latin typeface="Segoe UI Symbol"/>
                <a:cs typeface="Segoe UI Symbol"/>
              </a:rPr>
              <a:t>=</a:t>
            </a:r>
            <a:r>
              <a:rPr sz="2000" spc="-45" dirty="0">
                <a:latin typeface="Segoe UI Symbol"/>
                <a:cs typeface="Segoe UI Symbol"/>
              </a:rPr>
              <a:t> </a:t>
            </a:r>
            <a:r>
              <a:rPr sz="2000" dirty="0">
                <a:latin typeface="Segoe UI Symbol"/>
                <a:cs typeface="Segoe UI Symbol"/>
              </a:rPr>
              <a:t>new</a:t>
            </a:r>
            <a:r>
              <a:rPr sz="2000" spc="-30" dirty="0">
                <a:latin typeface="Segoe UI Symbol"/>
                <a:cs typeface="Segoe UI Symbol"/>
              </a:rPr>
              <a:t> </a:t>
            </a:r>
            <a:r>
              <a:rPr sz="2000" spc="-10" dirty="0">
                <a:latin typeface="Segoe UI Symbol"/>
                <a:cs typeface="Segoe UI Symbol"/>
              </a:rPr>
              <a:t>Properties(); </a:t>
            </a:r>
            <a:r>
              <a:rPr sz="2000" dirty="0">
                <a:latin typeface="Segoe UI Symbol"/>
                <a:cs typeface="Segoe UI Symbol"/>
              </a:rPr>
              <a:t>props.put("bootstrap.servers",</a:t>
            </a:r>
            <a:r>
              <a:rPr sz="2000" spc="-65" dirty="0">
                <a:latin typeface="Segoe UI Symbol"/>
                <a:cs typeface="Segoe UI Symbol"/>
              </a:rPr>
              <a:t> </a:t>
            </a:r>
            <a:r>
              <a:rPr sz="2000" spc="-10" dirty="0">
                <a:latin typeface="Segoe UI Symbol"/>
                <a:cs typeface="Segoe UI Symbol"/>
              </a:rPr>
              <a:t>"localhost:9092"); </a:t>
            </a:r>
            <a:r>
              <a:rPr sz="2000" dirty="0">
                <a:latin typeface="Segoe UI Symbol"/>
                <a:cs typeface="Segoe UI Symbol"/>
              </a:rPr>
              <a:t>props.put("acks",</a:t>
            </a:r>
            <a:r>
              <a:rPr sz="2000" spc="-105" dirty="0">
                <a:latin typeface="Segoe UI Symbol"/>
                <a:cs typeface="Segoe UI Symbol"/>
              </a:rPr>
              <a:t> </a:t>
            </a:r>
            <a:r>
              <a:rPr sz="2000" spc="-10" dirty="0">
                <a:latin typeface="Segoe UI Symbol"/>
                <a:cs typeface="Segoe UI Symbol"/>
              </a:rPr>
              <a:t>"all");</a:t>
            </a:r>
            <a:endParaRPr sz="2000" dirty="0">
              <a:latin typeface="Segoe UI Symbol"/>
              <a:cs typeface="Segoe UI Symbol"/>
            </a:endParaRPr>
          </a:p>
          <a:p>
            <a:pPr marL="161925">
              <a:lnSpc>
                <a:spcPct val="100000"/>
              </a:lnSpc>
            </a:pPr>
            <a:r>
              <a:rPr sz="2000" spc="-10" dirty="0">
                <a:latin typeface="Segoe UI Symbol"/>
                <a:cs typeface="Segoe UI Symbol"/>
              </a:rPr>
              <a:t>props.put("retries",</a:t>
            </a:r>
            <a:r>
              <a:rPr sz="2000" spc="-5" dirty="0">
                <a:latin typeface="Segoe UI Symbol"/>
                <a:cs typeface="Segoe UI Symbol"/>
              </a:rPr>
              <a:t> </a:t>
            </a:r>
            <a:r>
              <a:rPr sz="2000" spc="-25" dirty="0">
                <a:latin typeface="Segoe UI Symbol"/>
                <a:cs typeface="Segoe UI Symbol"/>
              </a:rPr>
              <a:t>0);</a:t>
            </a:r>
            <a:endParaRPr sz="2000" dirty="0">
              <a:latin typeface="Segoe UI Symbol"/>
              <a:cs typeface="Segoe UI Symbol"/>
            </a:endParaRPr>
          </a:p>
          <a:p>
            <a:pPr marL="161925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Segoe UI Symbol"/>
                <a:cs typeface="Segoe UI Symbol"/>
              </a:rPr>
              <a:t>props.put("linger.ms",</a:t>
            </a:r>
            <a:r>
              <a:rPr sz="2000" spc="-105" dirty="0">
                <a:latin typeface="Segoe UI Symbol"/>
                <a:cs typeface="Segoe UI Symbol"/>
              </a:rPr>
              <a:t> </a:t>
            </a:r>
            <a:r>
              <a:rPr sz="2000" spc="-25" dirty="0">
                <a:latin typeface="Segoe UI Symbol"/>
                <a:cs typeface="Segoe UI Symbol"/>
              </a:rPr>
              <a:t>1);</a:t>
            </a:r>
            <a:endParaRPr sz="2000" dirty="0">
              <a:latin typeface="Segoe UI Symbol"/>
              <a:cs typeface="Segoe UI Symbol"/>
            </a:endParaRPr>
          </a:p>
          <a:p>
            <a:pPr marL="161925" marR="363855">
              <a:lnSpc>
                <a:spcPct val="100000"/>
              </a:lnSpc>
            </a:pPr>
            <a:r>
              <a:rPr sz="2000" spc="-10" dirty="0">
                <a:latin typeface="Segoe UI Symbol"/>
                <a:cs typeface="Segoe UI Symbol"/>
              </a:rPr>
              <a:t>props.put("key.serializer",</a:t>
            </a:r>
            <a:r>
              <a:rPr sz="2000" spc="-85" dirty="0">
                <a:latin typeface="Segoe UI Symbol"/>
                <a:cs typeface="Segoe UI Symbol"/>
              </a:rPr>
              <a:t> </a:t>
            </a:r>
            <a:r>
              <a:rPr sz="2000" spc="-10" dirty="0">
                <a:latin typeface="Segoe UI Symbol"/>
                <a:cs typeface="Segoe UI Symbol"/>
              </a:rPr>
              <a:t>"org.apache.kafka.common.serialization.StringSerializer"); props.put("value.serializer",</a:t>
            </a:r>
            <a:r>
              <a:rPr sz="2000" spc="30" dirty="0">
                <a:latin typeface="Segoe UI Symbol"/>
                <a:cs typeface="Segoe UI Symbol"/>
              </a:rPr>
              <a:t> </a:t>
            </a:r>
            <a:r>
              <a:rPr sz="2000" spc="-10" dirty="0">
                <a:latin typeface="Segoe UI Symbol"/>
                <a:cs typeface="Segoe UI Symbol"/>
              </a:rPr>
              <a:t>"org.apache.kafka.common.serialization.StringSerializer");</a:t>
            </a:r>
            <a:endParaRPr sz="20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3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5"/>
              </a:spcBef>
            </a:pPr>
            <a:r>
              <a:rPr dirty="0"/>
              <a:t>KAFKA</a:t>
            </a:r>
            <a:r>
              <a:rPr spc="-40" dirty="0"/>
              <a:t> </a:t>
            </a:r>
            <a:r>
              <a:rPr dirty="0"/>
              <a:t>PRODUCER</a:t>
            </a:r>
            <a:r>
              <a:rPr spc="-45" dirty="0"/>
              <a:t> </a:t>
            </a:r>
            <a:r>
              <a:rPr spc="-80" dirty="0"/>
              <a:t>JAVA </a:t>
            </a:r>
            <a:r>
              <a:rPr spc="-25" dirty="0"/>
              <a:t>API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6486" y="2058415"/>
            <a:ext cx="276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00AF50"/>
                </a:solidFill>
                <a:latin typeface="Segoe UI"/>
                <a:cs typeface="Segoe UI"/>
              </a:rPr>
              <a:t>Kafka</a:t>
            </a:r>
            <a:r>
              <a:rPr sz="1800" b="1" spc="-3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60" dirty="0">
                <a:solidFill>
                  <a:srgbClr val="00AF50"/>
                </a:solidFill>
                <a:latin typeface="Segoe UI"/>
                <a:cs typeface="Segoe UI"/>
              </a:rPr>
              <a:t>producer</a:t>
            </a:r>
            <a:r>
              <a:rPr sz="1800" b="1" spc="-4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50" dirty="0">
                <a:solidFill>
                  <a:srgbClr val="00AF50"/>
                </a:solidFill>
                <a:latin typeface="Segoe UI"/>
                <a:cs typeface="Segoe UI"/>
              </a:rPr>
              <a:t>contsructor</a:t>
            </a:r>
            <a:endParaRPr sz="1800">
              <a:latin typeface="Segoe UI"/>
              <a:cs typeface="Segoe U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2437" y="2591307"/>
          <a:ext cx="11287759" cy="3477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2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4984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Segoe UI"/>
                          <a:cs typeface="Segoe UI"/>
                        </a:rPr>
                        <a:t>Constructor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78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Segoe UI"/>
                          <a:cs typeface="Segoe UI"/>
                        </a:rPr>
                        <a:t>Description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KafkaProducer(Map&lt;String,Object&gt;</a:t>
                      </a:r>
                      <a:r>
                        <a:rPr sz="1800" spc="6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configs)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T w="12700">
                      <a:solidFill>
                        <a:srgbClr val="1A315F"/>
                      </a:solidFill>
                      <a:prstDash val="solid"/>
                    </a:lnT>
                    <a:solidFill>
                      <a:srgbClr val="1A315F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1185" marR="3384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producer</a:t>
                      </a:r>
                      <a:r>
                        <a:rPr sz="1800" spc="-3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80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instantiated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by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providing</a:t>
                      </a:r>
                      <a:r>
                        <a:rPr sz="1800" spc="-2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set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20" dirty="0">
                          <a:latin typeface="Segoe UI Symbol"/>
                          <a:cs typeface="Segoe UI Symbol"/>
                        </a:rPr>
                        <a:t>key-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value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pairs</a:t>
                      </a:r>
                      <a:r>
                        <a:rPr sz="1800" spc="-4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as</a:t>
                      </a:r>
                      <a:r>
                        <a:rPr sz="1800" spc="-4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configuration.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T w="12700">
                      <a:solidFill>
                        <a:srgbClr val="1A315F"/>
                      </a:solidFill>
                      <a:prstDash val="solid"/>
                    </a:lnT>
                    <a:solidFill>
                      <a:srgbClr val="1A315F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 marR="6026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KafkaProducer(Map&lt;String,Object&gt;</a:t>
                      </a:r>
                      <a:r>
                        <a:rPr sz="1800" spc="6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configs,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Serializer&lt;K&gt;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20" dirty="0">
                          <a:latin typeface="Segoe UI Symbol"/>
                          <a:cs typeface="Segoe UI Symbol"/>
                        </a:rPr>
                        <a:t>keySerializer,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Serializer&lt;V&gt; valueSerializer)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 marL="591185" marR="485775" indent="622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Segoe UI Symbol"/>
                          <a:cs typeface="Segoe UI Symbol"/>
                        </a:rPr>
                        <a:t>producer</a:t>
                      </a:r>
                      <a:r>
                        <a:rPr sz="1800" spc="-4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80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instantiated</a:t>
                      </a:r>
                      <a:r>
                        <a:rPr sz="180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by</a:t>
                      </a:r>
                      <a:r>
                        <a:rPr sz="180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providing</a:t>
                      </a:r>
                      <a:r>
                        <a:rPr sz="180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800" spc="-5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set</a:t>
                      </a:r>
                      <a:r>
                        <a:rPr sz="180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800" spc="-5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20" dirty="0">
                          <a:latin typeface="Segoe UI Symbol"/>
                          <a:cs typeface="Segoe UI Symbol"/>
                        </a:rPr>
                        <a:t>key-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value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pairs</a:t>
                      </a:r>
                      <a:r>
                        <a:rPr sz="1800" spc="-3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as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configuration,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80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key</a:t>
                      </a:r>
                      <a:r>
                        <a:rPr sz="1800" spc="-2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800" spc="-2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value Serializer.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406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KafkaProducer(Properties</a:t>
                      </a:r>
                      <a:r>
                        <a:rPr sz="1800" spc="10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properties)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40640" marB="0">
                    <a:solidFill>
                      <a:srgbClr val="1A315F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1185" marR="3384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producer</a:t>
                      </a:r>
                      <a:r>
                        <a:rPr sz="1800" spc="-3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80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instantiated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by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providing</a:t>
                      </a:r>
                      <a:r>
                        <a:rPr sz="1800" spc="-2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set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20" dirty="0">
                          <a:latin typeface="Segoe UI Symbol"/>
                          <a:cs typeface="Segoe UI Symbol"/>
                        </a:rPr>
                        <a:t>key-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value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pairs</a:t>
                      </a:r>
                      <a:r>
                        <a:rPr sz="1800" spc="-4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as</a:t>
                      </a:r>
                      <a:r>
                        <a:rPr sz="1800" spc="-4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configuration.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40640" marB="0">
                    <a:solidFill>
                      <a:srgbClr val="1A315F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 marL="91440" marR="13487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KafkaProducer(Properties</a:t>
                      </a:r>
                      <a:r>
                        <a:rPr sz="1800" spc="10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properties,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Serializer&lt;K&gt;</a:t>
                      </a:r>
                      <a:r>
                        <a:rPr sz="1800" spc="-11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keySerializer,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Serializer&lt;V&gt;</a:t>
                      </a:r>
                      <a:r>
                        <a:rPr sz="1800" spc="-12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valueSerializer)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40640" marB="0">
                    <a:lnB w="12700">
                      <a:solidFill>
                        <a:srgbClr val="1A315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1185" marR="3384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producer</a:t>
                      </a:r>
                      <a:r>
                        <a:rPr sz="1800" spc="-3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80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instantiated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by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providing</a:t>
                      </a:r>
                      <a:r>
                        <a:rPr sz="1800" spc="-2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set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20" dirty="0">
                          <a:latin typeface="Segoe UI Symbol"/>
                          <a:cs typeface="Segoe UI Symbol"/>
                        </a:rPr>
                        <a:t>key-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value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pairs</a:t>
                      </a:r>
                      <a:r>
                        <a:rPr sz="1800" spc="-3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as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configuration,</a:t>
                      </a:r>
                      <a:r>
                        <a:rPr sz="180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80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key</a:t>
                      </a:r>
                      <a:r>
                        <a:rPr sz="1800" spc="-2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800" spc="-2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800" spc="-5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800" spc="-10" dirty="0">
                          <a:latin typeface="Segoe UI Symbol"/>
                          <a:cs typeface="Segoe UI Symbol"/>
                        </a:rPr>
                        <a:t>value Serializer.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T="40640" marB="0">
                    <a:lnB w="12700">
                      <a:solidFill>
                        <a:srgbClr val="1A31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895458" y="6114999"/>
            <a:ext cx="2021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Segoe UI Symbol"/>
                <a:cs typeface="Segoe UI Symbol"/>
                <a:hlinkClick r:id="rId3"/>
              </a:rPr>
              <a:t>Voir</a:t>
            </a:r>
            <a:r>
              <a:rPr sz="1800" u="sng" spc="-95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Segoe UI Symbol"/>
                <a:cs typeface="Segoe UI Symbol"/>
                <a:hlinkClick r:id="rId3"/>
              </a:rPr>
              <a:t> </a:t>
            </a:r>
            <a:r>
              <a:rPr sz="1800" u="sng" spc="-10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Segoe UI Symbol"/>
                <a:cs typeface="Segoe UI Symbol"/>
                <a:hlinkClick r:id="rId3"/>
              </a:rPr>
              <a:t>documentation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2627" y="6455664"/>
            <a:ext cx="9119870" cy="368935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 MT"/>
                <a:cs typeface="Arial MT"/>
              </a:rPr>
              <a:t>KafkaProducer&lt;String,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String&gt;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KafkaProducer&lt;String,String&gt;(props);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3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5"/>
              </a:spcBef>
            </a:pPr>
            <a:r>
              <a:rPr dirty="0"/>
              <a:t>KAFKA</a:t>
            </a:r>
            <a:r>
              <a:rPr spc="-40" dirty="0"/>
              <a:t> </a:t>
            </a:r>
            <a:r>
              <a:rPr dirty="0"/>
              <a:t>PRODUCER</a:t>
            </a:r>
            <a:r>
              <a:rPr spc="-45" dirty="0"/>
              <a:t> </a:t>
            </a:r>
            <a:r>
              <a:rPr spc="-80" dirty="0"/>
              <a:t>JAVA </a:t>
            </a:r>
            <a:r>
              <a:rPr spc="-25" dirty="0"/>
              <a:t>API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6486" y="2058415"/>
            <a:ext cx="2251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00AF50"/>
                </a:solidFill>
                <a:latin typeface="Segoe UI"/>
                <a:cs typeface="Segoe UI"/>
              </a:rPr>
              <a:t>Kafka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65" dirty="0">
                <a:solidFill>
                  <a:srgbClr val="00AF50"/>
                </a:solidFill>
                <a:latin typeface="Segoe UI"/>
                <a:cs typeface="Segoe UI"/>
              </a:rPr>
              <a:t>ProducerRecord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95458" y="6114999"/>
            <a:ext cx="2021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Segoe UI Symbol"/>
                <a:cs typeface="Segoe UI Symbol"/>
                <a:hlinkClick r:id="rId3"/>
              </a:rPr>
              <a:t>Voir</a:t>
            </a:r>
            <a:r>
              <a:rPr sz="1800" u="sng" spc="-95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Segoe UI Symbol"/>
                <a:cs typeface="Segoe UI Symbol"/>
                <a:hlinkClick r:id="rId3"/>
              </a:rPr>
              <a:t> </a:t>
            </a:r>
            <a:r>
              <a:rPr sz="1800" u="sng" spc="-10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Segoe UI Symbol"/>
                <a:cs typeface="Segoe UI Symbol"/>
                <a:hlinkClick r:id="rId3"/>
              </a:rPr>
              <a:t>documentation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419338" y="2596133"/>
            <a:ext cx="2496820" cy="3176270"/>
            <a:chOff x="8419338" y="2596133"/>
            <a:chExt cx="2496820" cy="3176270"/>
          </a:xfrm>
        </p:grpSpPr>
        <p:sp>
          <p:nvSpPr>
            <p:cNvPr id="7" name="object 7"/>
            <p:cNvSpPr/>
            <p:nvPr/>
          </p:nvSpPr>
          <p:spPr>
            <a:xfrm>
              <a:off x="8419338" y="2596133"/>
              <a:ext cx="2496820" cy="3176270"/>
            </a:xfrm>
            <a:custGeom>
              <a:avLst/>
              <a:gdLst/>
              <a:ahLst/>
              <a:cxnLst/>
              <a:rect l="l" t="t" r="r" b="b"/>
              <a:pathLst>
                <a:path w="2496820" h="3176270">
                  <a:moveTo>
                    <a:pt x="2496311" y="0"/>
                  </a:moveTo>
                  <a:lnTo>
                    <a:pt x="0" y="0"/>
                  </a:lnTo>
                  <a:lnTo>
                    <a:pt x="0" y="3176016"/>
                  </a:lnTo>
                  <a:lnTo>
                    <a:pt x="2496311" y="3176016"/>
                  </a:lnTo>
                  <a:lnTo>
                    <a:pt x="2496311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59190" y="3352037"/>
              <a:ext cx="1815464" cy="486409"/>
            </a:xfrm>
            <a:custGeom>
              <a:avLst/>
              <a:gdLst/>
              <a:ahLst/>
              <a:cxnLst/>
              <a:rect l="l" t="t" r="r" b="b"/>
              <a:pathLst>
                <a:path w="1815465" h="486410">
                  <a:moveTo>
                    <a:pt x="0" y="486156"/>
                  </a:moveTo>
                  <a:lnTo>
                    <a:pt x="1815083" y="486156"/>
                  </a:lnTo>
                  <a:lnTo>
                    <a:pt x="1815083" y="0"/>
                  </a:lnTo>
                  <a:lnTo>
                    <a:pt x="0" y="0"/>
                  </a:lnTo>
                  <a:lnTo>
                    <a:pt x="0" y="486156"/>
                  </a:lnTo>
                  <a:close/>
                </a:path>
              </a:pathLst>
            </a:custGeom>
            <a:solidFill>
              <a:srgbClr val="8F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59190" y="3352037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0" y="507492"/>
                  </a:moveTo>
                  <a:lnTo>
                    <a:pt x="1815083" y="507492"/>
                  </a:lnTo>
                  <a:lnTo>
                    <a:pt x="1815083" y="0"/>
                  </a:lnTo>
                  <a:lnTo>
                    <a:pt x="0" y="0"/>
                  </a:lnTo>
                  <a:lnTo>
                    <a:pt x="0" y="507492"/>
                  </a:lnTo>
                  <a:close/>
                </a:path>
              </a:pathLst>
            </a:custGeom>
            <a:ln w="22859">
              <a:solidFill>
                <a:srgbClr val="1A3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59190" y="3838194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1815083" y="0"/>
                  </a:moveTo>
                  <a:lnTo>
                    <a:pt x="0" y="0"/>
                  </a:lnTo>
                  <a:lnTo>
                    <a:pt x="0" y="507491"/>
                  </a:lnTo>
                  <a:lnTo>
                    <a:pt x="1815083" y="507491"/>
                  </a:lnTo>
                  <a:lnTo>
                    <a:pt x="1815083" y="0"/>
                  </a:lnTo>
                  <a:close/>
                </a:path>
              </a:pathLst>
            </a:custGeom>
            <a:solidFill>
              <a:srgbClr val="C0C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59190" y="3838194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0" y="507491"/>
                  </a:moveTo>
                  <a:lnTo>
                    <a:pt x="1815083" y="507491"/>
                  </a:lnTo>
                  <a:lnTo>
                    <a:pt x="1815083" y="0"/>
                  </a:lnTo>
                  <a:lnTo>
                    <a:pt x="0" y="0"/>
                  </a:lnTo>
                  <a:lnTo>
                    <a:pt x="0" y="507491"/>
                  </a:lnTo>
                  <a:close/>
                </a:path>
              </a:pathLst>
            </a:custGeom>
            <a:ln w="22859">
              <a:solidFill>
                <a:srgbClr val="1A3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59190" y="4335017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1815083" y="0"/>
                  </a:moveTo>
                  <a:lnTo>
                    <a:pt x="0" y="0"/>
                  </a:lnTo>
                  <a:lnTo>
                    <a:pt x="0" y="507491"/>
                  </a:lnTo>
                  <a:lnTo>
                    <a:pt x="1815083" y="507491"/>
                  </a:lnTo>
                  <a:lnTo>
                    <a:pt x="1815083" y="0"/>
                  </a:lnTo>
                  <a:close/>
                </a:path>
              </a:pathLst>
            </a:custGeom>
            <a:solidFill>
              <a:srgbClr val="C0C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59190" y="4335017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0" y="507491"/>
                  </a:moveTo>
                  <a:lnTo>
                    <a:pt x="1815083" y="507491"/>
                  </a:lnTo>
                  <a:lnTo>
                    <a:pt x="1815083" y="0"/>
                  </a:lnTo>
                  <a:lnTo>
                    <a:pt x="0" y="0"/>
                  </a:lnTo>
                  <a:lnTo>
                    <a:pt x="0" y="507491"/>
                  </a:lnTo>
                  <a:close/>
                </a:path>
              </a:pathLst>
            </a:custGeom>
            <a:ln w="22859">
              <a:solidFill>
                <a:srgbClr val="1A3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59190" y="4842510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1815083" y="0"/>
                  </a:moveTo>
                  <a:lnTo>
                    <a:pt x="0" y="0"/>
                  </a:lnTo>
                  <a:lnTo>
                    <a:pt x="0" y="507491"/>
                  </a:lnTo>
                  <a:lnTo>
                    <a:pt x="1815083" y="507491"/>
                  </a:lnTo>
                  <a:lnTo>
                    <a:pt x="1815083" y="0"/>
                  </a:lnTo>
                  <a:close/>
                </a:path>
              </a:pathLst>
            </a:custGeom>
            <a:solidFill>
              <a:srgbClr val="8F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59190" y="4842510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0" y="507491"/>
                  </a:moveTo>
                  <a:lnTo>
                    <a:pt x="1815083" y="507491"/>
                  </a:lnTo>
                  <a:lnTo>
                    <a:pt x="1815083" y="0"/>
                  </a:lnTo>
                  <a:lnTo>
                    <a:pt x="0" y="0"/>
                  </a:lnTo>
                  <a:lnTo>
                    <a:pt x="0" y="507491"/>
                  </a:lnTo>
                  <a:close/>
                </a:path>
              </a:pathLst>
            </a:custGeom>
            <a:ln w="22860">
              <a:solidFill>
                <a:srgbClr val="1A3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419338" y="2596133"/>
            <a:ext cx="2496820" cy="3176270"/>
          </a:xfrm>
          <a:prstGeom prst="rect">
            <a:avLst/>
          </a:prstGeom>
          <a:ln w="22859">
            <a:solidFill>
              <a:srgbClr val="0F2144"/>
            </a:solidFill>
          </a:ln>
        </p:spPr>
        <p:txBody>
          <a:bodyPr vert="horz" wrap="square" lIns="0" tIns="222885" rIns="0" bIns="0" rtlCol="0">
            <a:spAutoFit/>
          </a:bodyPr>
          <a:lstStyle/>
          <a:p>
            <a:pPr marR="19685" algn="ctr">
              <a:lnSpc>
                <a:spcPct val="100000"/>
              </a:lnSpc>
              <a:spcBef>
                <a:spcPts val="1755"/>
              </a:spcBef>
            </a:pPr>
            <a:r>
              <a:rPr sz="18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ProducerRecord</a:t>
            </a:r>
            <a:endParaRPr sz="1800">
              <a:latin typeface="Segoe UI Symbol"/>
              <a:cs typeface="Segoe UI Symbol"/>
            </a:endParaRPr>
          </a:p>
          <a:p>
            <a:pPr marL="753110" marR="746760" indent="1905" algn="ctr">
              <a:lnSpc>
                <a:spcPct val="181100"/>
              </a:lnSpc>
              <a:spcBef>
                <a:spcPts val="1160"/>
              </a:spcBef>
            </a:pPr>
            <a:r>
              <a:rPr sz="1800" spc="-20" dirty="0">
                <a:solidFill>
                  <a:srgbClr val="FFFFFF"/>
                </a:solidFill>
                <a:latin typeface="Segoe UI Symbol"/>
                <a:cs typeface="Segoe UI Symbol"/>
              </a:rPr>
              <a:t>Topic </a:t>
            </a:r>
            <a:r>
              <a:rPr sz="1800" spc="-10" dirty="0">
                <a:solidFill>
                  <a:srgbClr val="FFFFFF"/>
                </a:solidFill>
                <a:latin typeface="Segoe UI Symbol"/>
                <a:cs typeface="Segoe UI Symbol"/>
              </a:rPr>
              <a:t>[Partition] [key] Value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934" y="2742946"/>
            <a:ext cx="733361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 Symbol"/>
                <a:cs typeface="Segoe UI Symbol"/>
              </a:rPr>
              <a:t>ProducerRecord(String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topic,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Integer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partition,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Long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timestamp,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K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spc="-20" dirty="0">
                <a:latin typeface="Segoe UI Symbol"/>
                <a:cs typeface="Segoe UI Symbol"/>
              </a:rPr>
              <a:t>key, </a:t>
            </a:r>
            <a:r>
              <a:rPr sz="1800" dirty="0">
                <a:latin typeface="Segoe UI Symbol"/>
                <a:cs typeface="Segoe UI Symbol"/>
              </a:rPr>
              <a:t>V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value)</a:t>
            </a:r>
            <a:endParaRPr sz="180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 Symbol"/>
                <a:cs typeface="Segoe UI Symbol"/>
              </a:rPr>
              <a:t>ProducerRecord(String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topic,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Integer</a:t>
            </a:r>
            <a:r>
              <a:rPr sz="1800" spc="-6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partition,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Long</a:t>
            </a:r>
            <a:r>
              <a:rPr sz="1800" spc="-6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timestamp,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K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spc="-20" dirty="0">
                <a:latin typeface="Segoe UI Symbol"/>
                <a:cs typeface="Segoe UI Symbol"/>
              </a:rPr>
              <a:t>key,</a:t>
            </a:r>
            <a:endParaRPr sz="1800">
              <a:latin typeface="Segoe UI Symbol"/>
              <a:cs typeface="Segoe UI Symbol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Segoe UI Symbol"/>
                <a:cs typeface="Segoe UI Symbol"/>
              </a:rPr>
              <a:t>V</a:t>
            </a:r>
            <a:r>
              <a:rPr sz="1800" spc="-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value,</a:t>
            </a:r>
            <a:r>
              <a:rPr sz="1800" spc="-7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Iterable&lt;Header&gt;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headers)</a:t>
            </a:r>
            <a:endParaRPr sz="180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 Symbol"/>
                <a:cs typeface="Segoe UI Symbol"/>
              </a:rPr>
              <a:t>ProducerRecord(String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topic,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Integer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partition,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K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key,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V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value)</a:t>
            </a:r>
            <a:endParaRPr sz="1800">
              <a:latin typeface="Segoe UI Symbol"/>
              <a:cs typeface="Segoe UI Symbol"/>
            </a:endParaRPr>
          </a:p>
          <a:p>
            <a:pPr marL="299085" marR="91503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 Symbol"/>
                <a:cs typeface="Segoe UI Symbol"/>
              </a:rPr>
              <a:t>ProducerRecord(String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topic,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Integer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partition,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K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key,</a:t>
            </a:r>
            <a:r>
              <a:rPr sz="1800" spc="-5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V</a:t>
            </a:r>
            <a:r>
              <a:rPr sz="1800" spc="-5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value, </a:t>
            </a:r>
            <a:r>
              <a:rPr sz="1800" dirty="0">
                <a:latin typeface="Segoe UI Symbol"/>
                <a:cs typeface="Segoe UI Symbol"/>
              </a:rPr>
              <a:t>Iterable&lt;Header&gt;</a:t>
            </a:r>
            <a:r>
              <a:rPr sz="1800" spc="-10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headers)</a:t>
            </a:r>
            <a:endParaRPr sz="180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 Symbol"/>
                <a:cs typeface="Segoe UI Symbol"/>
              </a:rPr>
              <a:t>ProducerRecord(String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topic,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K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spc="-20" dirty="0">
                <a:latin typeface="Segoe UI Symbol"/>
                <a:cs typeface="Segoe UI Symbol"/>
              </a:rPr>
              <a:t>key,</a:t>
            </a:r>
            <a:r>
              <a:rPr sz="1800" spc="-7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V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value)</a:t>
            </a:r>
            <a:endParaRPr sz="180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Segoe UI Symbol"/>
                <a:cs typeface="Segoe UI Symbol"/>
              </a:rPr>
              <a:t>ProducerRecord(String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topic,</a:t>
            </a:r>
            <a:r>
              <a:rPr sz="1800" spc="-4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V</a:t>
            </a:r>
            <a:r>
              <a:rPr sz="1800" spc="-65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value)</a:t>
            </a:r>
            <a:endParaRPr sz="18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833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5"/>
              </a:spcBef>
            </a:pPr>
            <a:r>
              <a:rPr dirty="0"/>
              <a:t>KAFKA</a:t>
            </a:r>
            <a:r>
              <a:rPr spc="-40" dirty="0"/>
              <a:t> </a:t>
            </a:r>
            <a:r>
              <a:rPr dirty="0"/>
              <a:t>PRODUCER</a:t>
            </a:r>
            <a:r>
              <a:rPr spc="-45" dirty="0"/>
              <a:t> </a:t>
            </a:r>
            <a:r>
              <a:rPr spc="-80" dirty="0"/>
              <a:t>JAVA </a:t>
            </a:r>
            <a:r>
              <a:rPr spc="-25" dirty="0"/>
              <a:t>API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7292" y="387095"/>
            <a:ext cx="1562100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6486" y="2058415"/>
            <a:ext cx="2251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00AF50"/>
                </a:solidFill>
                <a:latin typeface="Segoe UI"/>
                <a:cs typeface="Segoe UI"/>
              </a:rPr>
              <a:t>Kafka</a:t>
            </a:r>
            <a:r>
              <a:rPr sz="1800" b="1" spc="-1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1800" b="1" spc="-65" dirty="0">
                <a:solidFill>
                  <a:srgbClr val="00AF50"/>
                </a:solidFill>
                <a:latin typeface="Segoe UI"/>
                <a:cs typeface="Segoe UI"/>
              </a:rPr>
              <a:t>ProducerRecord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95458" y="6114999"/>
            <a:ext cx="2021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Segoe UI Symbol"/>
                <a:cs typeface="Segoe UI Symbol"/>
                <a:hlinkClick r:id="rId3"/>
              </a:rPr>
              <a:t>Voir</a:t>
            </a:r>
            <a:r>
              <a:rPr sz="1800" u="sng" spc="-95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Segoe UI Symbol"/>
                <a:cs typeface="Segoe UI Symbol"/>
                <a:hlinkClick r:id="rId3"/>
              </a:rPr>
              <a:t> </a:t>
            </a:r>
            <a:r>
              <a:rPr sz="1800" u="sng" spc="-10" dirty="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Segoe UI Symbol"/>
                <a:cs typeface="Segoe UI Symbol"/>
                <a:hlinkClick r:id="rId3"/>
              </a:rPr>
              <a:t>documentation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419338" y="2596133"/>
            <a:ext cx="2496820" cy="3176270"/>
            <a:chOff x="8419338" y="2596133"/>
            <a:chExt cx="2496820" cy="3176270"/>
          </a:xfrm>
        </p:grpSpPr>
        <p:sp>
          <p:nvSpPr>
            <p:cNvPr id="7" name="object 7"/>
            <p:cNvSpPr/>
            <p:nvPr/>
          </p:nvSpPr>
          <p:spPr>
            <a:xfrm>
              <a:off x="8419338" y="2596133"/>
              <a:ext cx="2496820" cy="3176270"/>
            </a:xfrm>
            <a:custGeom>
              <a:avLst/>
              <a:gdLst/>
              <a:ahLst/>
              <a:cxnLst/>
              <a:rect l="l" t="t" r="r" b="b"/>
              <a:pathLst>
                <a:path w="2496820" h="3176270">
                  <a:moveTo>
                    <a:pt x="2496311" y="0"/>
                  </a:moveTo>
                  <a:lnTo>
                    <a:pt x="0" y="0"/>
                  </a:lnTo>
                  <a:lnTo>
                    <a:pt x="0" y="3176016"/>
                  </a:lnTo>
                  <a:lnTo>
                    <a:pt x="2496311" y="3176016"/>
                  </a:lnTo>
                  <a:lnTo>
                    <a:pt x="2496311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59190" y="3352037"/>
              <a:ext cx="1815464" cy="486409"/>
            </a:xfrm>
            <a:custGeom>
              <a:avLst/>
              <a:gdLst/>
              <a:ahLst/>
              <a:cxnLst/>
              <a:rect l="l" t="t" r="r" b="b"/>
              <a:pathLst>
                <a:path w="1815465" h="486410">
                  <a:moveTo>
                    <a:pt x="0" y="486156"/>
                  </a:moveTo>
                  <a:lnTo>
                    <a:pt x="1815083" y="486156"/>
                  </a:lnTo>
                  <a:lnTo>
                    <a:pt x="1815083" y="0"/>
                  </a:lnTo>
                  <a:lnTo>
                    <a:pt x="0" y="0"/>
                  </a:lnTo>
                  <a:lnTo>
                    <a:pt x="0" y="486156"/>
                  </a:lnTo>
                  <a:close/>
                </a:path>
              </a:pathLst>
            </a:custGeom>
            <a:solidFill>
              <a:srgbClr val="8F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59190" y="3352037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0" y="507492"/>
                  </a:moveTo>
                  <a:lnTo>
                    <a:pt x="1815083" y="507492"/>
                  </a:lnTo>
                  <a:lnTo>
                    <a:pt x="1815083" y="0"/>
                  </a:lnTo>
                  <a:lnTo>
                    <a:pt x="0" y="0"/>
                  </a:lnTo>
                  <a:lnTo>
                    <a:pt x="0" y="507492"/>
                  </a:lnTo>
                  <a:close/>
                </a:path>
              </a:pathLst>
            </a:custGeom>
            <a:ln w="22859">
              <a:solidFill>
                <a:srgbClr val="1A3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59190" y="3838194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1815083" y="0"/>
                  </a:moveTo>
                  <a:lnTo>
                    <a:pt x="0" y="0"/>
                  </a:lnTo>
                  <a:lnTo>
                    <a:pt x="0" y="507491"/>
                  </a:lnTo>
                  <a:lnTo>
                    <a:pt x="1815083" y="507491"/>
                  </a:lnTo>
                  <a:lnTo>
                    <a:pt x="1815083" y="0"/>
                  </a:lnTo>
                  <a:close/>
                </a:path>
              </a:pathLst>
            </a:custGeom>
            <a:solidFill>
              <a:srgbClr val="C0C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59190" y="3838194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0" y="507491"/>
                  </a:moveTo>
                  <a:lnTo>
                    <a:pt x="1815083" y="507491"/>
                  </a:lnTo>
                  <a:lnTo>
                    <a:pt x="1815083" y="0"/>
                  </a:lnTo>
                  <a:lnTo>
                    <a:pt x="0" y="0"/>
                  </a:lnTo>
                  <a:lnTo>
                    <a:pt x="0" y="507491"/>
                  </a:lnTo>
                  <a:close/>
                </a:path>
              </a:pathLst>
            </a:custGeom>
            <a:ln w="22859">
              <a:solidFill>
                <a:srgbClr val="1A3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59190" y="4335017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1815083" y="0"/>
                  </a:moveTo>
                  <a:lnTo>
                    <a:pt x="0" y="0"/>
                  </a:lnTo>
                  <a:lnTo>
                    <a:pt x="0" y="507491"/>
                  </a:lnTo>
                  <a:lnTo>
                    <a:pt x="1815083" y="507491"/>
                  </a:lnTo>
                  <a:lnTo>
                    <a:pt x="1815083" y="0"/>
                  </a:lnTo>
                  <a:close/>
                </a:path>
              </a:pathLst>
            </a:custGeom>
            <a:solidFill>
              <a:srgbClr val="C0C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59190" y="4335017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0" y="507491"/>
                  </a:moveTo>
                  <a:lnTo>
                    <a:pt x="1815083" y="507491"/>
                  </a:lnTo>
                  <a:lnTo>
                    <a:pt x="1815083" y="0"/>
                  </a:lnTo>
                  <a:lnTo>
                    <a:pt x="0" y="0"/>
                  </a:lnTo>
                  <a:lnTo>
                    <a:pt x="0" y="507491"/>
                  </a:lnTo>
                  <a:close/>
                </a:path>
              </a:pathLst>
            </a:custGeom>
            <a:ln w="22859">
              <a:solidFill>
                <a:srgbClr val="1A3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59190" y="4842510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1815083" y="0"/>
                  </a:moveTo>
                  <a:lnTo>
                    <a:pt x="0" y="0"/>
                  </a:lnTo>
                  <a:lnTo>
                    <a:pt x="0" y="507491"/>
                  </a:lnTo>
                  <a:lnTo>
                    <a:pt x="1815083" y="507491"/>
                  </a:lnTo>
                  <a:lnTo>
                    <a:pt x="1815083" y="0"/>
                  </a:lnTo>
                  <a:close/>
                </a:path>
              </a:pathLst>
            </a:custGeom>
            <a:solidFill>
              <a:srgbClr val="8F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59190" y="4842510"/>
              <a:ext cx="1815464" cy="508000"/>
            </a:xfrm>
            <a:custGeom>
              <a:avLst/>
              <a:gdLst/>
              <a:ahLst/>
              <a:cxnLst/>
              <a:rect l="l" t="t" r="r" b="b"/>
              <a:pathLst>
                <a:path w="1815465" h="508000">
                  <a:moveTo>
                    <a:pt x="0" y="507491"/>
                  </a:moveTo>
                  <a:lnTo>
                    <a:pt x="1815083" y="507491"/>
                  </a:lnTo>
                  <a:lnTo>
                    <a:pt x="1815083" y="0"/>
                  </a:lnTo>
                  <a:lnTo>
                    <a:pt x="0" y="0"/>
                  </a:lnTo>
                  <a:lnTo>
                    <a:pt x="0" y="507491"/>
                  </a:lnTo>
                  <a:close/>
                </a:path>
              </a:pathLst>
            </a:custGeom>
            <a:ln w="22860">
              <a:solidFill>
                <a:srgbClr val="1A3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419338" y="2596133"/>
            <a:ext cx="2496820" cy="3176270"/>
          </a:xfrm>
          <a:prstGeom prst="rect">
            <a:avLst/>
          </a:prstGeom>
          <a:ln w="22859">
            <a:solidFill>
              <a:srgbClr val="0F2144"/>
            </a:solidFill>
          </a:ln>
        </p:spPr>
        <p:txBody>
          <a:bodyPr vert="horz" wrap="square" lIns="0" tIns="222885" rIns="0" bIns="0" rtlCol="0">
            <a:spAutoFit/>
          </a:bodyPr>
          <a:lstStyle/>
          <a:p>
            <a:pPr marR="19685" algn="ctr">
              <a:lnSpc>
                <a:spcPct val="100000"/>
              </a:lnSpc>
              <a:spcBef>
                <a:spcPts val="1755"/>
              </a:spcBef>
            </a:pPr>
            <a:r>
              <a:rPr sz="18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ProducerRecord</a:t>
            </a:r>
            <a:endParaRPr sz="1800">
              <a:latin typeface="Segoe UI Symbol"/>
              <a:cs typeface="Segoe UI Symbol"/>
            </a:endParaRPr>
          </a:p>
          <a:p>
            <a:pPr marL="753110" marR="746760" indent="1905" algn="ctr">
              <a:lnSpc>
                <a:spcPct val="181100"/>
              </a:lnSpc>
              <a:spcBef>
                <a:spcPts val="1160"/>
              </a:spcBef>
            </a:pPr>
            <a:r>
              <a:rPr sz="1800" spc="-20" dirty="0">
                <a:solidFill>
                  <a:srgbClr val="FFFFFF"/>
                </a:solidFill>
                <a:latin typeface="Segoe UI Symbol"/>
                <a:cs typeface="Segoe UI Symbol"/>
              </a:rPr>
              <a:t>Topic </a:t>
            </a:r>
            <a:r>
              <a:rPr sz="1800" spc="-10" dirty="0">
                <a:solidFill>
                  <a:srgbClr val="FFFFFF"/>
                </a:solidFill>
                <a:latin typeface="Segoe UI Symbol"/>
                <a:cs typeface="Segoe UI Symbol"/>
              </a:rPr>
              <a:t>[Partition] [key] Value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4108" y="3794759"/>
            <a:ext cx="3910965" cy="370840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Arial MT"/>
                <a:cs typeface="Arial MT"/>
              </a:rPr>
              <a:t>send(ProducerRecord&lt;K,V&gt;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record)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4108" y="4294632"/>
            <a:ext cx="7426959" cy="370840"/>
          </a:xfrm>
          <a:prstGeom prst="rect">
            <a:avLst/>
          </a:prstGeom>
          <a:solidFill>
            <a:srgbClr val="8FBCD4"/>
          </a:solidFill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Arial MT"/>
                <a:cs typeface="Arial MT"/>
              </a:rPr>
              <a:t>send(ProducerRecord&lt;K,V&gt;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record,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Callback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callback)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9993" y="3352291"/>
            <a:ext cx="6418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ymbol"/>
                <a:cs typeface="Segoe UI Symbol"/>
              </a:rPr>
              <a:t>Use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2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method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send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of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3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KafkaProdicer to</a:t>
            </a:r>
            <a:r>
              <a:rPr sz="1800" spc="-3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send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Segoe UI Symbol"/>
                <a:cs typeface="Segoe UI Symbol"/>
              </a:rPr>
              <a:t>the</a:t>
            </a:r>
            <a:r>
              <a:rPr sz="1800" spc="-40" dirty="0">
                <a:latin typeface="Segoe UI Symbol"/>
                <a:cs typeface="Segoe UI Symbol"/>
              </a:rPr>
              <a:t> </a:t>
            </a:r>
            <a:r>
              <a:rPr sz="1800" spc="-10" dirty="0">
                <a:latin typeface="Segoe UI Symbol"/>
                <a:cs typeface="Segoe UI Symbol"/>
              </a:rPr>
              <a:t>message</a:t>
            </a:r>
            <a:endParaRPr sz="18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2828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11545</TotalTime>
  <Words>2611</Words>
  <Application>Microsoft Office PowerPoint</Application>
  <PresentationFormat>Grand écran</PresentationFormat>
  <Paragraphs>282</Paragraphs>
  <Slides>29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8" baseType="lpstr">
      <vt:lpstr>Arial</vt:lpstr>
      <vt:lpstr>Arial MT</vt:lpstr>
      <vt:lpstr>Calibri</vt:lpstr>
      <vt:lpstr>Consolas</vt:lpstr>
      <vt:lpstr>Segoe UI</vt:lpstr>
      <vt:lpstr>Segoe UI Symbol</vt:lpstr>
      <vt:lpstr>Times New Roman</vt:lpstr>
      <vt:lpstr>Wingdings</vt:lpstr>
      <vt:lpstr>Office Theme</vt:lpstr>
      <vt:lpstr>INF4101-Big Data et NoSQL</vt:lpstr>
      <vt:lpstr>WHAT IS KAFKA</vt:lpstr>
      <vt:lpstr>WHAT IS KAFKA</vt:lpstr>
      <vt:lpstr>WHAT IS KAFKA</vt:lpstr>
      <vt:lpstr>KAFKA USE CASES</vt:lpstr>
      <vt:lpstr>KAFKA USE CASES</vt:lpstr>
      <vt:lpstr>KAFKA USE CASES</vt:lpstr>
      <vt:lpstr>MAIN KAFKA CONCEPTS</vt:lpstr>
      <vt:lpstr>MAIN KAFKA CONCEPTS: TOPICS</vt:lpstr>
      <vt:lpstr>MAIN KAFKA CONCEPTS: BROKERS</vt:lpstr>
      <vt:lpstr>MAIN KAFKA CONCEPTS: BROKERS</vt:lpstr>
      <vt:lpstr>MAIN KAFKA CONCEPTS: BROKERS</vt:lpstr>
      <vt:lpstr>MAIN KAFKA CONCEPTS: PRODUCERS</vt:lpstr>
      <vt:lpstr>MAIN KAFKA CONCEPTS: CONSUMERS</vt:lpstr>
      <vt:lpstr>MAIN KAFKA CONCEPTS: ZOOKEEPER</vt:lpstr>
      <vt:lpstr>KAFKA CLUSTER CONFIGURATION</vt:lpstr>
      <vt:lpstr>KAFKA : QUICK START</vt:lpstr>
      <vt:lpstr>KAFKA : QUICK START</vt:lpstr>
      <vt:lpstr>KAFKA : QUICK START</vt:lpstr>
      <vt:lpstr>KAFKA : QUICK START</vt:lpstr>
      <vt:lpstr>KAFKA : QUICK START</vt:lpstr>
      <vt:lpstr>KAFKA : RUNNING MULTIPLE BROKERS ON A SINGLE MACHINE</vt:lpstr>
      <vt:lpstr>Kafka APIs </vt:lpstr>
      <vt:lpstr>KAFKA PRODUCER JAVA API</vt:lpstr>
      <vt:lpstr>KAFKA PRODUCER JAVA API</vt:lpstr>
      <vt:lpstr>KAFKA PRODUCER JAVA API</vt:lpstr>
      <vt:lpstr>KAFKA PRODUCER JAVA API</vt:lpstr>
      <vt:lpstr>KAFKA PRODUCER JAVA API</vt:lpstr>
      <vt:lpstr>KAFKA PRODUCER JAVA 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Hadoop installation</dc:title>
  <dc:creator>Utilisateur Windows</dc:creator>
  <cp:lastModifiedBy>sanaa mouhim</cp:lastModifiedBy>
  <cp:revision>27</cp:revision>
  <dcterms:created xsi:type="dcterms:W3CDTF">2025-04-16T11:33:56Z</dcterms:created>
  <dcterms:modified xsi:type="dcterms:W3CDTF">2025-05-08T12:10:35Z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2025-04-16T00:00:00Z</vt:filetime>
  </property>
  <property fmtid="{D5CDD505-2E9C-101B-9397-08002B2CF9AE}" pid="5" name="Producer">
    <vt:lpwstr>Microsoft® PowerPoint® 2016</vt:lpwstr>
  </property>
</Properties>
</file>